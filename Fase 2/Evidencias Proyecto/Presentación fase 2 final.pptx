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Montserrat" charset="1" panose="000005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11" Target="../media/image33.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28.png" Type="http://schemas.openxmlformats.org/officeDocument/2006/relationships/image"/><Relationship Id="rId7" Target="../media/image29.svg" Type="http://schemas.openxmlformats.org/officeDocument/2006/relationships/image"/><Relationship Id="rId8" Target="../media/image30.png" Type="http://schemas.openxmlformats.org/officeDocument/2006/relationships/image"/><Relationship Id="rId9" Target="../media/image31.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4.pn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3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8.png" Type="http://schemas.openxmlformats.org/officeDocument/2006/relationships/image"/><Relationship Id="rId4" Target="../media/image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55651"/>
            <a:ext cx="3585947" cy="9467474"/>
            <a:chOff x="0" y="0"/>
            <a:chExt cx="944447" cy="2493491"/>
          </a:xfrm>
        </p:grpSpPr>
        <p:sp>
          <p:nvSpPr>
            <p:cNvPr name="Freeform 3" id="3"/>
            <p:cNvSpPr/>
            <p:nvPr/>
          </p:nvSpPr>
          <p:spPr>
            <a:xfrm flipH="false" flipV="false" rot="0">
              <a:off x="0" y="0"/>
              <a:ext cx="944447" cy="2493491"/>
            </a:xfrm>
            <a:custGeom>
              <a:avLst/>
              <a:gdLst/>
              <a:ahLst/>
              <a:cxnLst/>
              <a:rect r="r" b="b" t="t" l="l"/>
              <a:pathLst>
                <a:path h="2493491" w="944447">
                  <a:moveTo>
                    <a:pt x="0" y="0"/>
                  </a:moveTo>
                  <a:lnTo>
                    <a:pt x="944447" y="0"/>
                  </a:lnTo>
                  <a:lnTo>
                    <a:pt x="944447" y="2493491"/>
                  </a:lnTo>
                  <a:lnTo>
                    <a:pt x="0" y="2493491"/>
                  </a:lnTo>
                  <a:close/>
                </a:path>
              </a:pathLst>
            </a:custGeom>
            <a:solidFill>
              <a:srgbClr val="A6C3FF"/>
            </a:solidFill>
          </p:spPr>
        </p:sp>
        <p:sp>
          <p:nvSpPr>
            <p:cNvPr name="TextBox 4" id="4"/>
            <p:cNvSpPr txBox="true"/>
            <p:nvPr/>
          </p:nvSpPr>
          <p:spPr>
            <a:xfrm>
              <a:off x="0" y="-38100"/>
              <a:ext cx="944447" cy="2531591"/>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3585947" y="1201550"/>
            <a:ext cx="14702053" cy="10032059"/>
          </a:xfrm>
          <a:custGeom>
            <a:avLst/>
            <a:gdLst/>
            <a:ahLst/>
            <a:cxnLst/>
            <a:rect r="r" b="b" t="t" l="l"/>
            <a:pathLst>
              <a:path h="10032059" w="14702053">
                <a:moveTo>
                  <a:pt x="0" y="0"/>
                </a:moveTo>
                <a:lnTo>
                  <a:pt x="14702053" y="0"/>
                </a:lnTo>
                <a:lnTo>
                  <a:pt x="14702053" y="10032059"/>
                </a:lnTo>
                <a:lnTo>
                  <a:pt x="0" y="10032059"/>
                </a:lnTo>
                <a:lnTo>
                  <a:pt x="0" y="0"/>
                </a:lnTo>
                <a:close/>
              </a:path>
            </a:pathLst>
          </a:custGeom>
          <a:blipFill>
            <a:blip r:embed="rId2"/>
            <a:stretch>
              <a:fillRect l="-3842" t="-5305" r="-3842" b="0"/>
            </a:stretch>
          </a:blipFill>
        </p:spPr>
      </p:sp>
      <p:grpSp>
        <p:nvGrpSpPr>
          <p:cNvPr name="Group 6" id="6"/>
          <p:cNvGrpSpPr/>
          <p:nvPr/>
        </p:nvGrpSpPr>
        <p:grpSpPr>
          <a:xfrm rot="0">
            <a:off x="-1725922" y="-209550"/>
            <a:ext cx="20974315" cy="1465201"/>
            <a:chOff x="0" y="0"/>
            <a:chExt cx="5524100" cy="385897"/>
          </a:xfrm>
        </p:grpSpPr>
        <p:sp>
          <p:nvSpPr>
            <p:cNvPr name="Freeform 7" id="7"/>
            <p:cNvSpPr/>
            <p:nvPr/>
          </p:nvSpPr>
          <p:spPr>
            <a:xfrm flipH="false" flipV="false" rot="0">
              <a:off x="0" y="0"/>
              <a:ext cx="5524100" cy="385897"/>
            </a:xfrm>
            <a:custGeom>
              <a:avLst/>
              <a:gdLst/>
              <a:ahLst/>
              <a:cxnLst/>
              <a:rect r="r" b="b" t="t" l="l"/>
              <a:pathLst>
                <a:path h="385897" w="5524100">
                  <a:moveTo>
                    <a:pt x="0" y="0"/>
                  </a:moveTo>
                  <a:lnTo>
                    <a:pt x="5524100" y="0"/>
                  </a:lnTo>
                  <a:lnTo>
                    <a:pt x="5524100" y="385897"/>
                  </a:lnTo>
                  <a:lnTo>
                    <a:pt x="0" y="385897"/>
                  </a:lnTo>
                  <a:close/>
                </a:path>
              </a:pathLst>
            </a:custGeom>
            <a:solidFill>
              <a:srgbClr val="6595FF"/>
            </a:solidFill>
          </p:spPr>
        </p:sp>
        <p:sp>
          <p:nvSpPr>
            <p:cNvPr name="TextBox 8" id="8"/>
            <p:cNvSpPr txBox="true"/>
            <p:nvPr/>
          </p:nvSpPr>
          <p:spPr>
            <a:xfrm>
              <a:off x="0" y="-38100"/>
              <a:ext cx="5524100" cy="423997"/>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4270380" y="1928599"/>
            <a:ext cx="13400220" cy="7329701"/>
            <a:chOff x="0" y="0"/>
            <a:chExt cx="3529276" cy="1930456"/>
          </a:xfrm>
        </p:grpSpPr>
        <p:sp>
          <p:nvSpPr>
            <p:cNvPr name="Freeform 10" id="10"/>
            <p:cNvSpPr/>
            <p:nvPr/>
          </p:nvSpPr>
          <p:spPr>
            <a:xfrm flipH="false" flipV="false" rot="0">
              <a:off x="0" y="0"/>
              <a:ext cx="3529276" cy="1930456"/>
            </a:xfrm>
            <a:custGeom>
              <a:avLst/>
              <a:gdLst/>
              <a:ahLst/>
              <a:cxnLst/>
              <a:rect r="r" b="b" t="t" l="l"/>
              <a:pathLst>
                <a:path h="1930456" w="3529276">
                  <a:moveTo>
                    <a:pt x="25421" y="0"/>
                  </a:moveTo>
                  <a:lnTo>
                    <a:pt x="3503855" y="0"/>
                  </a:lnTo>
                  <a:cubicBezTo>
                    <a:pt x="3510597" y="0"/>
                    <a:pt x="3517063" y="2678"/>
                    <a:pt x="3521830" y="7446"/>
                  </a:cubicBezTo>
                  <a:cubicBezTo>
                    <a:pt x="3526598" y="12213"/>
                    <a:pt x="3529276" y="18679"/>
                    <a:pt x="3529276" y="25421"/>
                  </a:cubicBezTo>
                  <a:lnTo>
                    <a:pt x="3529276" y="1905035"/>
                  </a:lnTo>
                  <a:cubicBezTo>
                    <a:pt x="3529276" y="1911777"/>
                    <a:pt x="3526598" y="1918243"/>
                    <a:pt x="3521830" y="1923011"/>
                  </a:cubicBezTo>
                  <a:cubicBezTo>
                    <a:pt x="3517063" y="1927778"/>
                    <a:pt x="3510597" y="1930456"/>
                    <a:pt x="3503855" y="1930456"/>
                  </a:cubicBezTo>
                  <a:lnTo>
                    <a:pt x="25421" y="1930456"/>
                  </a:lnTo>
                  <a:cubicBezTo>
                    <a:pt x="18679" y="1930456"/>
                    <a:pt x="12213" y="1927778"/>
                    <a:pt x="7446" y="1923011"/>
                  </a:cubicBezTo>
                  <a:cubicBezTo>
                    <a:pt x="2678" y="1918243"/>
                    <a:pt x="0" y="1911777"/>
                    <a:pt x="0" y="1905035"/>
                  </a:cubicBezTo>
                  <a:lnTo>
                    <a:pt x="0" y="25421"/>
                  </a:lnTo>
                  <a:cubicBezTo>
                    <a:pt x="0" y="18679"/>
                    <a:pt x="2678" y="12213"/>
                    <a:pt x="7446" y="7446"/>
                  </a:cubicBezTo>
                  <a:cubicBezTo>
                    <a:pt x="12213" y="2678"/>
                    <a:pt x="18679" y="0"/>
                    <a:pt x="25421" y="0"/>
                  </a:cubicBezTo>
                  <a:close/>
                </a:path>
              </a:pathLst>
            </a:custGeom>
            <a:solidFill>
              <a:srgbClr val="FFFFFF">
                <a:alpha val="47843"/>
              </a:srgbClr>
            </a:solidFill>
            <a:ln w="38100" cap="rnd">
              <a:solidFill>
                <a:srgbClr val="6595FF">
                  <a:alpha val="47843"/>
                </a:srgbClr>
              </a:solidFill>
              <a:prstDash val="solid"/>
              <a:round/>
            </a:ln>
          </p:spPr>
        </p:sp>
        <p:sp>
          <p:nvSpPr>
            <p:cNvPr name="TextBox 11" id="11"/>
            <p:cNvSpPr txBox="true"/>
            <p:nvPr/>
          </p:nvSpPr>
          <p:spPr>
            <a:xfrm>
              <a:off x="0" y="-38100"/>
              <a:ext cx="3529276" cy="1968556"/>
            </a:xfrm>
            <a:prstGeom prst="rect">
              <a:avLst/>
            </a:prstGeom>
          </p:spPr>
          <p:txBody>
            <a:bodyPr anchor="ctr" rtlCol="false" tIns="50800" lIns="50800" bIns="50800" rIns="50800"/>
            <a:lstStyle/>
            <a:p>
              <a:pPr algn="ctr">
                <a:lnSpc>
                  <a:spcPts val="2659"/>
                </a:lnSpc>
              </a:pPr>
            </a:p>
          </p:txBody>
        </p:sp>
      </p:grpSp>
      <p:sp>
        <p:nvSpPr>
          <p:cNvPr name="AutoShape 12" id="12"/>
          <p:cNvSpPr/>
          <p:nvPr/>
        </p:nvSpPr>
        <p:spPr>
          <a:xfrm>
            <a:off x="4972737" y="5537883"/>
            <a:ext cx="3463060" cy="0"/>
          </a:xfrm>
          <a:prstGeom prst="line">
            <a:avLst/>
          </a:prstGeom>
          <a:ln cap="flat" w="38100">
            <a:solidFill>
              <a:srgbClr val="6595FF"/>
            </a:solidFill>
            <a:prstDash val="solid"/>
            <a:headEnd type="none" len="sm" w="sm"/>
            <a:tailEnd type="none" len="sm" w="sm"/>
          </a:ln>
        </p:spPr>
      </p:sp>
      <p:sp>
        <p:nvSpPr>
          <p:cNvPr name="AutoShape 13" id="13"/>
          <p:cNvSpPr/>
          <p:nvPr/>
        </p:nvSpPr>
        <p:spPr>
          <a:xfrm>
            <a:off x="5903436" y="4198536"/>
            <a:ext cx="10067076" cy="0"/>
          </a:xfrm>
          <a:prstGeom prst="line">
            <a:avLst/>
          </a:prstGeom>
          <a:ln cap="flat" w="38100">
            <a:solidFill>
              <a:srgbClr val="9BBAFF"/>
            </a:solidFill>
            <a:prstDash val="solid"/>
            <a:headEnd type="none" len="sm" w="sm"/>
            <a:tailEnd type="none" len="sm" w="sm"/>
          </a:ln>
        </p:spPr>
      </p:sp>
      <p:sp>
        <p:nvSpPr>
          <p:cNvPr name="AutoShape 14" id="14"/>
          <p:cNvSpPr/>
          <p:nvPr/>
        </p:nvSpPr>
        <p:spPr>
          <a:xfrm>
            <a:off x="5473198" y="6703004"/>
            <a:ext cx="11013063" cy="0"/>
          </a:xfrm>
          <a:prstGeom prst="line">
            <a:avLst/>
          </a:prstGeom>
          <a:ln cap="flat" w="38100">
            <a:solidFill>
              <a:srgbClr val="6595FF">
                <a:alpha val="53725"/>
              </a:srgbClr>
            </a:solidFill>
            <a:prstDash val="solid"/>
            <a:headEnd type="none" len="sm" w="sm"/>
            <a:tailEnd type="none" len="sm" w="sm"/>
          </a:ln>
        </p:spPr>
      </p:sp>
      <p:sp>
        <p:nvSpPr>
          <p:cNvPr name="AutoShape 15" id="15"/>
          <p:cNvSpPr/>
          <p:nvPr/>
        </p:nvSpPr>
        <p:spPr>
          <a:xfrm>
            <a:off x="4871519" y="7877647"/>
            <a:ext cx="5851137" cy="0"/>
          </a:xfrm>
          <a:prstGeom prst="line">
            <a:avLst/>
          </a:prstGeom>
          <a:ln cap="flat" w="38100">
            <a:solidFill>
              <a:srgbClr val="6595FF"/>
            </a:solidFill>
            <a:prstDash val="solid"/>
            <a:headEnd type="none" len="sm" w="sm"/>
            <a:tailEnd type="none" len="sm" w="sm"/>
          </a:ln>
        </p:spPr>
      </p:sp>
      <p:sp>
        <p:nvSpPr>
          <p:cNvPr name="AutoShape 16" id="16"/>
          <p:cNvSpPr/>
          <p:nvPr/>
        </p:nvSpPr>
        <p:spPr>
          <a:xfrm flipV="true">
            <a:off x="12008612" y="7868125"/>
            <a:ext cx="4477199" cy="19043"/>
          </a:xfrm>
          <a:prstGeom prst="line">
            <a:avLst/>
          </a:prstGeom>
          <a:ln cap="flat" w="38100">
            <a:solidFill>
              <a:srgbClr val="6595FF"/>
            </a:solidFill>
            <a:prstDash val="solid"/>
            <a:headEnd type="none" len="sm" w="sm"/>
            <a:tailEnd type="none" len="sm" w="sm"/>
          </a:ln>
        </p:spPr>
      </p:sp>
      <p:sp>
        <p:nvSpPr>
          <p:cNvPr name="Freeform 17" id="17"/>
          <p:cNvSpPr/>
          <p:nvPr/>
        </p:nvSpPr>
        <p:spPr>
          <a:xfrm flipH="false" flipV="false" rot="0">
            <a:off x="1278624" y="106679"/>
            <a:ext cx="1028700" cy="1028700"/>
          </a:xfrm>
          <a:custGeom>
            <a:avLst/>
            <a:gdLst/>
            <a:ahLst/>
            <a:cxnLst/>
            <a:rect r="r" b="b" t="t" l="l"/>
            <a:pathLst>
              <a:path h="1028700" w="1028700">
                <a:moveTo>
                  <a:pt x="0" y="0"/>
                </a:moveTo>
                <a:lnTo>
                  <a:pt x="1028700" y="0"/>
                </a:lnTo>
                <a:lnTo>
                  <a:pt x="1028700" y="1028700"/>
                </a:lnTo>
                <a:lnTo>
                  <a:pt x="0" y="1028700"/>
                </a:lnTo>
                <a:lnTo>
                  <a:pt x="0" y="0"/>
                </a:lnTo>
                <a:close/>
              </a:path>
            </a:pathLst>
          </a:custGeom>
          <a:blipFill>
            <a:blip r:embed="rId3"/>
            <a:stretch>
              <a:fillRect l="0" t="0" r="0" b="0"/>
            </a:stretch>
          </a:blipFill>
        </p:spPr>
      </p:sp>
      <p:sp>
        <p:nvSpPr>
          <p:cNvPr name="Freeform 18" id="18"/>
          <p:cNvSpPr/>
          <p:nvPr/>
        </p:nvSpPr>
        <p:spPr>
          <a:xfrm flipH="false" flipV="false" rot="0">
            <a:off x="6699342" y="3158269"/>
            <a:ext cx="993186" cy="993186"/>
          </a:xfrm>
          <a:custGeom>
            <a:avLst/>
            <a:gdLst/>
            <a:ahLst/>
            <a:cxnLst/>
            <a:rect r="r" b="b" t="t" l="l"/>
            <a:pathLst>
              <a:path h="993186" w="993186">
                <a:moveTo>
                  <a:pt x="0" y="0"/>
                </a:moveTo>
                <a:lnTo>
                  <a:pt x="993187" y="0"/>
                </a:lnTo>
                <a:lnTo>
                  <a:pt x="993187" y="993186"/>
                </a:lnTo>
                <a:lnTo>
                  <a:pt x="0" y="993186"/>
                </a:lnTo>
                <a:lnTo>
                  <a:pt x="0" y="0"/>
                </a:lnTo>
                <a:close/>
              </a:path>
            </a:pathLst>
          </a:custGeom>
          <a:blipFill>
            <a:blip r:embed="rId4"/>
            <a:stretch>
              <a:fillRect l="0" t="0" r="0" b="0"/>
            </a:stretch>
          </a:blipFill>
        </p:spPr>
      </p:sp>
      <p:sp>
        <p:nvSpPr>
          <p:cNvPr name="TextBox 19" id="19"/>
          <p:cNvSpPr txBox="true"/>
          <p:nvPr/>
        </p:nvSpPr>
        <p:spPr>
          <a:xfrm rot="0">
            <a:off x="4871519" y="4989111"/>
            <a:ext cx="3453211" cy="412819"/>
          </a:xfrm>
          <a:prstGeom prst="rect">
            <a:avLst/>
          </a:prstGeom>
        </p:spPr>
        <p:txBody>
          <a:bodyPr anchor="t" rtlCol="false" tIns="0" lIns="0" bIns="0" rIns="0">
            <a:spAutoFit/>
          </a:bodyPr>
          <a:lstStyle/>
          <a:p>
            <a:pPr algn="ctr" marL="0" indent="0" lvl="0">
              <a:lnSpc>
                <a:spcPts val="3496"/>
              </a:lnSpc>
              <a:spcBef>
                <a:spcPct val="0"/>
              </a:spcBef>
            </a:pPr>
            <a:r>
              <a:rPr lang="en-US" sz="2497">
                <a:solidFill>
                  <a:srgbClr val="000000"/>
                </a:solidFill>
                <a:latin typeface="Montserrat"/>
                <a:ea typeface="Montserrat"/>
                <a:cs typeface="Montserrat"/>
                <a:sym typeface="Montserrat"/>
              </a:rPr>
              <a:t>Presentado por:</a:t>
            </a:r>
          </a:p>
        </p:txBody>
      </p:sp>
      <p:sp>
        <p:nvSpPr>
          <p:cNvPr name="TextBox 20" id="20"/>
          <p:cNvSpPr txBox="true"/>
          <p:nvPr/>
        </p:nvSpPr>
        <p:spPr>
          <a:xfrm rot="0">
            <a:off x="238804" y="1827332"/>
            <a:ext cx="3108340"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Contenido</a:t>
            </a:r>
          </a:p>
        </p:txBody>
      </p:sp>
      <p:sp>
        <p:nvSpPr>
          <p:cNvPr name="TextBox 21" id="21"/>
          <p:cNvSpPr txBox="true"/>
          <p:nvPr/>
        </p:nvSpPr>
        <p:spPr>
          <a:xfrm rot="0">
            <a:off x="1200415" y="2722047"/>
            <a:ext cx="1185118"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Problema</a:t>
            </a:r>
          </a:p>
        </p:txBody>
      </p:sp>
      <p:sp>
        <p:nvSpPr>
          <p:cNvPr name="TextBox 22" id="22"/>
          <p:cNvSpPr txBox="true"/>
          <p:nvPr/>
        </p:nvSpPr>
        <p:spPr>
          <a:xfrm rot="0">
            <a:off x="415874" y="3616762"/>
            <a:ext cx="2754200"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Propuesta de solucion</a:t>
            </a:r>
          </a:p>
        </p:txBody>
      </p:sp>
      <p:sp>
        <p:nvSpPr>
          <p:cNvPr name="TextBox 23" id="23"/>
          <p:cNvSpPr txBox="true"/>
          <p:nvPr/>
        </p:nvSpPr>
        <p:spPr>
          <a:xfrm rot="0">
            <a:off x="681302" y="4511477"/>
            <a:ext cx="222334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Costos y viabilidad</a:t>
            </a:r>
          </a:p>
        </p:txBody>
      </p:sp>
      <p:sp>
        <p:nvSpPr>
          <p:cNvPr name="TextBox 24" id="24"/>
          <p:cNvSpPr txBox="true"/>
          <p:nvPr/>
        </p:nvSpPr>
        <p:spPr>
          <a:xfrm rot="0">
            <a:off x="961992" y="5406192"/>
            <a:ext cx="1661964"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Herramientas</a:t>
            </a:r>
          </a:p>
        </p:txBody>
      </p:sp>
      <p:sp>
        <p:nvSpPr>
          <p:cNvPr name="TextBox 25" id="25"/>
          <p:cNvSpPr txBox="true"/>
          <p:nvPr/>
        </p:nvSpPr>
        <p:spPr>
          <a:xfrm rot="0">
            <a:off x="1247196" y="108583"/>
            <a:ext cx="10916135" cy="920117"/>
          </a:xfrm>
          <a:prstGeom prst="rect">
            <a:avLst/>
          </a:prstGeom>
        </p:spPr>
        <p:txBody>
          <a:bodyPr anchor="t" rtlCol="false" tIns="0" lIns="0" bIns="0" rIns="0">
            <a:spAutoFit/>
          </a:bodyPr>
          <a:lstStyle/>
          <a:p>
            <a:pPr algn="ctr">
              <a:lnSpc>
                <a:spcPts val="7559"/>
              </a:lnSpc>
              <a:spcBef>
                <a:spcPct val="0"/>
              </a:spcBef>
            </a:pPr>
            <a:r>
              <a:rPr lang="en-US" sz="5399">
                <a:solidFill>
                  <a:srgbClr val="FFFFFF"/>
                </a:solidFill>
                <a:latin typeface="Montserrat"/>
                <a:ea typeface="Montserrat"/>
                <a:cs typeface="Montserrat"/>
                <a:sym typeface="Montserrat"/>
              </a:rPr>
              <a:t>College choice helper</a:t>
            </a:r>
          </a:p>
        </p:txBody>
      </p:sp>
      <p:sp>
        <p:nvSpPr>
          <p:cNvPr name="TextBox 26" id="26"/>
          <p:cNvSpPr txBox="true"/>
          <p:nvPr/>
        </p:nvSpPr>
        <p:spPr>
          <a:xfrm rot="0">
            <a:off x="4972737" y="6179479"/>
            <a:ext cx="3453211" cy="412819"/>
          </a:xfrm>
          <a:prstGeom prst="rect">
            <a:avLst/>
          </a:prstGeom>
        </p:spPr>
        <p:txBody>
          <a:bodyPr anchor="t" rtlCol="false" tIns="0" lIns="0" bIns="0" rIns="0">
            <a:spAutoFit/>
          </a:bodyPr>
          <a:lstStyle/>
          <a:p>
            <a:pPr algn="ctr" marL="0" indent="0" lvl="0">
              <a:lnSpc>
                <a:spcPts val="3496"/>
              </a:lnSpc>
              <a:spcBef>
                <a:spcPct val="0"/>
              </a:spcBef>
            </a:pPr>
            <a:r>
              <a:rPr lang="en-US" sz="2497">
                <a:solidFill>
                  <a:srgbClr val="000000"/>
                </a:solidFill>
                <a:latin typeface="Montserrat"/>
                <a:ea typeface="Montserrat"/>
                <a:cs typeface="Montserrat"/>
                <a:sym typeface="Montserrat"/>
              </a:rPr>
              <a:t>Abel Sanchez</a:t>
            </a:r>
          </a:p>
        </p:txBody>
      </p:sp>
      <p:sp>
        <p:nvSpPr>
          <p:cNvPr name="TextBox 27" id="27"/>
          <p:cNvSpPr txBox="true"/>
          <p:nvPr/>
        </p:nvSpPr>
        <p:spPr>
          <a:xfrm rot="0">
            <a:off x="8735892" y="6179479"/>
            <a:ext cx="3973529" cy="412819"/>
          </a:xfrm>
          <a:prstGeom prst="rect">
            <a:avLst/>
          </a:prstGeom>
        </p:spPr>
        <p:txBody>
          <a:bodyPr anchor="t" rtlCol="false" tIns="0" lIns="0" bIns="0" rIns="0">
            <a:spAutoFit/>
          </a:bodyPr>
          <a:lstStyle/>
          <a:p>
            <a:pPr algn="ctr" marL="0" indent="0" lvl="0">
              <a:lnSpc>
                <a:spcPts val="3496"/>
              </a:lnSpc>
              <a:spcBef>
                <a:spcPct val="0"/>
              </a:spcBef>
            </a:pPr>
            <a:r>
              <a:rPr lang="en-US" sz="2497">
                <a:solidFill>
                  <a:srgbClr val="000000"/>
                </a:solidFill>
                <a:latin typeface="Montserrat"/>
                <a:ea typeface="Montserrat"/>
                <a:cs typeface="Montserrat"/>
                <a:sym typeface="Montserrat"/>
              </a:rPr>
              <a:t>Alexander Hernandez</a:t>
            </a:r>
          </a:p>
        </p:txBody>
      </p:sp>
      <p:sp>
        <p:nvSpPr>
          <p:cNvPr name="TextBox 28" id="28"/>
          <p:cNvSpPr txBox="true"/>
          <p:nvPr/>
        </p:nvSpPr>
        <p:spPr>
          <a:xfrm rot="0">
            <a:off x="13545083" y="6179479"/>
            <a:ext cx="3453211" cy="412819"/>
          </a:xfrm>
          <a:prstGeom prst="rect">
            <a:avLst/>
          </a:prstGeom>
        </p:spPr>
        <p:txBody>
          <a:bodyPr anchor="t" rtlCol="false" tIns="0" lIns="0" bIns="0" rIns="0">
            <a:spAutoFit/>
          </a:bodyPr>
          <a:lstStyle/>
          <a:p>
            <a:pPr algn="ctr" marL="0" indent="0" lvl="0">
              <a:lnSpc>
                <a:spcPts val="3496"/>
              </a:lnSpc>
              <a:spcBef>
                <a:spcPct val="0"/>
              </a:spcBef>
            </a:pPr>
            <a:r>
              <a:rPr lang="en-US" sz="2497">
                <a:solidFill>
                  <a:srgbClr val="000000"/>
                </a:solidFill>
                <a:latin typeface="Montserrat"/>
                <a:ea typeface="Montserrat"/>
                <a:cs typeface="Montserrat"/>
                <a:sym typeface="Montserrat"/>
              </a:rPr>
              <a:t>Alvaro Muñoz</a:t>
            </a:r>
          </a:p>
        </p:txBody>
      </p:sp>
      <p:sp>
        <p:nvSpPr>
          <p:cNvPr name="TextBox 29" id="29"/>
          <p:cNvSpPr txBox="true"/>
          <p:nvPr/>
        </p:nvSpPr>
        <p:spPr>
          <a:xfrm rot="0">
            <a:off x="8435797" y="3142416"/>
            <a:ext cx="7542088" cy="920117"/>
          </a:xfrm>
          <a:prstGeom prst="rect">
            <a:avLst/>
          </a:prstGeom>
        </p:spPr>
        <p:txBody>
          <a:bodyPr anchor="t" rtlCol="false" tIns="0" lIns="0" bIns="0" rIns="0">
            <a:spAutoFit/>
          </a:bodyPr>
          <a:lstStyle/>
          <a:p>
            <a:pPr algn="ctr">
              <a:lnSpc>
                <a:spcPts val="7559"/>
              </a:lnSpc>
              <a:spcBef>
                <a:spcPct val="0"/>
              </a:spcBef>
            </a:pPr>
            <a:r>
              <a:rPr lang="en-US" sz="5399">
                <a:solidFill>
                  <a:srgbClr val="000000"/>
                </a:solidFill>
                <a:latin typeface="Montserrat"/>
                <a:ea typeface="Montserrat"/>
                <a:cs typeface="Montserrat"/>
                <a:sym typeface="Montserrat"/>
              </a:rPr>
              <a:t>College choice helper</a:t>
            </a:r>
          </a:p>
        </p:txBody>
      </p:sp>
      <p:sp>
        <p:nvSpPr>
          <p:cNvPr name="TextBox 30" id="30"/>
          <p:cNvSpPr txBox="true"/>
          <p:nvPr/>
        </p:nvSpPr>
        <p:spPr>
          <a:xfrm rot="0">
            <a:off x="1027402" y="6300907"/>
            <a:ext cx="1531144"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Arquitectura</a:t>
            </a:r>
          </a:p>
        </p:txBody>
      </p:sp>
      <p:sp>
        <p:nvSpPr>
          <p:cNvPr name="TextBox 31" id="31"/>
          <p:cNvSpPr txBox="true"/>
          <p:nvPr/>
        </p:nvSpPr>
        <p:spPr>
          <a:xfrm rot="0">
            <a:off x="1167077" y="7195622"/>
            <a:ext cx="125179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Seguridad</a:t>
            </a:r>
          </a:p>
        </p:txBody>
      </p:sp>
      <p:sp>
        <p:nvSpPr>
          <p:cNvPr name="TextBox 32" id="32"/>
          <p:cNvSpPr txBox="true"/>
          <p:nvPr/>
        </p:nvSpPr>
        <p:spPr>
          <a:xfrm rot="0">
            <a:off x="198652" y="8090337"/>
            <a:ext cx="318864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Aseguramiento de calidad</a:t>
            </a:r>
          </a:p>
        </p:txBody>
      </p:sp>
      <p:sp>
        <p:nvSpPr>
          <p:cNvPr name="TextBox 33" id="33"/>
          <p:cNvSpPr txBox="true"/>
          <p:nvPr/>
        </p:nvSpPr>
        <p:spPr>
          <a:xfrm rot="0">
            <a:off x="381041" y="8985052"/>
            <a:ext cx="2823865"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Herramientas Similares</a:t>
            </a:r>
          </a:p>
        </p:txBody>
      </p:sp>
      <p:sp>
        <p:nvSpPr>
          <p:cNvPr name="TextBox 34" id="34"/>
          <p:cNvSpPr txBox="true"/>
          <p:nvPr/>
        </p:nvSpPr>
        <p:spPr>
          <a:xfrm rot="0">
            <a:off x="932226" y="9879767"/>
            <a:ext cx="1721495"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Demostracion</a:t>
            </a:r>
          </a:p>
        </p:txBody>
      </p:sp>
      <p:sp>
        <p:nvSpPr>
          <p:cNvPr name="TextBox 35" id="35"/>
          <p:cNvSpPr txBox="true"/>
          <p:nvPr/>
        </p:nvSpPr>
        <p:spPr>
          <a:xfrm rot="0">
            <a:off x="4871519" y="7293378"/>
            <a:ext cx="5851137" cy="412819"/>
          </a:xfrm>
          <a:prstGeom prst="rect">
            <a:avLst/>
          </a:prstGeom>
        </p:spPr>
        <p:txBody>
          <a:bodyPr anchor="t" rtlCol="false" tIns="0" lIns="0" bIns="0" rIns="0">
            <a:spAutoFit/>
          </a:bodyPr>
          <a:lstStyle/>
          <a:p>
            <a:pPr algn="ctr" marL="0" indent="0" lvl="0">
              <a:lnSpc>
                <a:spcPts val="3496"/>
              </a:lnSpc>
              <a:spcBef>
                <a:spcPct val="0"/>
              </a:spcBef>
            </a:pPr>
            <a:r>
              <a:rPr lang="en-US" sz="2497">
                <a:solidFill>
                  <a:srgbClr val="000000"/>
                </a:solidFill>
                <a:latin typeface="Montserrat"/>
                <a:ea typeface="Montserrat"/>
                <a:cs typeface="Montserrat"/>
                <a:sym typeface="Montserrat"/>
              </a:rPr>
              <a:t>Sección: CAPSTONE 008D PTY4614</a:t>
            </a:r>
          </a:p>
        </p:txBody>
      </p:sp>
      <p:sp>
        <p:nvSpPr>
          <p:cNvPr name="TextBox 36" id="36"/>
          <p:cNvSpPr txBox="true"/>
          <p:nvPr/>
        </p:nvSpPr>
        <p:spPr>
          <a:xfrm rot="0">
            <a:off x="12008531" y="7293378"/>
            <a:ext cx="4477729" cy="412819"/>
          </a:xfrm>
          <a:prstGeom prst="rect">
            <a:avLst/>
          </a:prstGeom>
        </p:spPr>
        <p:txBody>
          <a:bodyPr anchor="t" rtlCol="false" tIns="0" lIns="0" bIns="0" rIns="0">
            <a:spAutoFit/>
          </a:bodyPr>
          <a:lstStyle/>
          <a:p>
            <a:pPr algn="ctr" marL="0" indent="0" lvl="0">
              <a:lnSpc>
                <a:spcPts val="3496"/>
              </a:lnSpc>
              <a:spcBef>
                <a:spcPct val="0"/>
              </a:spcBef>
            </a:pPr>
            <a:r>
              <a:rPr lang="en-US" sz="2497">
                <a:solidFill>
                  <a:srgbClr val="000000"/>
                </a:solidFill>
                <a:latin typeface="Montserrat"/>
                <a:ea typeface="Montserrat"/>
                <a:cs typeface="Montserrat"/>
                <a:sym typeface="Montserrat"/>
              </a:rPr>
              <a:t>Docente: Osnellys Andrade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55651"/>
            <a:ext cx="3585947" cy="9467474"/>
            <a:chOff x="0" y="0"/>
            <a:chExt cx="944447" cy="2493491"/>
          </a:xfrm>
        </p:grpSpPr>
        <p:sp>
          <p:nvSpPr>
            <p:cNvPr name="Freeform 3" id="3"/>
            <p:cNvSpPr/>
            <p:nvPr/>
          </p:nvSpPr>
          <p:spPr>
            <a:xfrm flipH="false" flipV="false" rot="0">
              <a:off x="0" y="0"/>
              <a:ext cx="944447" cy="2493491"/>
            </a:xfrm>
            <a:custGeom>
              <a:avLst/>
              <a:gdLst/>
              <a:ahLst/>
              <a:cxnLst/>
              <a:rect r="r" b="b" t="t" l="l"/>
              <a:pathLst>
                <a:path h="2493491" w="944447">
                  <a:moveTo>
                    <a:pt x="0" y="0"/>
                  </a:moveTo>
                  <a:lnTo>
                    <a:pt x="944447" y="0"/>
                  </a:lnTo>
                  <a:lnTo>
                    <a:pt x="944447" y="2493491"/>
                  </a:lnTo>
                  <a:lnTo>
                    <a:pt x="0" y="2493491"/>
                  </a:lnTo>
                  <a:close/>
                </a:path>
              </a:pathLst>
            </a:custGeom>
            <a:solidFill>
              <a:srgbClr val="A6C3FF"/>
            </a:solidFill>
          </p:spPr>
        </p:sp>
        <p:sp>
          <p:nvSpPr>
            <p:cNvPr name="TextBox 4" id="4"/>
            <p:cNvSpPr txBox="true"/>
            <p:nvPr/>
          </p:nvSpPr>
          <p:spPr>
            <a:xfrm>
              <a:off x="0" y="-38100"/>
              <a:ext cx="944447" cy="2531591"/>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3585947" y="1201550"/>
            <a:ext cx="14702053" cy="10032059"/>
          </a:xfrm>
          <a:custGeom>
            <a:avLst/>
            <a:gdLst/>
            <a:ahLst/>
            <a:cxnLst/>
            <a:rect r="r" b="b" t="t" l="l"/>
            <a:pathLst>
              <a:path h="10032059" w="14702053">
                <a:moveTo>
                  <a:pt x="0" y="0"/>
                </a:moveTo>
                <a:lnTo>
                  <a:pt x="14702053" y="0"/>
                </a:lnTo>
                <a:lnTo>
                  <a:pt x="14702053" y="10032059"/>
                </a:lnTo>
                <a:lnTo>
                  <a:pt x="0" y="10032059"/>
                </a:lnTo>
                <a:lnTo>
                  <a:pt x="0" y="0"/>
                </a:lnTo>
                <a:close/>
              </a:path>
            </a:pathLst>
          </a:custGeom>
          <a:blipFill>
            <a:blip r:embed="rId2"/>
            <a:stretch>
              <a:fillRect l="-3842" t="-5305" r="-3842" b="0"/>
            </a:stretch>
          </a:blipFill>
        </p:spPr>
      </p:sp>
      <p:grpSp>
        <p:nvGrpSpPr>
          <p:cNvPr name="Group 6" id="6"/>
          <p:cNvGrpSpPr/>
          <p:nvPr/>
        </p:nvGrpSpPr>
        <p:grpSpPr>
          <a:xfrm rot="0">
            <a:off x="-1725922" y="-209550"/>
            <a:ext cx="20974315" cy="1465201"/>
            <a:chOff x="0" y="0"/>
            <a:chExt cx="5524100" cy="385897"/>
          </a:xfrm>
        </p:grpSpPr>
        <p:sp>
          <p:nvSpPr>
            <p:cNvPr name="Freeform 7" id="7"/>
            <p:cNvSpPr/>
            <p:nvPr/>
          </p:nvSpPr>
          <p:spPr>
            <a:xfrm flipH="false" flipV="false" rot="0">
              <a:off x="0" y="0"/>
              <a:ext cx="5524100" cy="385897"/>
            </a:xfrm>
            <a:custGeom>
              <a:avLst/>
              <a:gdLst/>
              <a:ahLst/>
              <a:cxnLst/>
              <a:rect r="r" b="b" t="t" l="l"/>
              <a:pathLst>
                <a:path h="385897" w="5524100">
                  <a:moveTo>
                    <a:pt x="0" y="0"/>
                  </a:moveTo>
                  <a:lnTo>
                    <a:pt x="5524100" y="0"/>
                  </a:lnTo>
                  <a:lnTo>
                    <a:pt x="5524100" y="385897"/>
                  </a:lnTo>
                  <a:lnTo>
                    <a:pt x="0" y="385897"/>
                  </a:lnTo>
                  <a:close/>
                </a:path>
              </a:pathLst>
            </a:custGeom>
            <a:solidFill>
              <a:srgbClr val="6595FF"/>
            </a:solidFill>
          </p:spPr>
        </p:sp>
        <p:sp>
          <p:nvSpPr>
            <p:cNvPr name="TextBox 8" id="8"/>
            <p:cNvSpPr txBox="true"/>
            <p:nvPr/>
          </p:nvSpPr>
          <p:spPr>
            <a:xfrm>
              <a:off x="0" y="-38100"/>
              <a:ext cx="5524100" cy="423997"/>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3925475" y="1836009"/>
            <a:ext cx="13400220" cy="7678454"/>
            <a:chOff x="0" y="0"/>
            <a:chExt cx="3529276" cy="2022309"/>
          </a:xfrm>
        </p:grpSpPr>
        <p:sp>
          <p:nvSpPr>
            <p:cNvPr name="Freeform 10" id="10"/>
            <p:cNvSpPr/>
            <p:nvPr/>
          </p:nvSpPr>
          <p:spPr>
            <a:xfrm flipH="false" flipV="false" rot="0">
              <a:off x="0" y="0"/>
              <a:ext cx="3529276" cy="2022309"/>
            </a:xfrm>
            <a:custGeom>
              <a:avLst/>
              <a:gdLst/>
              <a:ahLst/>
              <a:cxnLst/>
              <a:rect r="r" b="b" t="t" l="l"/>
              <a:pathLst>
                <a:path h="2022309" w="3529276">
                  <a:moveTo>
                    <a:pt x="25421" y="0"/>
                  </a:moveTo>
                  <a:lnTo>
                    <a:pt x="3503855" y="0"/>
                  </a:lnTo>
                  <a:cubicBezTo>
                    <a:pt x="3510597" y="0"/>
                    <a:pt x="3517063" y="2678"/>
                    <a:pt x="3521830" y="7446"/>
                  </a:cubicBezTo>
                  <a:cubicBezTo>
                    <a:pt x="3526598" y="12213"/>
                    <a:pt x="3529276" y="18679"/>
                    <a:pt x="3529276" y="25421"/>
                  </a:cubicBezTo>
                  <a:lnTo>
                    <a:pt x="3529276" y="1996888"/>
                  </a:lnTo>
                  <a:cubicBezTo>
                    <a:pt x="3529276" y="2003630"/>
                    <a:pt x="3526598" y="2010096"/>
                    <a:pt x="3521830" y="2014863"/>
                  </a:cubicBezTo>
                  <a:cubicBezTo>
                    <a:pt x="3517063" y="2019630"/>
                    <a:pt x="3510597" y="2022309"/>
                    <a:pt x="3503855" y="2022309"/>
                  </a:cubicBezTo>
                  <a:lnTo>
                    <a:pt x="25421" y="2022309"/>
                  </a:lnTo>
                  <a:cubicBezTo>
                    <a:pt x="18679" y="2022309"/>
                    <a:pt x="12213" y="2019630"/>
                    <a:pt x="7446" y="2014863"/>
                  </a:cubicBezTo>
                  <a:cubicBezTo>
                    <a:pt x="2678" y="2010096"/>
                    <a:pt x="0" y="2003630"/>
                    <a:pt x="0" y="1996888"/>
                  </a:cubicBezTo>
                  <a:lnTo>
                    <a:pt x="0" y="25421"/>
                  </a:lnTo>
                  <a:cubicBezTo>
                    <a:pt x="0" y="18679"/>
                    <a:pt x="2678" y="12213"/>
                    <a:pt x="7446" y="7446"/>
                  </a:cubicBezTo>
                  <a:cubicBezTo>
                    <a:pt x="12213" y="2678"/>
                    <a:pt x="18679" y="0"/>
                    <a:pt x="25421" y="0"/>
                  </a:cubicBezTo>
                  <a:close/>
                </a:path>
              </a:pathLst>
            </a:custGeom>
            <a:solidFill>
              <a:srgbClr val="FFFFFF">
                <a:alpha val="47843"/>
              </a:srgbClr>
            </a:solidFill>
            <a:ln w="38100" cap="rnd">
              <a:solidFill>
                <a:srgbClr val="6595FF">
                  <a:alpha val="47843"/>
                </a:srgbClr>
              </a:solidFill>
              <a:prstDash val="solid"/>
              <a:round/>
            </a:ln>
          </p:spPr>
        </p:sp>
        <p:sp>
          <p:nvSpPr>
            <p:cNvPr name="TextBox 11" id="11"/>
            <p:cNvSpPr txBox="true"/>
            <p:nvPr/>
          </p:nvSpPr>
          <p:spPr>
            <a:xfrm>
              <a:off x="0" y="-38100"/>
              <a:ext cx="3529276" cy="2060409"/>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3944525" y="7959209"/>
            <a:ext cx="13362120" cy="760092"/>
            <a:chOff x="0" y="0"/>
            <a:chExt cx="3519241" cy="200189"/>
          </a:xfrm>
        </p:grpSpPr>
        <p:sp>
          <p:nvSpPr>
            <p:cNvPr name="Freeform 13" id="13"/>
            <p:cNvSpPr/>
            <p:nvPr/>
          </p:nvSpPr>
          <p:spPr>
            <a:xfrm flipH="false" flipV="false" rot="0">
              <a:off x="0" y="0"/>
              <a:ext cx="3519241" cy="200189"/>
            </a:xfrm>
            <a:custGeom>
              <a:avLst/>
              <a:gdLst/>
              <a:ahLst/>
              <a:cxnLst/>
              <a:rect r="r" b="b" t="t" l="l"/>
              <a:pathLst>
                <a:path h="200189" w="3519241">
                  <a:moveTo>
                    <a:pt x="3519241" y="0"/>
                  </a:moveTo>
                  <a:lnTo>
                    <a:pt x="3519241" y="200189"/>
                  </a:lnTo>
                  <a:lnTo>
                    <a:pt x="0" y="200189"/>
                  </a:lnTo>
                  <a:lnTo>
                    <a:pt x="0" y="0"/>
                  </a:lnTo>
                  <a:close/>
                </a:path>
              </a:pathLst>
            </a:custGeom>
            <a:solidFill>
              <a:srgbClr val="6595FF">
                <a:alpha val="44706"/>
              </a:srgbClr>
            </a:solidFill>
          </p:spPr>
        </p:sp>
        <p:sp>
          <p:nvSpPr>
            <p:cNvPr name="TextBox 14" id="14"/>
            <p:cNvSpPr txBox="true"/>
            <p:nvPr/>
          </p:nvSpPr>
          <p:spPr>
            <a:xfrm>
              <a:off x="0" y="-38100"/>
              <a:ext cx="3519241" cy="238289"/>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0" y="1627943"/>
            <a:ext cx="3585947" cy="760092"/>
            <a:chOff x="0" y="0"/>
            <a:chExt cx="944447" cy="200189"/>
          </a:xfrm>
        </p:grpSpPr>
        <p:sp>
          <p:nvSpPr>
            <p:cNvPr name="Freeform 16" id="16"/>
            <p:cNvSpPr/>
            <p:nvPr/>
          </p:nvSpPr>
          <p:spPr>
            <a:xfrm flipH="false" flipV="false" rot="0">
              <a:off x="0" y="0"/>
              <a:ext cx="944447" cy="200189"/>
            </a:xfrm>
            <a:custGeom>
              <a:avLst/>
              <a:gdLst/>
              <a:ahLst/>
              <a:cxnLst/>
              <a:rect r="r" b="b" t="t" l="l"/>
              <a:pathLst>
                <a:path h="200189" w="944447">
                  <a:moveTo>
                    <a:pt x="944447" y="0"/>
                  </a:moveTo>
                  <a:lnTo>
                    <a:pt x="944447" y="200189"/>
                  </a:lnTo>
                  <a:lnTo>
                    <a:pt x="0" y="200189"/>
                  </a:lnTo>
                  <a:lnTo>
                    <a:pt x="0" y="0"/>
                  </a:lnTo>
                  <a:close/>
                </a:path>
              </a:pathLst>
            </a:custGeom>
            <a:solidFill>
              <a:srgbClr val="6595FF">
                <a:alpha val="81961"/>
              </a:srgbClr>
            </a:solidFill>
          </p:spPr>
        </p:sp>
        <p:sp>
          <p:nvSpPr>
            <p:cNvPr name="TextBox 17" id="17"/>
            <p:cNvSpPr txBox="true"/>
            <p:nvPr/>
          </p:nvSpPr>
          <p:spPr>
            <a:xfrm>
              <a:off x="0" y="-38100"/>
              <a:ext cx="944447" cy="238289"/>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1247196" y="108583"/>
            <a:ext cx="10916135" cy="920117"/>
          </a:xfrm>
          <a:prstGeom prst="rect">
            <a:avLst/>
          </a:prstGeom>
        </p:spPr>
        <p:txBody>
          <a:bodyPr anchor="t" rtlCol="false" tIns="0" lIns="0" bIns="0" rIns="0">
            <a:spAutoFit/>
          </a:bodyPr>
          <a:lstStyle/>
          <a:p>
            <a:pPr algn="ctr">
              <a:lnSpc>
                <a:spcPts val="7559"/>
              </a:lnSpc>
              <a:spcBef>
                <a:spcPct val="0"/>
              </a:spcBef>
            </a:pPr>
            <a:r>
              <a:rPr lang="en-US" sz="5399">
                <a:solidFill>
                  <a:srgbClr val="FFFFFF"/>
                </a:solidFill>
                <a:latin typeface="Montserrat"/>
                <a:ea typeface="Montserrat"/>
                <a:cs typeface="Montserrat"/>
                <a:sym typeface="Montserrat"/>
              </a:rPr>
              <a:t>College choice helper</a:t>
            </a:r>
          </a:p>
        </p:txBody>
      </p:sp>
      <p:grpSp>
        <p:nvGrpSpPr>
          <p:cNvPr name="Group 19" id="19"/>
          <p:cNvGrpSpPr/>
          <p:nvPr/>
        </p:nvGrpSpPr>
        <p:grpSpPr>
          <a:xfrm rot="0">
            <a:off x="3925475" y="3983649"/>
            <a:ext cx="13381170" cy="760092"/>
            <a:chOff x="0" y="0"/>
            <a:chExt cx="3524259" cy="200189"/>
          </a:xfrm>
        </p:grpSpPr>
        <p:sp>
          <p:nvSpPr>
            <p:cNvPr name="Freeform 20" id="20"/>
            <p:cNvSpPr/>
            <p:nvPr/>
          </p:nvSpPr>
          <p:spPr>
            <a:xfrm flipH="false" flipV="false" rot="0">
              <a:off x="0" y="0"/>
              <a:ext cx="3524259" cy="200189"/>
            </a:xfrm>
            <a:custGeom>
              <a:avLst/>
              <a:gdLst/>
              <a:ahLst/>
              <a:cxnLst/>
              <a:rect r="r" b="b" t="t" l="l"/>
              <a:pathLst>
                <a:path h="200189" w="3524259">
                  <a:moveTo>
                    <a:pt x="3524259" y="0"/>
                  </a:moveTo>
                  <a:lnTo>
                    <a:pt x="3524259" y="200189"/>
                  </a:lnTo>
                  <a:lnTo>
                    <a:pt x="0" y="200189"/>
                  </a:lnTo>
                  <a:lnTo>
                    <a:pt x="0" y="0"/>
                  </a:lnTo>
                  <a:close/>
                </a:path>
              </a:pathLst>
            </a:custGeom>
            <a:solidFill>
              <a:srgbClr val="7ED957">
                <a:alpha val="44706"/>
              </a:srgbClr>
            </a:solidFill>
          </p:spPr>
        </p:sp>
        <p:sp>
          <p:nvSpPr>
            <p:cNvPr name="TextBox 21" id="21"/>
            <p:cNvSpPr txBox="true"/>
            <p:nvPr/>
          </p:nvSpPr>
          <p:spPr>
            <a:xfrm>
              <a:off x="0" y="-38100"/>
              <a:ext cx="3524259" cy="238289"/>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5149653" y="4136758"/>
            <a:ext cx="3453211" cy="412819"/>
          </a:xfrm>
          <a:prstGeom prst="rect">
            <a:avLst/>
          </a:prstGeom>
        </p:spPr>
        <p:txBody>
          <a:bodyPr anchor="t" rtlCol="false" tIns="0" lIns="0" bIns="0" rIns="0">
            <a:spAutoFit/>
          </a:bodyPr>
          <a:lstStyle/>
          <a:p>
            <a:pPr algn="ctr" marL="0" indent="0" lvl="0">
              <a:lnSpc>
                <a:spcPts val="3496"/>
              </a:lnSpc>
              <a:spcBef>
                <a:spcPct val="0"/>
              </a:spcBef>
            </a:pPr>
            <a:r>
              <a:rPr lang="en-US" sz="2497">
                <a:solidFill>
                  <a:srgbClr val="000000"/>
                </a:solidFill>
                <a:latin typeface="Montserrat"/>
                <a:ea typeface="Montserrat"/>
                <a:cs typeface="Montserrat"/>
                <a:sym typeface="Montserrat"/>
              </a:rPr>
              <a:t>Problema</a:t>
            </a:r>
          </a:p>
        </p:txBody>
      </p:sp>
      <p:sp>
        <p:nvSpPr>
          <p:cNvPr name="TextBox 23" id="23"/>
          <p:cNvSpPr txBox="true"/>
          <p:nvPr/>
        </p:nvSpPr>
        <p:spPr>
          <a:xfrm rot="0">
            <a:off x="4664753" y="2181660"/>
            <a:ext cx="3191114" cy="712472"/>
          </a:xfrm>
          <a:prstGeom prst="rect">
            <a:avLst/>
          </a:prstGeom>
        </p:spPr>
        <p:txBody>
          <a:bodyPr anchor="t" rtlCol="false" tIns="0" lIns="0" bIns="0" rIns="0">
            <a:spAutoFit/>
          </a:bodyPr>
          <a:lstStyle/>
          <a:p>
            <a:pPr algn="ctr">
              <a:lnSpc>
                <a:spcPts val="5879"/>
              </a:lnSpc>
              <a:spcBef>
                <a:spcPct val="0"/>
              </a:spcBef>
            </a:pPr>
            <a:r>
              <a:rPr lang="en-US" sz="4199">
                <a:solidFill>
                  <a:srgbClr val="000000"/>
                </a:solidFill>
                <a:latin typeface="Montserrat"/>
                <a:ea typeface="Montserrat"/>
                <a:cs typeface="Montserrat"/>
                <a:sym typeface="Montserrat"/>
              </a:rPr>
              <a:t>Contenido</a:t>
            </a:r>
          </a:p>
        </p:txBody>
      </p:sp>
      <p:sp>
        <p:nvSpPr>
          <p:cNvPr name="AutoShape 24" id="24"/>
          <p:cNvSpPr/>
          <p:nvPr/>
        </p:nvSpPr>
        <p:spPr>
          <a:xfrm>
            <a:off x="4664753" y="2921754"/>
            <a:ext cx="3167883" cy="0"/>
          </a:xfrm>
          <a:prstGeom prst="line">
            <a:avLst/>
          </a:prstGeom>
          <a:ln cap="flat" w="38100">
            <a:solidFill>
              <a:srgbClr val="9BBAFF"/>
            </a:solidFill>
            <a:prstDash val="solid"/>
            <a:headEnd type="none" len="sm" w="sm"/>
            <a:tailEnd type="none" len="sm" w="sm"/>
          </a:ln>
        </p:spPr>
      </p:sp>
      <p:grpSp>
        <p:nvGrpSpPr>
          <p:cNvPr name="Group 25" id="25"/>
          <p:cNvGrpSpPr/>
          <p:nvPr/>
        </p:nvGrpSpPr>
        <p:grpSpPr>
          <a:xfrm rot="0">
            <a:off x="3944525" y="5295190"/>
            <a:ext cx="13362120" cy="760092"/>
            <a:chOff x="0" y="0"/>
            <a:chExt cx="3519241" cy="200189"/>
          </a:xfrm>
        </p:grpSpPr>
        <p:sp>
          <p:nvSpPr>
            <p:cNvPr name="Freeform 26" id="26"/>
            <p:cNvSpPr/>
            <p:nvPr/>
          </p:nvSpPr>
          <p:spPr>
            <a:xfrm flipH="false" flipV="false" rot="0">
              <a:off x="0" y="0"/>
              <a:ext cx="3519241" cy="200189"/>
            </a:xfrm>
            <a:custGeom>
              <a:avLst/>
              <a:gdLst/>
              <a:ahLst/>
              <a:cxnLst/>
              <a:rect r="r" b="b" t="t" l="l"/>
              <a:pathLst>
                <a:path h="200189" w="3519241">
                  <a:moveTo>
                    <a:pt x="3519241" y="0"/>
                  </a:moveTo>
                  <a:lnTo>
                    <a:pt x="3519241" y="200189"/>
                  </a:lnTo>
                  <a:lnTo>
                    <a:pt x="0" y="200189"/>
                  </a:lnTo>
                  <a:lnTo>
                    <a:pt x="0" y="0"/>
                  </a:lnTo>
                  <a:close/>
                </a:path>
              </a:pathLst>
            </a:custGeom>
            <a:solidFill>
              <a:srgbClr val="FF5757">
                <a:alpha val="44706"/>
              </a:srgbClr>
            </a:solidFill>
          </p:spPr>
        </p:sp>
        <p:sp>
          <p:nvSpPr>
            <p:cNvPr name="TextBox 27" id="27"/>
            <p:cNvSpPr txBox="true"/>
            <p:nvPr/>
          </p:nvSpPr>
          <p:spPr>
            <a:xfrm>
              <a:off x="0" y="-38100"/>
              <a:ext cx="3519241" cy="238289"/>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0">
            <a:off x="3944525" y="6605955"/>
            <a:ext cx="13362120" cy="760092"/>
            <a:chOff x="0" y="0"/>
            <a:chExt cx="3519241" cy="200189"/>
          </a:xfrm>
        </p:grpSpPr>
        <p:sp>
          <p:nvSpPr>
            <p:cNvPr name="Freeform 29" id="29"/>
            <p:cNvSpPr/>
            <p:nvPr/>
          </p:nvSpPr>
          <p:spPr>
            <a:xfrm flipH="false" flipV="false" rot="0">
              <a:off x="0" y="0"/>
              <a:ext cx="3519241" cy="200189"/>
            </a:xfrm>
            <a:custGeom>
              <a:avLst/>
              <a:gdLst/>
              <a:ahLst/>
              <a:cxnLst/>
              <a:rect r="r" b="b" t="t" l="l"/>
              <a:pathLst>
                <a:path h="200189" w="3519241">
                  <a:moveTo>
                    <a:pt x="3519241" y="0"/>
                  </a:moveTo>
                  <a:lnTo>
                    <a:pt x="3519241" y="200189"/>
                  </a:lnTo>
                  <a:lnTo>
                    <a:pt x="0" y="200189"/>
                  </a:lnTo>
                  <a:lnTo>
                    <a:pt x="0" y="0"/>
                  </a:lnTo>
                  <a:close/>
                </a:path>
              </a:pathLst>
            </a:custGeom>
            <a:solidFill>
              <a:srgbClr val="FFDE59">
                <a:alpha val="44706"/>
              </a:srgbClr>
            </a:solidFill>
          </p:spPr>
        </p:sp>
        <p:sp>
          <p:nvSpPr>
            <p:cNvPr name="TextBox 30" id="30"/>
            <p:cNvSpPr txBox="true"/>
            <p:nvPr/>
          </p:nvSpPr>
          <p:spPr>
            <a:xfrm>
              <a:off x="0" y="-38100"/>
              <a:ext cx="3519241" cy="238289"/>
            </a:xfrm>
            <a:prstGeom prst="rect">
              <a:avLst/>
            </a:prstGeom>
          </p:spPr>
          <p:txBody>
            <a:bodyPr anchor="ctr" rtlCol="false" tIns="50800" lIns="50800" bIns="50800" rIns="50800"/>
            <a:lstStyle/>
            <a:p>
              <a:pPr algn="ctr">
                <a:lnSpc>
                  <a:spcPts val="2659"/>
                </a:lnSpc>
              </a:pPr>
            </a:p>
          </p:txBody>
        </p:sp>
      </p:grpSp>
      <p:sp>
        <p:nvSpPr>
          <p:cNvPr name="AutoShape 31" id="31"/>
          <p:cNvSpPr/>
          <p:nvPr/>
        </p:nvSpPr>
        <p:spPr>
          <a:xfrm>
            <a:off x="6271926" y="3462226"/>
            <a:ext cx="9381119" cy="0"/>
          </a:xfrm>
          <a:prstGeom prst="line">
            <a:avLst/>
          </a:prstGeom>
          <a:ln cap="flat" w="38100">
            <a:solidFill>
              <a:srgbClr val="9BBAFF"/>
            </a:solidFill>
            <a:prstDash val="solid"/>
            <a:headEnd type="none" len="sm" w="sm"/>
            <a:tailEnd type="none" len="sm" w="sm"/>
          </a:ln>
        </p:spPr>
      </p:sp>
      <p:sp>
        <p:nvSpPr>
          <p:cNvPr name="AutoShape 32" id="32"/>
          <p:cNvSpPr/>
          <p:nvPr/>
        </p:nvSpPr>
        <p:spPr>
          <a:xfrm flipH="true">
            <a:off x="8493471" y="4096461"/>
            <a:ext cx="0" cy="566269"/>
          </a:xfrm>
          <a:prstGeom prst="line">
            <a:avLst/>
          </a:prstGeom>
          <a:ln cap="rnd" w="38100">
            <a:solidFill>
              <a:srgbClr val="FFFFFF">
                <a:alpha val="66667"/>
              </a:srgbClr>
            </a:solidFill>
            <a:prstDash val="solid"/>
            <a:headEnd type="none" len="sm" w="sm"/>
            <a:tailEnd type="none" len="sm" w="sm"/>
          </a:ln>
        </p:spPr>
      </p:sp>
      <p:sp>
        <p:nvSpPr>
          <p:cNvPr name="AutoShape 33" id="33"/>
          <p:cNvSpPr/>
          <p:nvPr/>
        </p:nvSpPr>
        <p:spPr>
          <a:xfrm flipH="true">
            <a:off x="8493471" y="5401682"/>
            <a:ext cx="0" cy="566269"/>
          </a:xfrm>
          <a:prstGeom prst="line">
            <a:avLst/>
          </a:prstGeom>
          <a:ln cap="rnd" w="38100">
            <a:solidFill>
              <a:srgbClr val="FFFFFF">
                <a:alpha val="66667"/>
              </a:srgbClr>
            </a:solidFill>
            <a:prstDash val="solid"/>
            <a:headEnd type="none" len="sm" w="sm"/>
            <a:tailEnd type="none" len="sm" w="sm"/>
          </a:ln>
        </p:spPr>
      </p:sp>
      <p:sp>
        <p:nvSpPr>
          <p:cNvPr name="AutoShape 34" id="34"/>
          <p:cNvSpPr/>
          <p:nvPr/>
        </p:nvSpPr>
        <p:spPr>
          <a:xfrm flipH="true">
            <a:off x="8493471" y="6706904"/>
            <a:ext cx="0" cy="566269"/>
          </a:xfrm>
          <a:prstGeom prst="line">
            <a:avLst/>
          </a:prstGeom>
          <a:ln cap="rnd" w="38100">
            <a:solidFill>
              <a:srgbClr val="FFFFFF">
                <a:alpha val="66667"/>
              </a:srgbClr>
            </a:solidFill>
            <a:prstDash val="solid"/>
            <a:headEnd type="none" len="sm" w="sm"/>
            <a:tailEnd type="none" len="sm" w="sm"/>
          </a:ln>
        </p:spPr>
      </p:sp>
      <p:sp>
        <p:nvSpPr>
          <p:cNvPr name="AutoShape 35" id="35"/>
          <p:cNvSpPr/>
          <p:nvPr/>
        </p:nvSpPr>
        <p:spPr>
          <a:xfrm flipH="true">
            <a:off x="8493471" y="8056120"/>
            <a:ext cx="0" cy="566269"/>
          </a:xfrm>
          <a:prstGeom prst="line">
            <a:avLst/>
          </a:prstGeom>
          <a:ln cap="rnd" w="38100">
            <a:solidFill>
              <a:srgbClr val="FFFFFF">
                <a:alpha val="66667"/>
              </a:srgbClr>
            </a:solidFill>
            <a:prstDash val="solid"/>
            <a:headEnd type="none" len="sm" w="sm"/>
            <a:tailEnd type="none" len="sm" w="sm"/>
          </a:ln>
        </p:spPr>
      </p:sp>
      <p:sp>
        <p:nvSpPr>
          <p:cNvPr name="AutoShape 36" id="36"/>
          <p:cNvSpPr/>
          <p:nvPr/>
        </p:nvSpPr>
        <p:spPr>
          <a:xfrm flipH="true">
            <a:off x="13402039" y="4105099"/>
            <a:ext cx="0" cy="566269"/>
          </a:xfrm>
          <a:prstGeom prst="line">
            <a:avLst/>
          </a:prstGeom>
          <a:ln cap="rnd" w="38100">
            <a:solidFill>
              <a:srgbClr val="FFFFFF">
                <a:alpha val="66667"/>
              </a:srgbClr>
            </a:solidFill>
            <a:prstDash val="solid"/>
            <a:headEnd type="none" len="sm" w="sm"/>
            <a:tailEnd type="none" len="sm" w="sm"/>
          </a:ln>
        </p:spPr>
      </p:sp>
      <p:sp>
        <p:nvSpPr>
          <p:cNvPr name="AutoShape 37" id="37"/>
          <p:cNvSpPr/>
          <p:nvPr/>
        </p:nvSpPr>
        <p:spPr>
          <a:xfrm flipH="true">
            <a:off x="13421089" y="5392101"/>
            <a:ext cx="0" cy="566269"/>
          </a:xfrm>
          <a:prstGeom prst="line">
            <a:avLst/>
          </a:prstGeom>
          <a:ln cap="rnd" w="38100">
            <a:solidFill>
              <a:srgbClr val="FFFFFF">
                <a:alpha val="66667"/>
              </a:srgbClr>
            </a:solidFill>
            <a:prstDash val="solid"/>
            <a:headEnd type="none" len="sm" w="sm"/>
            <a:tailEnd type="none" len="sm" w="sm"/>
          </a:ln>
        </p:spPr>
      </p:sp>
      <p:sp>
        <p:nvSpPr>
          <p:cNvPr name="AutoShape 38" id="38"/>
          <p:cNvSpPr/>
          <p:nvPr/>
        </p:nvSpPr>
        <p:spPr>
          <a:xfrm flipH="true">
            <a:off x="13440139" y="6698266"/>
            <a:ext cx="0" cy="566269"/>
          </a:xfrm>
          <a:prstGeom prst="line">
            <a:avLst/>
          </a:prstGeom>
          <a:ln cap="rnd" w="38100">
            <a:solidFill>
              <a:srgbClr val="FFFFFF">
                <a:alpha val="66667"/>
              </a:srgbClr>
            </a:solidFill>
            <a:prstDash val="solid"/>
            <a:headEnd type="none" len="sm" w="sm"/>
            <a:tailEnd type="none" len="sm" w="sm"/>
          </a:ln>
        </p:spPr>
      </p:sp>
      <p:sp>
        <p:nvSpPr>
          <p:cNvPr name="AutoShape 39" id="39"/>
          <p:cNvSpPr/>
          <p:nvPr/>
        </p:nvSpPr>
        <p:spPr>
          <a:xfrm flipH="true">
            <a:off x="13459189" y="8056120"/>
            <a:ext cx="0" cy="566269"/>
          </a:xfrm>
          <a:prstGeom prst="line">
            <a:avLst/>
          </a:prstGeom>
          <a:ln cap="rnd" w="38100">
            <a:solidFill>
              <a:srgbClr val="FFFFFF">
                <a:alpha val="66667"/>
              </a:srgbClr>
            </a:solidFill>
            <a:prstDash val="solid"/>
            <a:headEnd type="none" len="sm" w="sm"/>
            <a:tailEnd type="none" len="sm" w="sm"/>
          </a:ln>
        </p:spPr>
      </p:sp>
      <p:sp>
        <p:nvSpPr>
          <p:cNvPr name="Freeform 40" id="40"/>
          <p:cNvSpPr/>
          <p:nvPr/>
        </p:nvSpPr>
        <p:spPr>
          <a:xfrm flipH="false" flipV="false" rot="0">
            <a:off x="1278624" y="97559"/>
            <a:ext cx="1028700" cy="1028700"/>
          </a:xfrm>
          <a:custGeom>
            <a:avLst/>
            <a:gdLst/>
            <a:ahLst/>
            <a:cxnLst/>
            <a:rect r="r" b="b" t="t" l="l"/>
            <a:pathLst>
              <a:path h="1028700" w="1028700">
                <a:moveTo>
                  <a:pt x="0" y="0"/>
                </a:moveTo>
                <a:lnTo>
                  <a:pt x="1028700" y="0"/>
                </a:lnTo>
                <a:lnTo>
                  <a:pt x="1028700" y="1028700"/>
                </a:lnTo>
                <a:lnTo>
                  <a:pt x="0" y="1028700"/>
                </a:lnTo>
                <a:lnTo>
                  <a:pt x="0" y="0"/>
                </a:lnTo>
                <a:close/>
              </a:path>
            </a:pathLst>
          </a:custGeom>
          <a:blipFill>
            <a:blip r:embed="rId3"/>
            <a:stretch>
              <a:fillRect l="0" t="0" r="0" b="0"/>
            </a:stretch>
          </a:blipFill>
        </p:spPr>
      </p:sp>
      <p:sp>
        <p:nvSpPr>
          <p:cNvPr name="TextBox 41" id="41"/>
          <p:cNvSpPr txBox="true"/>
          <p:nvPr/>
        </p:nvSpPr>
        <p:spPr>
          <a:xfrm rot="0">
            <a:off x="6220902" y="3007162"/>
            <a:ext cx="9432143" cy="412819"/>
          </a:xfrm>
          <a:prstGeom prst="rect">
            <a:avLst/>
          </a:prstGeom>
        </p:spPr>
        <p:txBody>
          <a:bodyPr anchor="t" rtlCol="false" tIns="0" lIns="0" bIns="0" rIns="0">
            <a:spAutoFit/>
          </a:bodyPr>
          <a:lstStyle/>
          <a:p>
            <a:pPr algn="ctr" marL="0" indent="0" lvl="0">
              <a:lnSpc>
                <a:spcPts val="3496"/>
              </a:lnSpc>
              <a:spcBef>
                <a:spcPct val="0"/>
              </a:spcBef>
            </a:pPr>
            <a:r>
              <a:rPr lang="en-US" sz="2497">
                <a:solidFill>
                  <a:srgbClr val="000000"/>
                </a:solidFill>
                <a:latin typeface="Montserrat"/>
                <a:ea typeface="Montserrat"/>
                <a:cs typeface="Montserrat"/>
                <a:sym typeface="Montserrat"/>
              </a:rPr>
              <a:t>Durante la defensa de hoy, se verán los siguientes temas</a:t>
            </a:r>
          </a:p>
        </p:txBody>
      </p:sp>
      <p:sp>
        <p:nvSpPr>
          <p:cNvPr name="TextBox 42" id="42"/>
          <p:cNvSpPr txBox="true"/>
          <p:nvPr/>
        </p:nvSpPr>
        <p:spPr>
          <a:xfrm rot="0">
            <a:off x="238804" y="1827332"/>
            <a:ext cx="3108340"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Contenido</a:t>
            </a:r>
          </a:p>
        </p:txBody>
      </p:sp>
      <p:sp>
        <p:nvSpPr>
          <p:cNvPr name="TextBox 43" id="43"/>
          <p:cNvSpPr txBox="true"/>
          <p:nvPr/>
        </p:nvSpPr>
        <p:spPr>
          <a:xfrm rot="0">
            <a:off x="1200415" y="2722047"/>
            <a:ext cx="1185118"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Problema</a:t>
            </a:r>
          </a:p>
        </p:txBody>
      </p:sp>
      <p:sp>
        <p:nvSpPr>
          <p:cNvPr name="TextBox 44" id="44"/>
          <p:cNvSpPr txBox="true"/>
          <p:nvPr/>
        </p:nvSpPr>
        <p:spPr>
          <a:xfrm rot="0">
            <a:off x="415874" y="3616762"/>
            <a:ext cx="2754200"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Propuesta de solucion</a:t>
            </a:r>
          </a:p>
        </p:txBody>
      </p:sp>
      <p:sp>
        <p:nvSpPr>
          <p:cNvPr name="TextBox 45" id="45"/>
          <p:cNvSpPr txBox="true"/>
          <p:nvPr/>
        </p:nvSpPr>
        <p:spPr>
          <a:xfrm rot="0">
            <a:off x="681302" y="4511477"/>
            <a:ext cx="222334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Costos y viabilidad</a:t>
            </a:r>
          </a:p>
        </p:txBody>
      </p:sp>
      <p:sp>
        <p:nvSpPr>
          <p:cNvPr name="TextBox 46" id="46"/>
          <p:cNvSpPr txBox="true"/>
          <p:nvPr/>
        </p:nvSpPr>
        <p:spPr>
          <a:xfrm rot="0">
            <a:off x="961992" y="5406192"/>
            <a:ext cx="1661964"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Herramientas</a:t>
            </a:r>
          </a:p>
        </p:txBody>
      </p:sp>
      <p:sp>
        <p:nvSpPr>
          <p:cNvPr name="TextBox 47" id="47"/>
          <p:cNvSpPr txBox="true"/>
          <p:nvPr/>
        </p:nvSpPr>
        <p:spPr>
          <a:xfrm rot="0">
            <a:off x="1027402" y="6300907"/>
            <a:ext cx="1531144"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Arquitectura</a:t>
            </a:r>
          </a:p>
        </p:txBody>
      </p:sp>
      <p:sp>
        <p:nvSpPr>
          <p:cNvPr name="TextBox 48" id="48"/>
          <p:cNvSpPr txBox="true"/>
          <p:nvPr/>
        </p:nvSpPr>
        <p:spPr>
          <a:xfrm rot="0">
            <a:off x="1167077" y="7195622"/>
            <a:ext cx="125179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Seguridad</a:t>
            </a:r>
          </a:p>
        </p:txBody>
      </p:sp>
      <p:sp>
        <p:nvSpPr>
          <p:cNvPr name="TextBox 49" id="49"/>
          <p:cNvSpPr txBox="true"/>
          <p:nvPr/>
        </p:nvSpPr>
        <p:spPr>
          <a:xfrm rot="0">
            <a:off x="198652" y="8090337"/>
            <a:ext cx="318864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Aseguramiento de calidad</a:t>
            </a:r>
          </a:p>
        </p:txBody>
      </p:sp>
      <p:sp>
        <p:nvSpPr>
          <p:cNvPr name="TextBox 50" id="50"/>
          <p:cNvSpPr txBox="true"/>
          <p:nvPr/>
        </p:nvSpPr>
        <p:spPr>
          <a:xfrm rot="0">
            <a:off x="381041" y="8985052"/>
            <a:ext cx="2823865"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Herramientas Similares</a:t>
            </a:r>
          </a:p>
        </p:txBody>
      </p:sp>
      <p:sp>
        <p:nvSpPr>
          <p:cNvPr name="TextBox 51" id="51"/>
          <p:cNvSpPr txBox="true"/>
          <p:nvPr/>
        </p:nvSpPr>
        <p:spPr>
          <a:xfrm rot="0">
            <a:off x="932226" y="9879767"/>
            <a:ext cx="1721495"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Demostracion</a:t>
            </a:r>
          </a:p>
        </p:txBody>
      </p:sp>
      <p:sp>
        <p:nvSpPr>
          <p:cNvPr name="TextBox 52" id="52"/>
          <p:cNvSpPr txBox="true"/>
          <p:nvPr/>
        </p:nvSpPr>
        <p:spPr>
          <a:xfrm rot="0">
            <a:off x="9060764" y="4138235"/>
            <a:ext cx="3752419" cy="412819"/>
          </a:xfrm>
          <a:prstGeom prst="rect">
            <a:avLst/>
          </a:prstGeom>
        </p:spPr>
        <p:txBody>
          <a:bodyPr anchor="t" rtlCol="false" tIns="0" lIns="0" bIns="0" rIns="0">
            <a:spAutoFit/>
          </a:bodyPr>
          <a:lstStyle/>
          <a:p>
            <a:pPr algn="ctr" marL="0" indent="0" lvl="0">
              <a:lnSpc>
                <a:spcPts val="3496"/>
              </a:lnSpc>
              <a:spcBef>
                <a:spcPct val="0"/>
              </a:spcBef>
            </a:pPr>
            <a:r>
              <a:rPr lang="en-US" sz="2497">
                <a:solidFill>
                  <a:srgbClr val="000000"/>
                </a:solidFill>
                <a:latin typeface="Montserrat"/>
                <a:ea typeface="Montserrat"/>
                <a:cs typeface="Montserrat"/>
                <a:sym typeface="Montserrat"/>
              </a:rPr>
              <a:t>Propuesta de solucion</a:t>
            </a:r>
          </a:p>
        </p:txBody>
      </p:sp>
      <p:sp>
        <p:nvSpPr>
          <p:cNvPr name="TextBox 53" id="53"/>
          <p:cNvSpPr txBox="true"/>
          <p:nvPr/>
        </p:nvSpPr>
        <p:spPr>
          <a:xfrm rot="0">
            <a:off x="13990895" y="4136758"/>
            <a:ext cx="3083600" cy="412819"/>
          </a:xfrm>
          <a:prstGeom prst="rect">
            <a:avLst/>
          </a:prstGeom>
        </p:spPr>
        <p:txBody>
          <a:bodyPr anchor="t" rtlCol="false" tIns="0" lIns="0" bIns="0" rIns="0">
            <a:spAutoFit/>
          </a:bodyPr>
          <a:lstStyle/>
          <a:p>
            <a:pPr algn="ctr" marL="0" indent="0" lvl="0">
              <a:lnSpc>
                <a:spcPts val="3496"/>
              </a:lnSpc>
              <a:spcBef>
                <a:spcPct val="0"/>
              </a:spcBef>
            </a:pPr>
            <a:r>
              <a:rPr lang="en-US" sz="2497">
                <a:solidFill>
                  <a:srgbClr val="000000"/>
                </a:solidFill>
                <a:latin typeface="Montserrat"/>
                <a:ea typeface="Montserrat"/>
                <a:cs typeface="Montserrat"/>
                <a:sym typeface="Montserrat"/>
              </a:rPr>
              <a:t>Costos y viabilidad</a:t>
            </a:r>
          </a:p>
        </p:txBody>
      </p:sp>
      <p:sp>
        <p:nvSpPr>
          <p:cNvPr name="TextBox 54" id="54"/>
          <p:cNvSpPr txBox="true"/>
          <p:nvPr/>
        </p:nvSpPr>
        <p:spPr>
          <a:xfrm rot="0">
            <a:off x="13621284" y="8113795"/>
            <a:ext cx="3453211" cy="412819"/>
          </a:xfrm>
          <a:prstGeom prst="rect">
            <a:avLst/>
          </a:prstGeom>
        </p:spPr>
        <p:txBody>
          <a:bodyPr anchor="t" rtlCol="false" tIns="0" lIns="0" bIns="0" rIns="0">
            <a:spAutoFit/>
          </a:bodyPr>
          <a:lstStyle/>
          <a:p>
            <a:pPr algn="ctr" marL="0" indent="0" lvl="0">
              <a:lnSpc>
                <a:spcPts val="3496"/>
              </a:lnSpc>
              <a:spcBef>
                <a:spcPct val="0"/>
              </a:spcBef>
            </a:pPr>
            <a:r>
              <a:rPr lang="en-US" sz="2497">
                <a:solidFill>
                  <a:srgbClr val="000000"/>
                </a:solidFill>
                <a:latin typeface="Montserrat"/>
                <a:ea typeface="Montserrat"/>
                <a:cs typeface="Montserrat"/>
                <a:sym typeface="Montserrat"/>
              </a:rPr>
              <a:t>Ronda de preguntas</a:t>
            </a:r>
          </a:p>
        </p:txBody>
      </p:sp>
      <p:sp>
        <p:nvSpPr>
          <p:cNvPr name="TextBox 55" id="55"/>
          <p:cNvSpPr txBox="true"/>
          <p:nvPr/>
        </p:nvSpPr>
        <p:spPr>
          <a:xfrm rot="0">
            <a:off x="5578017" y="5459357"/>
            <a:ext cx="2336205" cy="412819"/>
          </a:xfrm>
          <a:prstGeom prst="rect">
            <a:avLst/>
          </a:prstGeom>
        </p:spPr>
        <p:txBody>
          <a:bodyPr anchor="t" rtlCol="false" tIns="0" lIns="0" bIns="0" rIns="0">
            <a:spAutoFit/>
          </a:bodyPr>
          <a:lstStyle/>
          <a:p>
            <a:pPr algn="ctr" marL="0" indent="0" lvl="0">
              <a:lnSpc>
                <a:spcPts val="3496"/>
              </a:lnSpc>
              <a:spcBef>
                <a:spcPct val="0"/>
              </a:spcBef>
            </a:pPr>
            <a:r>
              <a:rPr lang="en-US" sz="2497">
                <a:solidFill>
                  <a:srgbClr val="000000"/>
                </a:solidFill>
                <a:latin typeface="Montserrat"/>
                <a:ea typeface="Montserrat"/>
                <a:cs typeface="Montserrat"/>
                <a:sym typeface="Montserrat"/>
              </a:rPr>
              <a:t>Herramientas</a:t>
            </a:r>
          </a:p>
        </p:txBody>
      </p:sp>
      <p:sp>
        <p:nvSpPr>
          <p:cNvPr name="TextBox 56" id="56"/>
          <p:cNvSpPr txBox="true"/>
          <p:nvPr/>
        </p:nvSpPr>
        <p:spPr>
          <a:xfrm rot="0">
            <a:off x="5542971" y="8158563"/>
            <a:ext cx="2666575" cy="323284"/>
          </a:xfrm>
          <a:prstGeom prst="rect">
            <a:avLst/>
          </a:prstGeom>
        </p:spPr>
        <p:txBody>
          <a:bodyPr anchor="t" rtlCol="false" tIns="0" lIns="0" bIns="0" rIns="0">
            <a:spAutoFit/>
          </a:bodyPr>
          <a:lstStyle/>
          <a:p>
            <a:pPr algn="ctr" marL="0" indent="0" lvl="0">
              <a:lnSpc>
                <a:spcPts val="2656"/>
              </a:lnSpc>
              <a:spcBef>
                <a:spcPct val="0"/>
              </a:spcBef>
            </a:pPr>
            <a:r>
              <a:rPr lang="en-US" sz="1897">
                <a:solidFill>
                  <a:srgbClr val="000000"/>
                </a:solidFill>
                <a:latin typeface="Montserrat"/>
                <a:ea typeface="Montserrat"/>
                <a:cs typeface="Montserrat"/>
                <a:sym typeface="Montserrat"/>
              </a:rPr>
              <a:t>Lecciones aprendidas</a:t>
            </a:r>
          </a:p>
        </p:txBody>
      </p:sp>
      <p:sp>
        <p:nvSpPr>
          <p:cNvPr name="TextBox 57" id="57"/>
          <p:cNvSpPr txBox="true"/>
          <p:nvPr/>
        </p:nvSpPr>
        <p:spPr>
          <a:xfrm rot="0">
            <a:off x="14369305" y="6777051"/>
            <a:ext cx="2326780" cy="412819"/>
          </a:xfrm>
          <a:prstGeom prst="rect">
            <a:avLst/>
          </a:prstGeom>
        </p:spPr>
        <p:txBody>
          <a:bodyPr anchor="t" rtlCol="false" tIns="0" lIns="0" bIns="0" rIns="0">
            <a:spAutoFit/>
          </a:bodyPr>
          <a:lstStyle/>
          <a:p>
            <a:pPr algn="ctr" marL="0" indent="0" lvl="0">
              <a:lnSpc>
                <a:spcPts val="3496"/>
              </a:lnSpc>
              <a:spcBef>
                <a:spcPct val="0"/>
              </a:spcBef>
            </a:pPr>
            <a:r>
              <a:rPr lang="en-US" sz="2497">
                <a:solidFill>
                  <a:srgbClr val="000000"/>
                </a:solidFill>
                <a:latin typeface="Montserrat"/>
                <a:ea typeface="Montserrat"/>
                <a:cs typeface="Montserrat"/>
                <a:sym typeface="Montserrat"/>
              </a:rPr>
              <a:t>Demostración</a:t>
            </a:r>
          </a:p>
        </p:txBody>
      </p:sp>
      <p:sp>
        <p:nvSpPr>
          <p:cNvPr name="TextBox 58" id="58"/>
          <p:cNvSpPr txBox="true"/>
          <p:nvPr/>
        </p:nvSpPr>
        <p:spPr>
          <a:xfrm rot="0">
            <a:off x="9208433" y="6767526"/>
            <a:ext cx="3457082" cy="389324"/>
          </a:xfrm>
          <a:prstGeom prst="rect">
            <a:avLst/>
          </a:prstGeom>
        </p:spPr>
        <p:txBody>
          <a:bodyPr anchor="t" rtlCol="false" tIns="0" lIns="0" bIns="0" rIns="0">
            <a:spAutoFit/>
          </a:bodyPr>
          <a:lstStyle/>
          <a:p>
            <a:pPr algn="ctr" marL="0" indent="0" lvl="0">
              <a:lnSpc>
                <a:spcPts val="3216"/>
              </a:lnSpc>
              <a:spcBef>
                <a:spcPct val="0"/>
              </a:spcBef>
            </a:pPr>
            <a:r>
              <a:rPr lang="en-US" sz="2297">
                <a:solidFill>
                  <a:srgbClr val="000000"/>
                </a:solidFill>
                <a:latin typeface="Montserrat"/>
                <a:ea typeface="Montserrat"/>
                <a:cs typeface="Montserrat"/>
                <a:sym typeface="Montserrat"/>
              </a:rPr>
              <a:t>Herramientas similares</a:t>
            </a:r>
          </a:p>
        </p:txBody>
      </p:sp>
      <p:sp>
        <p:nvSpPr>
          <p:cNvPr name="TextBox 59" id="59"/>
          <p:cNvSpPr txBox="true"/>
          <p:nvPr/>
        </p:nvSpPr>
        <p:spPr>
          <a:xfrm rot="0">
            <a:off x="14669392" y="5459357"/>
            <a:ext cx="1726605" cy="412819"/>
          </a:xfrm>
          <a:prstGeom prst="rect">
            <a:avLst/>
          </a:prstGeom>
        </p:spPr>
        <p:txBody>
          <a:bodyPr anchor="t" rtlCol="false" tIns="0" lIns="0" bIns="0" rIns="0">
            <a:spAutoFit/>
          </a:bodyPr>
          <a:lstStyle/>
          <a:p>
            <a:pPr algn="ctr" marL="0" indent="0" lvl="0">
              <a:lnSpc>
                <a:spcPts val="3496"/>
              </a:lnSpc>
              <a:spcBef>
                <a:spcPct val="0"/>
              </a:spcBef>
            </a:pPr>
            <a:r>
              <a:rPr lang="en-US" sz="2497">
                <a:solidFill>
                  <a:srgbClr val="000000"/>
                </a:solidFill>
                <a:latin typeface="Montserrat"/>
                <a:ea typeface="Montserrat"/>
                <a:cs typeface="Montserrat"/>
                <a:sym typeface="Montserrat"/>
              </a:rPr>
              <a:t>Seguridad</a:t>
            </a:r>
          </a:p>
        </p:txBody>
      </p:sp>
      <p:sp>
        <p:nvSpPr>
          <p:cNvPr name="TextBox 60" id="60"/>
          <p:cNvSpPr txBox="true"/>
          <p:nvPr/>
        </p:nvSpPr>
        <p:spPr>
          <a:xfrm rot="0">
            <a:off x="5777191" y="6668804"/>
            <a:ext cx="2198134" cy="621099"/>
          </a:xfrm>
          <a:prstGeom prst="rect">
            <a:avLst/>
          </a:prstGeom>
        </p:spPr>
        <p:txBody>
          <a:bodyPr anchor="t" rtlCol="false" tIns="0" lIns="0" bIns="0" rIns="0">
            <a:spAutoFit/>
          </a:bodyPr>
          <a:lstStyle/>
          <a:p>
            <a:pPr algn="ctr" marL="0" indent="0" lvl="0">
              <a:lnSpc>
                <a:spcPts val="2516"/>
              </a:lnSpc>
              <a:spcBef>
                <a:spcPct val="0"/>
              </a:spcBef>
            </a:pPr>
            <a:r>
              <a:rPr lang="en-US" sz="1797">
                <a:solidFill>
                  <a:srgbClr val="000000"/>
                </a:solidFill>
                <a:latin typeface="Montserrat"/>
                <a:ea typeface="Montserrat"/>
                <a:cs typeface="Montserrat"/>
                <a:sym typeface="Montserrat"/>
              </a:rPr>
              <a:t>Aseguramiento de calidad</a:t>
            </a:r>
          </a:p>
        </p:txBody>
      </p:sp>
      <p:sp>
        <p:nvSpPr>
          <p:cNvPr name="TextBox 61" id="61"/>
          <p:cNvSpPr txBox="true"/>
          <p:nvPr/>
        </p:nvSpPr>
        <p:spPr>
          <a:xfrm rot="0">
            <a:off x="9896787" y="5459357"/>
            <a:ext cx="2080373" cy="412819"/>
          </a:xfrm>
          <a:prstGeom prst="rect">
            <a:avLst/>
          </a:prstGeom>
        </p:spPr>
        <p:txBody>
          <a:bodyPr anchor="t" rtlCol="false" tIns="0" lIns="0" bIns="0" rIns="0">
            <a:spAutoFit/>
          </a:bodyPr>
          <a:lstStyle/>
          <a:p>
            <a:pPr algn="ctr" marL="0" indent="0" lvl="0">
              <a:lnSpc>
                <a:spcPts val="3496"/>
              </a:lnSpc>
              <a:spcBef>
                <a:spcPct val="0"/>
              </a:spcBef>
            </a:pPr>
            <a:r>
              <a:rPr lang="en-US" sz="2497">
                <a:solidFill>
                  <a:srgbClr val="000000"/>
                </a:solidFill>
                <a:latin typeface="Montserrat"/>
                <a:ea typeface="Montserrat"/>
                <a:cs typeface="Montserrat"/>
                <a:sym typeface="Montserrat"/>
              </a:rPr>
              <a:t>Arquitectura</a:t>
            </a:r>
          </a:p>
        </p:txBody>
      </p:sp>
      <p:sp>
        <p:nvSpPr>
          <p:cNvPr name="Freeform 62" id="62"/>
          <p:cNvSpPr/>
          <p:nvPr/>
        </p:nvSpPr>
        <p:spPr>
          <a:xfrm flipH="false" flipV="false" rot="0">
            <a:off x="10679799" y="8056120"/>
            <a:ext cx="514350" cy="514350"/>
          </a:xfrm>
          <a:custGeom>
            <a:avLst/>
            <a:gdLst/>
            <a:ahLst/>
            <a:cxnLst/>
            <a:rect r="r" b="b" t="t" l="l"/>
            <a:pathLst>
              <a:path h="514350" w="514350">
                <a:moveTo>
                  <a:pt x="0" y="0"/>
                </a:moveTo>
                <a:lnTo>
                  <a:pt x="514350" y="0"/>
                </a:lnTo>
                <a:lnTo>
                  <a:pt x="514350" y="514350"/>
                </a:lnTo>
                <a:lnTo>
                  <a:pt x="0" y="514350"/>
                </a:lnTo>
                <a:lnTo>
                  <a:pt x="0" y="0"/>
                </a:lnTo>
                <a:close/>
              </a:path>
            </a:pathLst>
          </a:custGeom>
          <a:blipFill>
            <a:blip r:embed="rId3"/>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55651"/>
            <a:ext cx="3585947" cy="9467474"/>
            <a:chOff x="0" y="0"/>
            <a:chExt cx="944447" cy="2493491"/>
          </a:xfrm>
        </p:grpSpPr>
        <p:sp>
          <p:nvSpPr>
            <p:cNvPr name="Freeform 3" id="3"/>
            <p:cNvSpPr/>
            <p:nvPr/>
          </p:nvSpPr>
          <p:spPr>
            <a:xfrm flipH="false" flipV="false" rot="0">
              <a:off x="0" y="0"/>
              <a:ext cx="944447" cy="2493491"/>
            </a:xfrm>
            <a:custGeom>
              <a:avLst/>
              <a:gdLst/>
              <a:ahLst/>
              <a:cxnLst/>
              <a:rect r="r" b="b" t="t" l="l"/>
              <a:pathLst>
                <a:path h="2493491" w="944447">
                  <a:moveTo>
                    <a:pt x="0" y="0"/>
                  </a:moveTo>
                  <a:lnTo>
                    <a:pt x="944447" y="0"/>
                  </a:lnTo>
                  <a:lnTo>
                    <a:pt x="944447" y="2493491"/>
                  </a:lnTo>
                  <a:lnTo>
                    <a:pt x="0" y="2493491"/>
                  </a:lnTo>
                  <a:close/>
                </a:path>
              </a:pathLst>
            </a:custGeom>
            <a:solidFill>
              <a:srgbClr val="A6C3FF"/>
            </a:solidFill>
          </p:spPr>
        </p:sp>
        <p:sp>
          <p:nvSpPr>
            <p:cNvPr name="TextBox 4" id="4"/>
            <p:cNvSpPr txBox="true"/>
            <p:nvPr/>
          </p:nvSpPr>
          <p:spPr>
            <a:xfrm>
              <a:off x="0" y="-38100"/>
              <a:ext cx="944447" cy="2531591"/>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3594174" y="1255651"/>
            <a:ext cx="14702053" cy="10032059"/>
          </a:xfrm>
          <a:custGeom>
            <a:avLst/>
            <a:gdLst/>
            <a:ahLst/>
            <a:cxnLst/>
            <a:rect r="r" b="b" t="t" l="l"/>
            <a:pathLst>
              <a:path h="10032059" w="14702053">
                <a:moveTo>
                  <a:pt x="0" y="0"/>
                </a:moveTo>
                <a:lnTo>
                  <a:pt x="14702053" y="0"/>
                </a:lnTo>
                <a:lnTo>
                  <a:pt x="14702053" y="10032060"/>
                </a:lnTo>
                <a:lnTo>
                  <a:pt x="0" y="10032060"/>
                </a:lnTo>
                <a:lnTo>
                  <a:pt x="0" y="0"/>
                </a:lnTo>
                <a:close/>
              </a:path>
            </a:pathLst>
          </a:custGeom>
          <a:blipFill>
            <a:blip r:embed="rId2"/>
            <a:stretch>
              <a:fillRect l="-3842" t="-5305" r="-3842" b="0"/>
            </a:stretch>
          </a:blipFill>
        </p:spPr>
      </p:sp>
      <p:grpSp>
        <p:nvGrpSpPr>
          <p:cNvPr name="Group 6" id="6"/>
          <p:cNvGrpSpPr/>
          <p:nvPr/>
        </p:nvGrpSpPr>
        <p:grpSpPr>
          <a:xfrm rot="0">
            <a:off x="-1725922" y="-209550"/>
            <a:ext cx="20974315" cy="1465201"/>
            <a:chOff x="0" y="0"/>
            <a:chExt cx="5524100" cy="385897"/>
          </a:xfrm>
        </p:grpSpPr>
        <p:sp>
          <p:nvSpPr>
            <p:cNvPr name="Freeform 7" id="7"/>
            <p:cNvSpPr/>
            <p:nvPr/>
          </p:nvSpPr>
          <p:spPr>
            <a:xfrm flipH="false" flipV="false" rot="0">
              <a:off x="0" y="0"/>
              <a:ext cx="5524100" cy="385897"/>
            </a:xfrm>
            <a:custGeom>
              <a:avLst/>
              <a:gdLst/>
              <a:ahLst/>
              <a:cxnLst/>
              <a:rect r="r" b="b" t="t" l="l"/>
              <a:pathLst>
                <a:path h="385897" w="5524100">
                  <a:moveTo>
                    <a:pt x="0" y="0"/>
                  </a:moveTo>
                  <a:lnTo>
                    <a:pt x="5524100" y="0"/>
                  </a:lnTo>
                  <a:lnTo>
                    <a:pt x="5524100" y="385897"/>
                  </a:lnTo>
                  <a:lnTo>
                    <a:pt x="0" y="385897"/>
                  </a:lnTo>
                  <a:close/>
                </a:path>
              </a:pathLst>
            </a:custGeom>
            <a:solidFill>
              <a:srgbClr val="6595FF"/>
            </a:solidFill>
          </p:spPr>
        </p:sp>
        <p:sp>
          <p:nvSpPr>
            <p:cNvPr name="TextBox 8" id="8"/>
            <p:cNvSpPr txBox="true"/>
            <p:nvPr/>
          </p:nvSpPr>
          <p:spPr>
            <a:xfrm>
              <a:off x="0" y="-38100"/>
              <a:ext cx="5524100" cy="423997"/>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3832029" y="2760147"/>
            <a:ext cx="14226344" cy="5737753"/>
            <a:chOff x="0" y="0"/>
            <a:chExt cx="3746856" cy="1511178"/>
          </a:xfrm>
        </p:grpSpPr>
        <p:sp>
          <p:nvSpPr>
            <p:cNvPr name="Freeform 10" id="10"/>
            <p:cNvSpPr/>
            <p:nvPr/>
          </p:nvSpPr>
          <p:spPr>
            <a:xfrm flipH="false" flipV="false" rot="0">
              <a:off x="0" y="0"/>
              <a:ext cx="3746856" cy="1511178"/>
            </a:xfrm>
            <a:custGeom>
              <a:avLst/>
              <a:gdLst/>
              <a:ahLst/>
              <a:cxnLst/>
              <a:rect r="r" b="b" t="t" l="l"/>
              <a:pathLst>
                <a:path h="1511178" w="3746856">
                  <a:moveTo>
                    <a:pt x="23945" y="0"/>
                  </a:moveTo>
                  <a:lnTo>
                    <a:pt x="3722911" y="0"/>
                  </a:lnTo>
                  <a:cubicBezTo>
                    <a:pt x="3729262" y="0"/>
                    <a:pt x="3735352" y="2523"/>
                    <a:pt x="3739843" y="7013"/>
                  </a:cubicBezTo>
                  <a:cubicBezTo>
                    <a:pt x="3744333" y="11504"/>
                    <a:pt x="3746856" y="17594"/>
                    <a:pt x="3746856" y="23945"/>
                  </a:cubicBezTo>
                  <a:lnTo>
                    <a:pt x="3746856" y="1487233"/>
                  </a:lnTo>
                  <a:cubicBezTo>
                    <a:pt x="3746856" y="1500457"/>
                    <a:pt x="3736136" y="1511178"/>
                    <a:pt x="3722911" y="1511178"/>
                  </a:cubicBezTo>
                  <a:lnTo>
                    <a:pt x="23945" y="1511178"/>
                  </a:lnTo>
                  <a:cubicBezTo>
                    <a:pt x="17594" y="1511178"/>
                    <a:pt x="11504" y="1508655"/>
                    <a:pt x="7013" y="1504164"/>
                  </a:cubicBezTo>
                  <a:cubicBezTo>
                    <a:pt x="2523" y="1499674"/>
                    <a:pt x="0" y="1493584"/>
                    <a:pt x="0" y="1487233"/>
                  </a:cubicBezTo>
                  <a:lnTo>
                    <a:pt x="0" y="23945"/>
                  </a:lnTo>
                  <a:cubicBezTo>
                    <a:pt x="0" y="10720"/>
                    <a:pt x="10720" y="0"/>
                    <a:pt x="23945" y="0"/>
                  </a:cubicBezTo>
                  <a:close/>
                </a:path>
              </a:pathLst>
            </a:custGeom>
            <a:solidFill>
              <a:srgbClr val="FFFFFF">
                <a:alpha val="47843"/>
              </a:srgbClr>
            </a:solidFill>
            <a:ln w="38100" cap="rnd">
              <a:solidFill>
                <a:srgbClr val="6595FF">
                  <a:alpha val="47843"/>
                </a:srgbClr>
              </a:solidFill>
              <a:prstDash val="solid"/>
              <a:round/>
            </a:ln>
          </p:spPr>
        </p:sp>
        <p:sp>
          <p:nvSpPr>
            <p:cNvPr name="TextBox 11" id="11"/>
            <p:cNvSpPr txBox="true"/>
            <p:nvPr/>
          </p:nvSpPr>
          <p:spPr>
            <a:xfrm>
              <a:off x="0" y="-38100"/>
              <a:ext cx="3746856" cy="1549278"/>
            </a:xfrm>
            <a:prstGeom prst="rect">
              <a:avLst/>
            </a:prstGeom>
          </p:spPr>
          <p:txBody>
            <a:bodyPr anchor="ctr" rtlCol="false" tIns="50800" lIns="50800" bIns="50800" rIns="50800"/>
            <a:lstStyle/>
            <a:p>
              <a:pPr algn="ctr">
                <a:lnSpc>
                  <a:spcPts val="2659"/>
                </a:lnSpc>
              </a:pPr>
            </a:p>
          </p:txBody>
        </p:sp>
      </p:grpSp>
      <p:sp>
        <p:nvSpPr>
          <p:cNvPr name="AutoShape 12" id="12"/>
          <p:cNvSpPr/>
          <p:nvPr/>
        </p:nvSpPr>
        <p:spPr>
          <a:xfrm flipV="true">
            <a:off x="4690391" y="3896040"/>
            <a:ext cx="2679080" cy="0"/>
          </a:xfrm>
          <a:prstGeom prst="line">
            <a:avLst/>
          </a:prstGeom>
          <a:ln cap="flat" w="38100">
            <a:solidFill>
              <a:srgbClr val="9BBAFF"/>
            </a:solidFill>
            <a:prstDash val="solid"/>
            <a:headEnd type="none" len="sm" w="sm"/>
            <a:tailEnd type="none" len="sm" w="sm"/>
          </a:ln>
        </p:spPr>
      </p:sp>
      <p:grpSp>
        <p:nvGrpSpPr>
          <p:cNvPr name="Group 13" id="13"/>
          <p:cNvGrpSpPr/>
          <p:nvPr/>
        </p:nvGrpSpPr>
        <p:grpSpPr>
          <a:xfrm rot="0">
            <a:off x="4690391" y="4077015"/>
            <a:ext cx="12341259" cy="1446752"/>
            <a:chOff x="0" y="0"/>
            <a:chExt cx="3250311" cy="381000"/>
          </a:xfrm>
        </p:grpSpPr>
        <p:sp>
          <p:nvSpPr>
            <p:cNvPr name="Freeform 14" id="14"/>
            <p:cNvSpPr/>
            <p:nvPr/>
          </p:nvSpPr>
          <p:spPr>
            <a:xfrm flipH="false" flipV="false" rot="0">
              <a:off x="0" y="0"/>
              <a:ext cx="3250311" cy="381000"/>
            </a:xfrm>
            <a:custGeom>
              <a:avLst/>
              <a:gdLst/>
              <a:ahLst/>
              <a:cxnLst/>
              <a:rect r="r" b="b" t="t" l="l"/>
              <a:pathLst>
                <a:path h="381000" w="3250311">
                  <a:moveTo>
                    <a:pt x="3250311" y="0"/>
                  </a:moveTo>
                  <a:lnTo>
                    <a:pt x="3250311" y="381000"/>
                  </a:lnTo>
                  <a:lnTo>
                    <a:pt x="0" y="381000"/>
                  </a:lnTo>
                  <a:lnTo>
                    <a:pt x="0" y="0"/>
                  </a:lnTo>
                  <a:close/>
                </a:path>
              </a:pathLst>
            </a:custGeom>
            <a:solidFill>
              <a:srgbClr val="000000">
                <a:alpha val="67843"/>
              </a:srgbClr>
            </a:solidFill>
            <a:ln w="952500" cap="sq">
              <a:solidFill>
                <a:srgbClr val="FFFFFF">
                  <a:alpha val="67843"/>
                </a:srgbClr>
              </a:solidFill>
              <a:prstDash val="solid"/>
              <a:miter/>
            </a:ln>
          </p:spPr>
        </p:sp>
        <p:sp>
          <p:nvSpPr>
            <p:cNvPr name="TextBox 15" id="15"/>
            <p:cNvSpPr txBox="true"/>
            <p:nvPr/>
          </p:nvSpPr>
          <p:spPr>
            <a:xfrm>
              <a:off x="0" y="-38100"/>
              <a:ext cx="3250311" cy="41910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0" y="2522658"/>
            <a:ext cx="3585947" cy="760092"/>
            <a:chOff x="0" y="0"/>
            <a:chExt cx="944447" cy="200189"/>
          </a:xfrm>
        </p:grpSpPr>
        <p:sp>
          <p:nvSpPr>
            <p:cNvPr name="Freeform 17" id="17"/>
            <p:cNvSpPr/>
            <p:nvPr/>
          </p:nvSpPr>
          <p:spPr>
            <a:xfrm flipH="false" flipV="false" rot="0">
              <a:off x="0" y="0"/>
              <a:ext cx="944447" cy="200189"/>
            </a:xfrm>
            <a:custGeom>
              <a:avLst/>
              <a:gdLst/>
              <a:ahLst/>
              <a:cxnLst/>
              <a:rect r="r" b="b" t="t" l="l"/>
              <a:pathLst>
                <a:path h="200189" w="944447">
                  <a:moveTo>
                    <a:pt x="944447" y="0"/>
                  </a:moveTo>
                  <a:lnTo>
                    <a:pt x="944447" y="200189"/>
                  </a:lnTo>
                  <a:lnTo>
                    <a:pt x="0" y="200189"/>
                  </a:lnTo>
                  <a:lnTo>
                    <a:pt x="0" y="0"/>
                  </a:lnTo>
                  <a:close/>
                </a:path>
              </a:pathLst>
            </a:custGeom>
            <a:solidFill>
              <a:srgbClr val="6595FF">
                <a:alpha val="81961"/>
              </a:srgbClr>
            </a:solidFill>
          </p:spPr>
        </p:sp>
        <p:sp>
          <p:nvSpPr>
            <p:cNvPr name="TextBox 18" id="18"/>
            <p:cNvSpPr txBox="true"/>
            <p:nvPr/>
          </p:nvSpPr>
          <p:spPr>
            <a:xfrm>
              <a:off x="0" y="-38100"/>
              <a:ext cx="944447" cy="238289"/>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1247196" y="108583"/>
            <a:ext cx="10916135" cy="920117"/>
          </a:xfrm>
          <a:prstGeom prst="rect">
            <a:avLst/>
          </a:prstGeom>
        </p:spPr>
        <p:txBody>
          <a:bodyPr anchor="t" rtlCol="false" tIns="0" lIns="0" bIns="0" rIns="0">
            <a:spAutoFit/>
          </a:bodyPr>
          <a:lstStyle/>
          <a:p>
            <a:pPr algn="ctr">
              <a:lnSpc>
                <a:spcPts val="7559"/>
              </a:lnSpc>
              <a:spcBef>
                <a:spcPct val="0"/>
              </a:spcBef>
            </a:pPr>
            <a:r>
              <a:rPr lang="en-US" sz="5399">
                <a:solidFill>
                  <a:srgbClr val="FFFFFF"/>
                </a:solidFill>
                <a:latin typeface="Montserrat"/>
                <a:ea typeface="Montserrat"/>
                <a:cs typeface="Montserrat"/>
                <a:sym typeface="Montserrat"/>
              </a:rPr>
              <a:t>College choice helper</a:t>
            </a:r>
          </a:p>
        </p:txBody>
      </p:sp>
      <p:sp>
        <p:nvSpPr>
          <p:cNvPr name="Freeform 20" id="20"/>
          <p:cNvSpPr/>
          <p:nvPr/>
        </p:nvSpPr>
        <p:spPr>
          <a:xfrm flipH="false" flipV="false" rot="0">
            <a:off x="1356833" y="97559"/>
            <a:ext cx="1028700" cy="1028700"/>
          </a:xfrm>
          <a:custGeom>
            <a:avLst/>
            <a:gdLst/>
            <a:ahLst/>
            <a:cxnLst/>
            <a:rect r="r" b="b" t="t" l="l"/>
            <a:pathLst>
              <a:path h="1028700" w="1028700">
                <a:moveTo>
                  <a:pt x="0" y="0"/>
                </a:moveTo>
                <a:lnTo>
                  <a:pt x="1028700" y="0"/>
                </a:lnTo>
                <a:lnTo>
                  <a:pt x="1028700" y="1028700"/>
                </a:lnTo>
                <a:lnTo>
                  <a:pt x="0" y="1028700"/>
                </a:lnTo>
                <a:lnTo>
                  <a:pt x="0" y="0"/>
                </a:lnTo>
                <a:close/>
              </a:path>
            </a:pathLst>
          </a:custGeom>
          <a:blipFill>
            <a:blip r:embed="rId3"/>
            <a:stretch>
              <a:fillRect l="0" t="0" r="0" b="0"/>
            </a:stretch>
          </a:blipFill>
        </p:spPr>
      </p:sp>
      <p:sp>
        <p:nvSpPr>
          <p:cNvPr name="Freeform 21" id="21"/>
          <p:cNvSpPr/>
          <p:nvPr/>
        </p:nvSpPr>
        <p:spPr>
          <a:xfrm flipH="false" flipV="false" rot="0">
            <a:off x="3985734" y="6020114"/>
            <a:ext cx="7085712" cy="2187714"/>
          </a:xfrm>
          <a:custGeom>
            <a:avLst/>
            <a:gdLst/>
            <a:ahLst/>
            <a:cxnLst/>
            <a:rect r="r" b="b" t="t" l="l"/>
            <a:pathLst>
              <a:path h="2187714" w="7085712">
                <a:moveTo>
                  <a:pt x="0" y="0"/>
                </a:moveTo>
                <a:lnTo>
                  <a:pt x="7085712" y="0"/>
                </a:lnTo>
                <a:lnTo>
                  <a:pt x="7085712" y="2187714"/>
                </a:lnTo>
                <a:lnTo>
                  <a:pt x="0" y="2187714"/>
                </a:lnTo>
                <a:lnTo>
                  <a:pt x="0" y="0"/>
                </a:lnTo>
                <a:close/>
              </a:path>
            </a:pathLst>
          </a:custGeom>
          <a:blipFill>
            <a:blip r:embed="rId4"/>
            <a:stretch>
              <a:fillRect l="0" t="0" r="0" b="0"/>
            </a:stretch>
          </a:blipFill>
        </p:spPr>
      </p:sp>
      <p:sp>
        <p:nvSpPr>
          <p:cNvPr name="Freeform 22" id="22"/>
          <p:cNvSpPr/>
          <p:nvPr/>
        </p:nvSpPr>
        <p:spPr>
          <a:xfrm flipH="false" flipV="false" rot="0">
            <a:off x="11240043" y="6049370"/>
            <a:ext cx="6693644" cy="2242371"/>
          </a:xfrm>
          <a:custGeom>
            <a:avLst/>
            <a:gdLst/>
            <a:ahLst/>
            <a:cxnLst/>
            <a:rect r="r" b="b" t="t" l="l"/>
            <a:pathLst>
              <a:path h="2242371" w="6693644">
                <a:moveTo>
                  <a:pt x="0" y="0"/>
                </a:moveTo>
                <a:lnTo>
                  <a:pt x="6693644" y="0"/>
                </a:lnTo>
                <a:lnTo>
                  <a:pt x="6693644" y="2242370"/>
                </a:lnTo>
                <a:lnTo>
                  <a:pt x="0" y="2242370"/>
                </a:lnTo>
                <a:lnTo>
                  <a:pt x="0" y="0"/>
                </a:lnTo>
                <a:close/>
              </a:path>
            </a:pathLst>
          </a:custGeom>
          <a:blipFill>
            <a:blip r:embed="rId5"/>
            <a:stretch>
              <a:fillRect l="0" t="0" r="0" b="0"/>
            </a:stretch>
          </a:blipFill>
        </p:spPr>
      </p:sp>
      <p:sp>
        <p:nvSpPr>
          <p:cNvPr name="TextBox 23" id="23"/>
          <p:cNvSpPr txBox="true"/>
          <p:nvPr/>
        </p:nvSpPr>
        <p:spPr>
          <a:xfrm rot="0">
            <a:off x="4803455" y="4119594"/>
            <a:ext cx="12535982" cy="1323409"/>
          </a:xfrm>
          <a:prstGeom prst="rect">
            <a:avLst/>
          </a:prstGeom>
        </p:spPr>
        <p:txBody>
          <a:bodyPr anchor="t" rtlCol="false" tIns="0" lIns="0" bIns="0" rIns="0">
            <a:spAutoFit/>
          </a:bodyPr>
          <a:lstStyle/>
          <a:p>
            <a:pPr algn="l" marL="0" indent="0" lvl="0">
              <a:lnSpc>
                <a:spcPts val="2656"/>
              </a:lnSpc>
              <a:spcBef>
                <a:spcPct val="0"/>
              </a:spcBef>
            </a:pPr>
            <a:r>
              <a:rPr lang="en-US" sz="1897">
                <a:solidFill>
                  <a:srgbClr val="000000"/>
                </a:solidFill>
                <a:latin typeface="Montserrat"/>
                <a:ea typeface="Montserrat"/>
                <a:cs typeface="Montserrat"/>
                <a:sym typeface="Montserrat"/>
              </a:rPr>
              <a:t>Año tras año los estudiantes de enseñanza media se ven en la decisión de estudiar una carrera universitaria, complicada como muestran las estadísticas, la situación a mejorado con los años, pero sigue siendo mucho los estudiantes que toman una decisión que no los satisface, lo que evidencia la incertidumbre que aún se vive.</a:t>
            </a:r>
          </a:p>
        </p:txBody>
      </p:sp>
      <p:sp>
        <p:nvSpPr>
          <p:cNvPr name="TextBox 24" id="24"/>
          <p:cNvSpPr txBox="true"/>
          <p:nvPr/>
        </p:nvSpPr>
        <p:spPr>
          <a:xfrm rot="0">
            <a:off x="4690391" y="3070200"/>
            <a:ext cx="2679080" cy="712472"/>
          </a:xfrm>
          <a:prstGeom prst="rect">
            <a:avLst/>
          </a:prstGeom>
        </p:spPr>
        <p:txBody>
          <a:bodyPr anchor="t" rtlCol="false" tIns="0" lIns="0" bIns="0" rIns="0">
            <a:spAutoFit/>
          </a:bodyPr>
          <a:lstStyle/>
          <a:p>
            <a:pPr algn="ctr">
              <a:lnSpc>
                <a:spcPts val="5879"/>
              </a:lnSpc>
              <a:spcBef>
                <a:spcPct val="0"/>
              </a:spcBef>
            </a:pPr>
            <a:r>
              <a:rPr lang="en-US" sz="4199">
                <a:solidFill>
                  <a:srgbClr val="000000"/>
                </a:solidFill>
                <a:latin typeface="Montserrat"/>
                <a:ea typeface="Montserrat"/>
                <a:cs typeface="Montserrat"/>
                <a:sym typeface="Montserrat"/>
              </a:rPr>
              <a:t>Problema</a:t>
            </a:r>
          </a:p>
        </p:txBody>
      </p:sp>
      <p:sp>
        <p:nvSpPr>
          <p:cNvPr name="TextBox 25" id="25"/>
          <p:cNvSpPr txBox="true"/>
          <p:nvPr/>
        </p:nvSpPr>
        <p:spPr>
          <a:xfrm rot="0">
            <a:off x="238804" y="1827332"/>
            <a:ext cx="3108340"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Contenido</a:t>
            </a:r>
          </a:p>
        </p:txBody>
      </p:sp>
      <p:sp>
        <p:nvSpPr>
          <p:cNvPr name="TextBox 26" id="26"/>
          <p:cNvSpPr txBox="true"/>
          <p:nvPr/>
        </p:nvSpPr>
        <p:spPr>
          <a:xfrm rot="0">
            <a:off x="1200415" y="2722047"/>
            <a:ext cx="1185118"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Problema</a:t>
            </a:r>
          </a:p>
        </p:txBody>
      </p:sp>
      <p:sp>
        <p:nvSpPr>
          <p:cNvPr name="TextBox 27" id="27"/>
          <p:cNvSpPr txBox="true"/>
          <p:nvPr/>
        </p:nvSpPr>
        <p:spPr>
          <a:xfrm rot="0">
            <a:off x="415874" y="3616762"/>
            <a:ext cx="2754200"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Propuesta de solucion</a:t>
            </a:r>
          </a:p>
        </p:txBody>
      </p:sp>
      <p:sp>
        <p:nvSpPr>
          <p:cNvPr name="TextBox 28" id="28"/>
          <p:cNvSpPr txBox="true"/>
          <p:nvPr/>
        </p:nvSpPr>
        <p:spPr>
          <a:xfrm rot="0">
            <a:off x="681302" y="4511477"/>
            <a:ext cx="222334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Costos y viabilidad</a:t>
            </a:r>
          </a:p>
        </p:txBody>
      </p:sp>
      <p:sp>
        <p:nvSpPr>
          <p:cNvPr name="TextBox 29" id="29"/>
          <p:cNvSpPr txBox="true"/>
          <p:nvPr/>
        </p:nvSpPr>
        <p:spPr>
          <a:xfrm rot="0">
            <a:off x="961992" y="5406192"/>
            <a:ext cx="1661964"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Herramientas</a:t>
            </a:r>
          </a:p>
        </p:txBody>
      </p:sp>
      <p:sp>
        <p:nvSpPr>
          <p:cNvPr name="TextBox 30" id="30"/>
          <p:cNvSpPr txBox="true"/>
          <p:nvPr/>
        </p:nvSpPr>
        <p:spPr>
          <a:xfrm rot="0">
            <a:off x="1027402" y="6300907"/>
            <a:ext cx="1531144"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Arquitectura</a:t>
            </a:r>
          </a:p>
        </p:txBody>
      </p:sp>
      <p:sp>
        <p:nvSpPr>
          <p:cNvPr name="TextBox 31" id="31"/>
          <p:cNvSpPr txBox="true"/>
          <p:nvPr/>
        </p:nvSpPr>
        <p:spPr>
          <a:xfrm rot="0">
            <a:off x="1167077" y="7195622"/>
            <a:ext cx="125179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Seguridad</a:t>
            </a:r>
          </a:p>
        </p:txBody>
      </p:sp>
      <p:sp>
        <p:nvSpPr>
          <p:cNvPr name="TextBox 32" id="32"/>
          <p:cNvSpPr txBox="true"/>
          <p:nvPr/>
        </p:nvSpPr>
        <p:spPr>
          <a:xfrm rot="0">
            <a:off x="198652" y="8090337"/>
            <a:ext cx="318864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Aseguramiento de calidad</a:t>
            </a:r>
          </a:p>
        </p:txBody>
      </p:sp>
      <p:sp>
        <p:nvSpPr>
          <p:cNvPr name="TextBox 33" id="33"/>
          <p:cNvSpPr txBox="true"/>
          <p:nvPr/>
        </p:nvSpPr>
        <p:spPr>
          <a:xfrm rot="0">
            <a:off x="381041" y="8985052"/>
            <a:ext cx="2823865"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Herramientas Similares</a:t>
            </a:r>
          </a:p>
        </p:txBody>
      </p:sp>
      <p:sp>
        <p:nvSpPr>
          <p:cNvPr name="TextBox 34" id="34"/>
          <p:cNvSpPr txBox="true"/>
          <p:nvPr/>
        </p:nvSpPr>
        <p:spPr>
          <a:xfrm rot="0">
            <a:off x="932226" y="9879767"/>
            <a:ext cx="1721495"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Demostracion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55651"/>
            <a:ext cx="3585947" cy="9467474"/>
            <a:chOff x="0" y="0"/>
            <a:chExt cx="944447" cy="2493491"/>
          </a:xfrm>
        </p:grpSpPr>
        <p:sp>
          <p:nvSpPr>
            <p:cNvPr name="Freeform 3" id="3"/>
            <p:cNvSpPr/>
            <p:nvPr/>
          </p:nvSpPr>
          <p:spPr>
            <a:xfrm flipH="false" flipV="false" rot="0">
              <a:off x="0" y="0"/>
              <a:ext cx="944447" cy="2493491"/>
            </a:xfrm>
            <a:custGeom>
              <a:avLst/>
              <a:gdLst/>
              <a:ahLst/>
              <a:cxnLst/>
              <a:rect r="r" b="b" t="t" l="l"/>
              <a:pathLst>
                <a:path h="2493491" w="944447">
                  <a:moveTo>
                    <a:pt x="0" y="0"/>
                  </a:moveTo>
                  <a:lnTo>
                    <a:pt x="944447" y="0"/>
                  </a:lnTo>
                  <a:lnTo>
                    <a:pt x="944447" y="2493491"/>
                  </a:lnTo>
                  <a:lnTo>
                    <a:pt x="0" y="2493491"/>
                  </a:lnTo>
                  <a:close/>
                </a:path>
              </a:pathLst>
            </a:custGeom>
            <a:solidFill>
              <a:srgbClr val="A6C3FF"/>
            </a:solidFill>
          </p:spPr>
        </p:sp>
        <p:sp>
          <p:nvSpPr>
            <p:cNvPr name="TextBox 4" id="4"/>
            <p:cNvSpPr txBox="true"/>
            <p:nvPr/>
          </p:nvSpPr>
          <p:spPr>
            <a:xfrm>
              <a:off x="0" y="-38100"/>
              <a:ext cx="944447" cy="2531591"/>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3585947" y="1201550"/>
            <a:ext cx="14702053" cy="10032059"/>
          </a:xfrm>
          <a:custGeom>
            <a:avLst/>
            <a:gdLst/>
            <a:ahLst/>
            <a:cxnLst/>
            <a:rect r="r" b="b" t="t" l="l"/>
            <a:pathLst>
              <a:path h="10032059" w="14702053">
                <a:moveTo>
                  <a:pt x="0" y="0"/>
                </a:moveTo>
                <a:lnTo>
                  <a:pt x="14702053" y="0"/>
                </a:lnTo>
                <a:lnTo>
                  <a:pt x="14702053" y="10032059"/>
                </a:lnTo>
                <a:lnTo>
                  <a:pt x="0" y="10032059"/>
                </a:lnTo>
                <a:lnTo>
                  <a:pt x="0" y="0"/>
                </a:lnTo>
                <a:close/>
              </a:path>
            </a:pathLst>
          </a:custGeom>
          <a:blipFill>
            <a:blip r:embed="rId2"/>
            <a:stretch>
              <a:fillRect l="-3842" t="-5305" r="-3842" b="0"/>
            </a:stretch>
          </a:blipFill>
        </p:spPr>
      </p:sp>
      <p:grpSp>
        <p:nvGrpSpPr>
          <p:cNvPr name="Group 6" id="6"/>
          <p:cNvGrpSpPr/>
          <p:nvPr/>
        </p:nvGrpSpPr>
        <p:grpSpPr>
          <a:xfrm rot="0">
            <a:off x="-1725922" y="-209550"/>
            <a:ext cx="20974315" cy="1465201"/>
            <a:chOff x="0" y="0"/>
            <a:chExt cx="5524100" cy="385897"/>
          </a:xfrm>
        </p:grpSpPr>
        <p:sp>
          <p:nvSpPr>
            <p:cNvPr name="Freeform 7" id="7"/>
            <p:cNvSpPr/>
            <p:nvPr/>
          </p:nvSpPr>
          <p:spPr>
            <a:xfrm flipH="false" flipV="false" rot="0">
              <a:off x="0" y="0"/>
              <a:ext cx="5524100" cy="385897"/>
            </a:xfrm>
            <a:custGeom>
              <a:avLst/>
              <a:gdLst/>
              <a:ahLst/>
              <a:cxnLst/>
              <a:rect r="r" b="b" t="t" l="l"/>
              <a:pathLst>
                <a:path h="385897" w="5524100">
                  <a:moveTo>
                    <a:pt x="0" y="0"/>
                  </a:moveTo>
                  <a:lnTo>
                    <a:pt x="5524100" y="0"/>
                  </a:lnTo>
                  <a:lnTo>
                    <a:pt x="5524100" y="385897"/>
                  </a:lnTo>
                  <a:lnTo>
                    <a:pt x="0" y="385897"/>
                  </a:lnTo>
                  <a:close/>
                </a:path>
              </a:pathLst>
            </a:custGeom>
            <a:solidFill>
              <a:srgbClr val="6595FF"/>
            </a:solidFill>
          </p:spPr>
        </p:sp>
        <p:sp>
          <p:nvSpPr>
            <p:cNvPr name="TextBox 8" id="8"/>
            <p:cNvSpPr txBox="true"/>
            <p:nvPr/>
          </p:nvSpPr>
          <p:spPr>
            <a:xfrm>
              <a:off x="0" y="-38100"/>
              <a:ext cx="5524100" cy="423997"/>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4270380" y="1928599"/>
            <a:ext cx="13400220" cy="7329701"/>
            <a:chOff x="0" y="0"/>
            <a:chExt cx="3529276" cy="1930456"/>
          </a:xfrm>
        </p:grpSpPr>
        <p:sp>
          <p:nvSpPr>
            <p:cNvPr name="Freeform 10" id="10"/>
            <p:cNvSpPr/>
            <p:nvPr/>
          </p:nvSpPr>
          <p:spPr>
            <a:xfrm flipH="false" flipV="false" rot="0">
              <a:off x="0" y="0"/>
              <a:ext cx="3529276" cy="1930456"/>
            </a:xfrm>
            <a:custGeom>
              <a:avLst/>
              <a:gdLst/>
              <a:ahLst/>
              <a:cxnLst/>
              <a:rect r="r" b="b" t="t" l="l"/>
              <a:pathLst>
                <a:path h="1930456" w="3529276">
                  <a:moveTo>
                    <a:pt x="25421" y="0"/>
                  </a:moveTo>
                  <a:lnTo>
                    <a:pt x="3503855" y="0"/>
                  </a:lnTo>
                  <a:cubicBezTo>
                    <a:pt x="3510597" y="0"/>
                    <a:pt x="3517063" y="2678"/>
                    <a:pt x="3521830" y="7446"/>
                  </a:cubicBezTo>
                  <a:cubicBezTo>
                    <a:pt x="3526598" y="12213"/>
                    <a:pt x="3529276" y="18679"/>
                    <a:pt x="3529276" y="25421"/>
                  </a:cubicBezTo>
                  <a:lnTo>
                    <a:pt x="3529276" y="1905035"/>
                  </a:lnTo>
                  <a:cubicBezTo>
                    <a:pt x="3529276" y="1911777"/>
                    <a:pt x="3526598" y="1918243"/>
                    <a:pt x="3521830" y="1923011"/>
                  </a:cubicBezTo>
                  <a:cubicBezTo>
                    <a:pt x="3517063" y="1927778"/>
                    <a:pt x="3510597" y="1930456"/>
                    <a:pt x="3503855" y="1930456"/>
                  </a:cubicBezTo>
                  <a:lnTo>
                    <a:pt x="25421" y="1930456"/>
                  </a:lnTo>
                  <a:cubicBezTo>
                    <a:pt x="18679" y="1930456"/>
                    <a:pt x="12213" y="1927778"/>
                    <a:pt x="7446" y="1923011"/>
                  </a:cubicBezTo>
                  <a:cubicBezTo>
                    <a:pt x="2678" y="1918243"/>
                    <a:pt x="0" y="1911777"/>
                    <a:pt x="0" y="1905035"/>
                  </a:cubicBezTo>
                  <a:lnTo>
                    <a:pt x="0" y="25421"/>
                  </a:lnTo>
                  <a:cubicBezTo>
                    <a:pt x="0" y="18679"/>
                    <a:pt x="2678" y="12213"/>
                    <a:pt x="7446" y="7446"/>
                  </a:cubicBezTo>
                  <a:cubicBezTo>
                    <a:pt x="12213" y="2678"/>
                    <a:pt x="18679" y="0"/>
                    <a:pt x="25421" y="0"/>
                  </a:cubicBezTo>
                  <a:close/>
                </a:path>
              </a:pathLst>
            </a:custGeom>
            <a:solidFill>
              <a:srgbClr val="FFFFFF">
                <a:alpha val="47843"/>
              </a:srgbClr>
            </a:solidFill>
            <a:ln w="38100" cap="rnd">
              <a:solidFill>
                <a:srgbClr val="6595FF">
                  <a:alpha val="47843"/>
                </a:srgbClr>
              </a:solidFill>
              <a:prstDash val="solid"/>
              <a:round/>
            </a:ln>
          </p:spPr>
        </p:sp>
        <p:sp>
          <p:nvSpPr>
            <p:cNvPr name="TextBox 11" id="11"/>
            <p:cNvSpPr txBox="true"/>
            <p:nvPr/>
          </p:nvSpPr>
          <p:spPr>
            <a:xfrm>
              <a:off x="0" y="-38100"/>
              <a:ext cx="3529276" cy="1968556"/>
            </a:xfrm>
            <a:prstGeom prst="rect">
              <a:avLst/>
            </a:prstGeom>
          </p:spPr>
          <p:txBody>
            <a:bodyPr anchor="ctr" rtlCol="false" tIns="50800" lIns="50800" bIns="50800" rIns="50800"/>
            <a:lstStyle/>
            <a:p>
              <a:pPr algn="ctr">
                <a:lnSpc>
                  <a:spcPts val="2659"/>
                </a:lnSpc>
              </a:pPr>
            </a:p>
          </p:txBody>
        </p:sp>
      </p:grpSp>
      <p:sp>
        <p:nvSpPr>
          <p:cNvPr name="AutoShape 12" id="12"/>
          <p:cNvSpPr/>
          <p:nvPr/>
        </p:nvSpPr>
        <p:spPr>
          <a:xfrm flipV="true">
            <a:off x="4707250" y="3045262"/>
            <a:ext cx="5662464" cy="19230"/>
          </a:xfrm>
          <a:prstGeom prst="line">
            <a:avLst/>
          </a:prstGeom>
          <a:ln cap="flat" w="38100">
            <a:solidFill>
              <a:srgbClr val="9BBAFF"/>
            </a:solidFill>
            <a:prstDash val="solid"/>
            <a:headEnd type="none" len="sm" w="sm"/>
            <a:tailEnd type="none" len="sm" w="sm"/>
          </a:ln>
        </p:spPr>
      </p:sp>
      <p:grpSp>
        <p:nvGrpSpPr>
          <p:cNvPr name="Group 13" id="13"/>
          <p:cNvGrpSpPr/>
          <p:nvPr/>
        </p:nvGrpSpPr>
        <p:grpSpPr>
          <a:xfrm rot="0">
            <a:off x="0" y="3417374"/>
            <a:ext cx="3585947" cy="760092"/>
            <a:chOff x="0" y="0"/>
            <a:chExt cx="944447" cy="200189"/>
          </a:xfrm>
        </p:grpSpPr>
        <p:sp>
          <p:nvSpPr>
            <p:cNvPr name="Freeform 14" id="14"/>
            <p:cNvSpPr/>
            <p:nvPr/>
          </p:nvSpPr>
          <p:spPr>
            <a:xfrm flipH="false" flipV="false" rot="0">
              <a:off x="0" y="0"/>
              <a:ext cx="944447" cy="200189"/>
            </a:xfrm>
            <a:custGeom>
              <a:avLst/>
              <a:gdLst/>
              <a:ahLst/>
              <a:cxnLst/>
              <a:rect r="r" b="b" t="t" l="l"/>
              <a:pathLst>
                <a:path h="200189" w="944447">
                  <a:moveTo>
                    <a:pt x="944447" y="0"/>
                  </a:moveTo>
                  <a:lnTo>
                    <a:pt x="944447" y="200189"/>
                  </a:lnTo>
                  <a:lnTo>
                    <a:pt x="0" y="200189"/>
                  </a:lnTo>
                  <a:lnTo>
                    <a:pt x="0" y="0"/>
                  </a:lnTo>
                  <a:close/>
                </a:path>
              </a:pathLst>
            </a:custGeom>
            <a:solidFill>
              <a:srgbClr val="6595FF">
                <a:alpha val="81961"/>
              </a:srgbClr>
            </a:solidFill>
          </p:spPr>
        </p:sp>
        <p:sp>
          <p:nvSpPr>
            <p:cNvPr name="TextBox 15" id="15"/>
            <p:cNvSpPr txBox="true"/>
            <p:nvPr/>
          </p:nvSpPr>
          <p:spPr>
            <a:xfrm>
              <a:off x="0" y="-38100"/>
              <a:ext cx="944447" cy="238289"/>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1247196" y="108583"/>
            <a:ext cx="10916135" cy="920117"/>
          </a:xfrm>
          <a:prstGeom prst="rect">
            <a:avLst/>
          </a:prstGeom>
        </p:spPr>
        <p:txBody>
          <a:bodyPr anchor="t" rtlCol="false" tIns="0" lIns="0" bIns="0" rIns="0">
            <a:spAutoFit/>
          </a:bodyPr>
          <a:lstStyle/>
          <a:p>
            <a:pPr algn="ctr">
              <a:lnSpc>
                <a:spcPts val="7559"/>
              </a:lnSpc>
              <a:spcBef>
                <a:spcPct val="0"/>
              </a:spcBef>
            </a:pPr>
            <a:r>
              <a:rPr lang="en-US" sz="5399">
                <a:solidFill>
                  <a:srgbClr val="FFFFFF"/>
                </a:solidFill>
                <a:latin typeface="Montserrat"/>
                <a:ea typeface="Montserrat"/>
                <a:cs typeface="Montserrat"/>
                <a:sym typeface="Montserrat"/>
              </a:rPr>
              <a:t>College choice helper</a:t>
            </a:r>
          </a:p>
        </p:txBody>
      </p:sp>
      <p:sp>
        <p:nvSpPr>
          <p:cNvPr name="Freeform 17" id="17"/>
          <p:cNvSpPr/>
          <p:nvPr/>
        </p:nvSpPr>
        <p:spPr>
          <a:xfrm flipH="false" flipV="false" rot="0">
            <a:off x="1278624" y="97559"/>
            <a:ext cx="1028700" cy="1028700"/>
          </a:xfrm>
          <a:custGeom>
            <a:avLst/>
            <a:gdLst/>
            <a:ahLst/>
            <a:cxnLst/>
            <a:rect r="r" b="b" t="t" l="l"/>
            <a:pathLst>
              <a:path h="1028700" w="1028700">
                <a:moveTo>
                  <a:pt x="0" y="0"/>
                </a:moveTo>
                <a:lnTo>
                  <a:pt x="1028700" y="0"/>
                </a:lnTo>
                <a:lnTo>
                  <a:pt x="1028700" y="1028700"/>
                </a:lnTo>
                <a:lnTo>
                  <a:pt x="0" y="1028700"/>
                </a:lnTo>
                <a:lnTo>
                  <a:pt x="0" y="0"/>
                </a:lnTo>
                <a:close/>
              </a:path>
            </a:pathLst>
          </a:custGeom>
          <a:blipFill>
            <a:blip r:embed="rId3"/>
            <a:stretch>
              <a:fillRect l="0" t="0" r="0" b="0"/>
            </a:stretch>
          </a:blipFill>
        </p:spPr>
      </p:sp>
      <p:grpSp>
        <p:nvGrpSpPr>
          <p:cNvPr name="Group 18" id="18"/>
          <p:cNvGrpSpPr/>
          <p:nvPr/>
        </p:nvGrpSpPr>
        <p:grpSpPr>
          <a:xfrm rot="0">
            <a:off x="4766344" y="3417374"/>
            <a:ext cx="12341259" cy="1132203"/>
            <a:chOff x="0" y="0"/>
            <a:chExt cx="3250311" cy="298164"/>
          </a:xfrm>
        </p:grpSpPr>
        <p:sp>
          <p:nvSpPr>
            <p:cNvPr name="Freeform 19" id="19"/>
            <p:cNvSpPr/>
            <p:nvPr/>
          </p:nvSpPr>
          <p:spPr>
            <a:xfrm flipH="false" flipV="false" rot="0">
              <a:off x="0" y="0"/>
              <a:ext cx="3250311" cy="298164"/>
            </a:xfrm>
            <a:custGeom>
              <a:avLst/>
              <a:gdLst/>
              <a:ahLst/>
              <a:cxnLst/>
              <a:rect r="r" b="b" t="t" l="l"/>
              <a:pathLst>
                <a:path h="298164" w="3250311">
                  <a:moveTo>
                    <a:pt x="3250311" y="0"/>
                  </a:moveTo>
                  <a:lnTo>
                    <a:pt x="3250311" y="298164"/>
                  </a:lnTo>
                  <a:lnTo>
                    <a:pt x="0" y="298164"/>
                  </a:lnTo>
                  <a:lnTo>
                    <a:pt x="0" y="0"/>
                  </a:lnTo>
                  <a:close/>
                </a:path>
              </a:pathLst>
            </a:custGeom>
            <a:solidFill>
              <a:srgbClr val="000000">
                <a:alpha val="67843"/>
              </a:srgbClr>
            </a:solidFill>
            <a:ln w="952500" cap="sq">
              <a:solidFill>
                <a:srgbClr val="FFFFFF">
                  <a:alpha val="67843"/>
                </a:srgbClr>
              </a:solidFill>
              <a:prstDash val="solid"/>
              <a:miter/>
            </a:ln>
          </p:spPr>
        </p:sp>
        <p:sp>
          <p:nvSpPr>
            <p:cNvPr name="TextBox 20" id="20"/>
            <p:cNvSpPr txBox="true"/>
            <p:nvPr/>
          </p:nvSpPr>
          <p:spPr>
            <a:xfrm>
              <a:off x="0" y="-38100"/>
              <a:ext cx="3250311" cy="336264"/>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4766344" y="4834692"/>
            <a:ext cx="12341259" cy="1382887"/>
            <a:chOff x="0" y="0"/>
            <a:chExt cx="3250311" cy="364181"/>
          </a:xfrm>
        </p:grpSpPr>
        <p:sp>
          <p:nvSpPr>
            <p:cNvPr name="Freeform 22" id="22"/>
            <p:cNvSpPr/>
            <p:nvPr/>
          </p:nvSpPr>
          <p:spPr>
            <a:xfrm flipH="false" flipV="false" rot="0">
              <a:off x="0" y="0"/>
              <a:ext cx="3250311" cy="364181"/>
            </a:xfrm>
            <a:custGeom>
              <a:avLst/>
              <a:gdLst/>
              <a:ahLst/>
              <a:cxnLst/>
              <a:rect r="r" b="b" t="t" l="l"/>
              <a:pathLst>
                <a:path h="364181" w="3250311">
                  <a:moveTo>
                    <a:pt x="3250311" y="0"/>
                  </a:moveTo>
                  <a:lnTo>
                    <a:pt x="3250311" y="364181"/>
                  </a:lnTo>
                  <a:lnTo>
                    <a:pt x="0" y="364181"/>
                  </a:lnTo>
                  <a:lnTo>
                    <a:pt x="0" y="0"/>
                  </a:lnTo>
                  <a:close/>
                </a:path>
              </a:pathLst>
            </a:custGeom>
            <a:solidFill>
              <a:srgbClr val="000000">
                <a:alpha val="87843"/>
              </a:srgbClr>
            </a:solidFill>
            <a:ln w="952500" cap="sq">
              <a:solidFill>
                <a:srgbClr val="000000">
                  <a:alpha val="87843"/>
                </a:srgbClr>
              </a:solidFill>
              <a:prstDash val="solid"/>
              <a:miter/>
            </a:ln>
          </p:spPr>
        </p:sp>
        <p:sp>
          <p:nvSpPr>
            <p:cNvPr name="TextBox 23" id="23"/>
            <p:cNvSpPr txBox="true"/>
            <p:nvPr/>
          </p:nvSpPr>
          <p:spPr>
            <a:xfrm>
              <a:off x="0" y="-38100"/>
              <a:ext cx="3250311" cy="402281"/>
            </a:xfrm>
            <a:prstGeom prst="rect">
              <a:avLst/>
            </a:prstGeom>
          </p:spPr>
          <p:txBody>
            <a:bodyPr anchor="ctr" rtlCol="false" tIns="50800" lIns="50800" bIns="50800" rIns="50800"/>
            <a:lstStyle/>
            <a:p>
              <a:pPr algn="ctr">
                <a:lnSpc>
                  <a:spcPts val="2659"/>
                </a:lnSpc>
              </a:pPr>
            </a:p>
          </p:txBody>
        </p:sp>
      </p:grpSp>
      <p:sp>
        <p:nvSpPr>
          <p:cNvPr name="Freeform 24" id="24"/>
          <p:cNvSpPr/>
          <p:nvPr/>
        </p:nvSpPr>
        <p:spPr>
          <a:xfrm flipH="false" flipV="false" rot="0">
            <a:off x="13701555" y="5175182"/>
            <a:ext cx="2955868" cy="554225"/>
          </a:xfrm>
          <a:custGeom>
            <a:avLst/>
            <a:gdLst/>
            <a:ahLst/>
            <a:cxnLst/>
            <a:rect r="r" b="b" t="t" l="l"/>
            <a:pathLst>
              <a:path h="554225" w="2955868">
                <a:moveTo>
                  <a:pt x="0" y="0"/>
                </a:moveTo>
                <a:lnTo>
                  <a:pt x="2955868" y="0"/>
                </a:lnTo>
                <a:lnTo>
                  <a:pt x="2955868" y="554225"/>
                </a:lnTo>
                <a:lnTo>
                  <a:pt x="0" y="5542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5" id="25"/>
          <p:cNvSpPr txBox="true"/>
          <p:nvPr/>
        </p:nvSpPr>
        <p:spPr>
          <a:xfrm rot="0">
            <a:off x="4707250" y="2238652"/>
            <a:ext cx="5662464" cy="662941"/>
          </a:xfrm>
          <a:prstGeom prst="rect">
            <a:avLst/>
          </a:prstGeom>
        </p:spPr>
        <p:txBody>
          <a:bodyPr anchor="t" rtlCol="false" tIns="0" lIns="0" bIns="0" rIns="0">
            <a:spAutoFit/>
          </a:bodyPr>
          <a:lstStyle/>
          <a:p>
            <a:pPr algn="ctr">
              <a:lnSpc>
                <a:spcPts val="5459"/>
              </a:lnSpc>
              <a:spcBef>
                <a:spcPct val="0"/>
              </a:spcBef>
            </a:pPr>
            <a:r>
              <a:rPr lang="en-US" sz="3899">
                <a:solidFill>
                  <a:srgbClr val="000000"/>
                </a:solidFill>
                <a:latin typeface="Montserrat"/>
                <a:ea typeface="Montserrat"/>
                <a:cs typeface="Montserrat"/>
                <a:sym typeface="Montserrat"/>
              </a:rPr>
              <a:t>Propuesta de solucion</a:t>
            </a:r>
          </a:p>
        </p:txBody>
      </p:sp>
      <p:sp>
        <p:nvSpPr>
          <p:cNvPr name="TextBox 26" id="26"/>
          <p:cNvSpPr txBox="true"/>
          <p:nvPr/>
        </p:nvSpPr>
        <p:spPr>
          <a:xfrm rot="0">
            <a:off x="238804" y="1827332"/>
            <a:ext cx="3108340"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Contenido</a:t>
            </a:r>
          </a:p>
        </p:txBody>
      </p:sp>
      <p:sp>
        <p:nvSpPr>
          <p:cNvPr name="TextBox 27" id="27"/>
          <p:cNvSpPr txBox="true"/>
          <p:nvPr/>
        </p:nvSpPr>
        <p:spPr>
          <a:xfrm rot="0">
            <a:off x="1200415" y="2722047"/>
            <a:ext cx="1185118"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Problema</a:t>
            </a:r>
          </a:p>
        </p:txBody>
      </p:sp>
      <p:sp>
        <p:nvSpPr>
          <p:cNvPr name="TextBox 28" id="28"/>
          <p:cNvSpPr txBox="true"/>
          <p:nvPr/>
        </p:nvSpPr>
        <p:spPr>
          <a:xfrm rot="0">
            <a:off x="415874" y="3616762"/>
            <a:ext cx="2754200"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Propuesta de solucion</a:t>
            </a:r>
          </a:p>
        </p:txBody>
      </p:sp>
      <p:sp>
        <p:nvSpPr>
          <p:cNvPr name="TextBox 29" id="29"/>
          <p:cNvSpPr txBox="true"/>
          <p:nvPr/>
        </p:nvSpPr>
        <p:spPr>
          <a:xfrm rot="0">
            <a:off x="681302" y="4511477"/>
            <a:ext cx="222334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Costos y viabilidad</a:t>
            </a:r>
          </a:p>
        </p:txBody>
      </p:sp>
      <p:sp>
        <p:nvSpPr>
          <p:cNvPr name="TextBox 30" id="30"/>
          <p:cNvSpPr txBox="true"/>
          <p:nvPr/>
        </p:nvSpPr>
        <p:spPr>
          <a:xfrm rot="0">
            <a:off x="961992" y="5406192"/>
            <a:ext cx="1661964"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Herramientas</a:t>
            </a:r>
          </a:p>
        </p:txBody>
      </p:sp>
      <p:sp>
        <p:nvSpPr>
          <p:cNvPr name="TextBox 31" id="31"/>
          <p:cNvSpPr txBox="true"/>
          <p:nvPr/>
        </p:nvSpPr>
        <p:spPr>
          <a:xfrm rot="0">
            <a:off x="1027402" y="6300907"/>
            <a:ext cx="1531144"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Arquitectura</a:t>
            </a:r>
          </a:p>
        </p:txBody>
      </p:sp>
      <p:sp>
        <p:nvSpPr>
          <p:cNvPr name="TextBox 32" id="32"/>
          <p:cNvSpPr txBox="true"/>
          <p:nvPr/>
        </p:nvSpPr>
        <p:spPr>
          <a:xfrm rot="0">
            <a:off x="1167077" y="7195622"/>
            <a:ext cx="125179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Seguridad</a:t>
            </a:r>
          </a:p>
        </p:txBody>
      </p:sp>
      <p:sp>
        <p:nvSpPr>
          <p:cNvPr name="TextBox 33" id="33"/>
          <p:cNvSpPr txBox="true"/>
          <p:nvPr/>
        </p:nvSpPr>
        <p:spPr>
          <a:xfrm rot="0">
            <a:off x="198652" y="8090337"/>
            <a:ext cx="318864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Aseguramiento de calidad</a:t>
            </a:r>
          </a:p>
        </p:txBody>
      </p:sp>
      <p:sp>
        <p:nvSpPr>
          <p:cNvPr name="TextBox 34" id="34"/>
          <p:cNvSpPr txBox="true"/>
          <p:nvPr/>
        </p:nvSpPr>
        <p:spPr>
          <a:xfrm rot="0">
            <a:off x="381041" y="8985052"/>
            <a:ext cx="2823865"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Herramientas Similares</a:t>
            </a:r>
          </a:p>
        </p:txBody>
      </p:sp>
      <p:sp>
        <p:nvSpPr>
          <p:cNvPr name="TextBox 35" id="35"/>
          <p:cNvSpPr txBox="true"/>
          <p:nvPr/>
        </p:nvSpPr>
        <p:spPr>
          <a:xfrm rot="0">
            <a:off x="932226" y="9879767"/>
            <a:ext cx="1721495"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Demostracion</a:t>
            </a:r>
          </a:p>
        </p:txBody>
      </p:sp>
      <p:sp>
        <p:nvSpPr>
          <p:cNvPr name="TextBox 36" id="36"/>
          <p:cNvSpPr txBox="true"/>
          <p:nvPr/>
        </p:nvSpPr>
        <p:spPr>
          <a:xfrm rot="0">
            <a:off x="4803455" y="3443236"/>
            <a:ext cx="12535982" cy="990034"/>
          </a:xfrm>
          <a:prstGeom prst="rect">
            <a:avLst/>
          </a:prstGeom>
        </p:spPr>
        <p:txBody>
          <a:bodyPr anchor="t" rtlCol="false" tIns="0" lIns="0" bIns="0" rIns="0">
            <a:spAutoFit/>
          </a:bodyPr>
          <a:lstStyle/>
          <a:p>
            <a:pPr algn="l" marL="0" indent="0" lvl="0">
              <a:lnSpc>
                <a:spcPts val="2656"/>
              </a:lnSpc>
              <a:spcBef>
                <a:spcPct val="0"/>
              </a:spcBef>
            </a:pPr>
            <a:r>
              <a:rPr lang="en-US" sz="1897">
                <a:solidFill>
                  <a:srgbClr val="000000"/>
                </a:solidFill>
                <a:latin typeface="Montserrat"/>
                <a:ea typeface="Montserrat"/>
                <a:cs typeface="Montserrat"/>
                <a:sym typeface="Montserrat"/>
              </a:rPr>
              <a:t>¿Y que podemos nosotros hacer para esto? Diseñamos un sitio web que permita generar recomendaciones personalizadas para los estudiantes, teniendo en cuenta una serie parámetros para conocer sus preferencias.</a:t>
            </a:r>
          </a:p>
        </p:txBody>
      </p:sp>
      <p:sp>
        <p:nvSpPr>
          <p:cNvPr name="TextBox 37" id="37"/>
          <p:cNvSpPr txBox="true"/>
          <p:nvPr/>
        </p:nvSpPr>
        <p:spPr>
          <a:xfrm rot="0">
            <a:off x="4899169" y="4999355"/>
            <a:ext cx="8489661" cy="990034"/>
          </a:xfrm>
          <a:prstGeom prst="rect">
            <a:avLst/>
          </a:prstGeom>
        </p:spPr>
        <p:txBody>
          <a:bodyPr anchor="t" rtlCol="false" tIns="0" lIns="0" bIns="0" rIns="0">
            <a:spAutoFit/>
          </a:bodyPr>
          <a:lstStyle/>
          <a:p>
            <a:pPr algn="l" marL="0" indent="0" lvl="0">
              <a:lnSpc>
                <a:spcPts val="2656"/>
              </a:lnSpc>
              <a:spcBef>
                <a:spcPct val="0"/>
              </a:spcBef>
            </a:pPr>
            <a:r>
              <a:rPr lang="en-US" sz="1897">
                <a:solidFill>
                  <a:srgbClr val="FFFFFF"/>
                </a:solidFill>
                <a:latin typeface="Montserrat"/>
                <a:ea typeface="Montserrat"/>
                <a:cs typeface="Montserrat"/>
                <a:sym typeface="Montserrat"/>
              </a:rPr>
              <a:t>El sistema de recomendaciones funciona con un ranking, dándole prioridad a aquellas instituciones que más se adaptan a las preferencias del usuario.</a:t>
            </a:r>
          </a:p>
        </p:txBody>
      </p:sp>
      <p:grpSp>
        <p:nvGrpSpPr>
          <p:cNvPr name="Group 38" id="38"/>
          <p:cNvGrpSpPr/>
          <p:nvPr/>
        </p:nvGrpSpPr>
        <p:grpSpPr>
          <a:xfrm rot="0">
            <a:off x="4766344" y="6550954"/>
            <a:ext cx="12341259" cy="1132203"/>
            <a:chOff x="0" y="0"/>
            <a:chExt cx="3250311" cy="298164"/>
          </a:xfrm>
        </p:grpSpPr>
        <p:sp>
          <p:nvSpPr>
            <p:cNvPr name="Freeform 39" id="39"/>
            <p:cNvSpPr/>
            <p:nvPr/>
          </p:nvSpPr>
          <p:spPr>
            <a:xfrm flipH="false" flipV="false" rot="0">
              <a:off x="0" y="0"/>
              <a:ext cx="3250311" cy="298164"/>
            </a:xfrm>
            <a:custGeom>
              <a:avLst/>
              <a:gdLst/>
              <a:ahLst/>
              <a:cxnLst/>
              <a:rect r="r" b="b" t="t" l="l"/>
              <a:pathLst>
                <a:path h="298164" w="3250311">
                  <a:moveTo>
                    <a:pt x="3250311" y="0"/>
                  </a:moveTo>
                  <a:lnTo>
                    <a:pt x="3250311" y="298164"/>
                  </a:lnTo>
                  <a:lnTo>
                    <a:pt x="0" y="298164"/>
                  </a:lnTo>
                  <a:lnTo>
                    <a:pt x="0" y="0"/>
                  </a:lnTo>
                  <a:close/>
                </a:path>
              </a:pathLst>
            </a:custGeom>
            <a:solidFill>
              <a:srgbClr val="000000">
                <a:alpha val="67843"/>
              </a:srgbClr>
            </a:solidFill>
            <a:ln w="952500" cap="sq">
              <a:solidFill>
                <a:srgbClr val="FFFFFF">
                  <a:alpha val="67843"/>
                </a:srgbClr>
              </a:solidFill>
              <a:prstDash val="solid"/>
              <a:miter/>
            </a:ln>
          </p:spPr>
        </p:sp>
        <p:sp>
          <p:nvSpPr>
            <p:cNvPr name="TextBox 40" id="40"/>
            <p:cNvSpPr txBox="true"/>
            <p:nvPr/>
          </p:nvSpPr>
          <p:spPr>
            <a:xfrm>
              <a:off x="0" y="-38100"/>
              <a:ext cx="3250311" cy="336264"/>
            </a:xfrm>
            <a:prstGeom prst="rect">
              <a:avLst/>
            </a:prstGeom>
          </p:spPr>
          <p:txBody>
            <a:bodyPr anchor="ctr" rtlCol="false" tIns="50800" lIns="50800" bIns="50800" rIns="50800"/>
            <a:lstStyle/>
            <a:p>
              <a:pPr algn="ctr">
                <a:lnSpc>
                  <a:spcPts val="2659"/>
                </a:lnSpc>
              </a:pPr>
            </a:p>
          </p:txBody>
        </p:sp>
      </p:grpSp>
      <p:sp>
        <p:nvSpPr>
          <p:cNvPr name="TextBox 41" id="41"/>
          <p:cNvSpPr txBox="true"/>
          <p:nvPr/>
        </p:nvSpPr>
        <p:spPr>
          <a:xfrm rot="0">
            <a:off x="4803455" y="6602989"/>
            <a:ext cx="12535982" cy="990034"/>
          </a:xfrm>
          <a:prstGeom prst="rect">
            <a:avLst/>
          </a:prstGeom>
        </p:spPr>
        <p:txBody>
          <a:bodyPr anchor="t" rtlCol="false" tIns="0" lIns="0" bIns="0" rIns="0">
            <a:spAutoFit/>
          </a:bodyPr>
          <a:lstStyle/>
          <a:p>
            <a:pPr algn="l" marL="0" indent="0" lvl="0">
              <a:lnSpc>
                <a:spcPts val="2656"/>
              </a:lnSpc>
              <a:spcBef>
                <a:spcPct val="0"/>
              </a:spcBef>
            </a:pPr>
            <a:r>
              <a:rPr lang="en-US" sz="1897">
                <a:solidFill>
                  <a:srgbClr val="000000"/>
                </a:solidFill>
                <a:latin typeface="Montserrat"/>
                <a:ea typeface="Montserrat"/>
                <a:cs typeface="Montserrat"/>
                <a:sym typeface="Montserrat"/>
              </a:rPr>
              <a:t>Queda claro entonces que los estudiantes son los usuarios finales, el cliente siendo el Ministerio de Educación, entidad preocupada de alentar la educación tanto como sea posible, con lo que esta herramienta sería de su interés.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55651"/>
            <a:ext cx="3585947" cy="9467474"/>
            <a:chOff x="0" y="0"/>
            <a:chExt cx="944447" cy="2493491"/>
          </a:xfrm>
        </p:grpSpPr>
        <p:sp>
          <p:nvSpPr>
            <p:cNvPr name="Freeform 3" id="3"/>
            <p:cNvSpPr/>
            <p:nvPr/>
          </p:nvSpPr>
          <p:spPr>
            <a:xfrm flipH="false" flipV="false" rot="0">
              <a:off x="0" y="0"/>
              <a:ext cx="944447" cy="2493491"/>
            </a:xfrm>
            <a:custGeom>
              <a:avLst/>
              <a:gdLst/>
              <a:ahLst/>
              <a:cxnLst/>
              <a:rect r="r" b="b" t="t" l="l"/>
              <a:pathLst>
                <a:path h="2493491" w="944447">
                  <a:moveTo>
                    <a:pt x="0" y="0"/>
                  </a:moveTo>
                  <a:lnTo>
                    <a:pt x="944447" y="0"/>
                  </a:lnTo>
                  <a:lnTo>
                    <a:pt x="944447" y="2493491"/>
                  </a:lnTo>
                  <a:lnTo>
                    <a:pt x="0" y="2493491"/>
                  </a:lnTo>
                  <a:close/>
                </a:path>
              </a:pathLst>
            </a:custGeom>
            <a:solidFill>
              <a:srgbClr val="A6C3FF"/>
            </a:solidFill>
          </p:spPr>
        </p:sp>
        <p:sp>
          <p:nvSpPr>
            <p:cNvPr name="TextBox 4" id="4"/>
            <p:cNvSpPr txBox="true"/>
            <p:nvPr/>
          </p:nvSpPr>
          <p:spPr>
            <a:xfrm>
              <a:off x="0" y="-38100"/>
              <a:ext cx="944447" cy="2531591"/>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3585947" y="1201550"/>
            <a:ext cx="14702053" cy="10032059"/>
          </a:xfrm>
          <a:custGeom>
            <a:avLst/>
            <a:gdLst/>
            <a:ahLst/>
            <a:cxnLst/>
            <a:rect r="r" b="b" t="t" l="l"/>
            <a:pathLst>
              <a:path h="10032059" w="14702053">
                <a:moveTo>
                  <a:pt x="0" y="0"/>
                </a:moveTo>
                <a:lnTo>
                  <a:pt x="14702053" y="0"/>
                </a:lnTo>
                <a:lnTo>
                  <a:pt x="14702053" y="10032059"/>
                </a:lnTo>
                <a:lnTo>
                  <a:pt x="0" y="10032059"/>
                </a:lnTo>
                <a:lnTo>
                  <a:pt x="0" y="0"/>
                </a:lnTo>
                <a:close/>
              </a:path>
            </a:pathLst>
          </a:custGeom>
          <a:blipFill>
            <a:blip r:embed="rId2"/>
            <a:stretch>
              <a:fillRect l="-3842" t="-5305" r="-3842" b="0"/>
            </a:stretch>
          </a:blipFill>
        </p:spPr>
      </p:sp>
      <p:grpSp>
        <p:nvGrpSpPr>
          <p:cNvPr name="Group 6" id="6"/>
          <p:cNvGrpSpPr/>
          <p:nvPr/>
        </p:nvGrpSpPr>
        <p:grpSpPr>
          <a:xfrm rot="0">
            <a:off x="-1725922" y="-209550"/>
            <a:ext cx="20974315" cy="1465201"/>
            <a:chOff x="0" y="0"/>
            <a:chExt cx="5524100" cy="385897"/>
          </a:xfrm>
        </p:grpSpPr>
        <p:sp>
          <p:nvSpPr>
            <p:cNvPr name="Freeform 7" id="7"/>
            <p:cNvSpPr/>
            <p:nvPr/>
          </p:nvSpPr>
          <p:spPr>
            <a:xfrm flipH="false" flipV="false" rot="0">
              <a:off x="0" y="0"/>
              <a:ext cx="5524100" cy="385897"/>
            </a:xfrm>
            <a:custGeom>
              <a:avLst/>
              <a:gdLst/>
              <a:ahLst/>
              <a:cxnLst/>
              <a:rect r="r" b="b" t="t" l="l"/>
              <a:pathLst>
                <a:path h="385897" w="5524100">
                  <a:moveTo>
                    <a:pt x="0" y="0"/>
                  </a:moveTo>
                  <a:lnTo>
                    <a:pt x="5524100" y="0"/>
                  </a:lnTo>
                  <a:lnTo>
                    <a:pt x="5524100" y="385897"/>
                  </a:lnTo>
                  <a:lnTo>
                    <a:pt x="0" y="385897"/>
                  </a:lnTo>
                  <a:close/>
                </a:path>
              </a:pathLst>
            </a:custGeom>
            <a:solidFill>
              <a:srgbClr val="6595FF"/>
            </a:solidFill>
          </p:spPr>
        </p:sp>
        <p:sp>
          <p:nvSpPr>
            <p:cNvPr name="TextBox 8" id="8"/>
            <p:cNvSpPr txBox="true"/>
            <p:nvPr/>
          </p:nvSpPr>
          <p:spPr>
            <a:xfrm>
              <a:off x="0" y="-38100"/>
              <a:ext cx="5524100" cy="423997"/>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3730871" y="1490247"/>
            <a:ext cx="14411800" cy="8570177"/>
            <a:chOff x="0" y="0"/>
            <a:chExt cx="3795700" cy="2257166"/>
          </a:xfrm>
        </p:grpSpPr>
        <p:sp>
          <p:nvSpPr>
            <p:cNvPr name="Freeform 10" id="10"/>
            <p:cNvSpPr/>
            <p:nvPr/>
          </p:nvSpPr>
          <p:spPr>
            <a:xfrm flipH="false" flipV="false" rot="0">
              <a:off x="0" y="0"/>
              <a:ext cx="3795700" cy="2257166"/>
            </a:xfrm>
            <a:custGeom>
              <a:avLst/>
              <a:gdLst/>
              <a:ahLst/>
              <a:cxnLst/>
              <a:rect r="r" b="b" t="t" l="l"/>
              <a:pathLst>
                <a:path h="2257166" w="3795700">
                  <a:moveTo>
                    <a:pt x="23636" y="0"/>
                  </a:moveTo>
                  <a:lnTo>
                    <a:pt x="3772064" y="0"/>
                  </a:lnTo>
                  <a:cubicBezTo>
                    <a:pt x="3778333" y="0"/>
                    <a:pt x="3784345" y="2490"/>
                    <a:pt x="3788778" y="6923"/>
                  </a:cubicBezTo>
                  <a:cubicBezTo>
                    <a:pt x="3793210" y="11356"/>
                    <a:pt x="3795700" y="17368"/>
                    <a:pt x="3795700" y="23636"/>
                  </a:cubicBezTo>
                  <a:lnTo>
                    <a:pt x="3795700" y="2233530"/>
                  </a:lnTo>
                  <a:cubicBezTo>
                    <a:pt x="3795700" y="2246584"/>
                    <a:pt x="3785118" y="2257166"/>
                    <a:pt x="3772064" y="2257166"/>
                  </a:cubicBezTo>
                  <a:lnTo>
                    <a:pt x="23636" y="2257166"/>
                  </a:lnTo>
                  <a:cubicBezTo>
                    <a:pt x="10582" y="2257166"/>
                    <a:pt x="0" y="2246584"/>
                    <a:pt x="0" y="2233530"/>
                  </a:cubicBezTo>
                  <a:lnTo>
                    <a:pt x="0" y="23636"/>
                  </a:lnTo>
                  <a:cubicBezTo>
                    <a:pt x="0" y="10582"/>
                    <a:pt x="10582" y="0"/>
                    <a:pt x="23636" y="0"/>
                  </a:cubicBezTo>
                  <a:close/>
                </a:path>
              </a:pathLst>
            </a:custGeom>
            <a:solidFill>
              <a:srgbClr val="FFFFFF">
                <a:alpha val="47843"/>
              </a:srgbClr>
            </a:solidFill>
            <a:ln w="38100" cap="rnd">
              <a:solidFill>
                <a:srgbClr val="6595FF">
                  <a:alpha val="47843"/>
                </a:srgbClr>
              </a:solidFill>
              <a:prstDash val="solid"/>
              <a:round/>
            </a:ln>
          </p:spPr>
        </p:sp>
        <p:sp>
          <p:nvSpPr>
            <p:cNvPr name="TextBox 11" id="11"/>
            <p:cNvSpPr txBox="true"/>
            <p:nvPr/>
          </p:nvSpPr>
          <p:spPr>
            <a:xfrm>
              <a:off x="0" y="-38100"/>
              <a:ext cx="3795700" cy="2295266"/>
            </a:xfrm>
            <a:prstGeom prst="rect">
              <a:avLst/>
            </a:prstGeom>
          </p:spPr>
          <p:txBody>
            <a:bodyPr anchor="ctr" rtlCol="false" tIns="50800" lIns="50800" bIns="50800" rIns="50800"/>
            <a:lstStyle/>
            <a:p>
              <a:pPr algn="ctr">
                <a:lnSpc>
                  <a:spcPts val="2659"/>
                </a:lnSpc>
              </a:pPr>
            </a:p>
          </p:txBody>
        </p:sp>
      </p:grpSp>
      <p:sp>
        <p:nvSpPr>
          <p:cNvPr name="AutoShape 12" id="12"/>
          <p:cNvSpPr/>
          <p:nvPr/>
        </p:nvSpPr>
        <p:spPr>
          <a:xfrm>
            <a:off x="4707250" y="2469382"/>
            <a:ext cx="5595025" cy="0"/>
          </a:xfrm>
          <a:prstGeom prst="line">
            <a:avLst/>
          </a:prstGeom>
          <a:ln cap="flat" w="38100">
            <a:solidFill>
              <a:srgbClr val="9BBAFF"/>
            </a:solidFill>
            <a:prstDash val="solid"/>
            <a:headEnd type="none" len="sm" w="sm"/>
            <a:tailEnd type="none" len="sm" w="sm"/>
          </a:ln>
        </p:spPr>
      </p:sp>
      <p:grpSp>
        <p:nvGrpSpPr>
          <p:cNvPr name="Group 13" id="13"/>
          <p:cNvGrpSpPr/>
          <p:nvPr/>
        </p:nvGrpSpPr>
        <p:grpSpPr>
          <a:xfrm rot="0">
            <a:off x="0" y="4312089"/>
            <a:ext cx="3585947" cy="760092"/>
            <a:chOff x="0" y="0"/>
            <a:chExt cx="944447" cy="200189"/>
          </a:xfrm>
        </p:grpSpPr>
        <p:sp>
          <p:nvSpPr>
            <p:cNvPr name="Freeform 14" id="14"/>
            <p:cNvSpPr/>
            <p:nvPr/>
          </p:nvSpPr>
          <p:spPr>
            <a:xfrm flipH="false" flipV="false" rot="0">
              <a:off x="0" y="0"/>
              <a:ext cx="944447" cy="200189"/>
            </a:xfrm>
            <a:custGeom>
              <a:avLst/>
              <a:gdLst/>
              <a:ahLst/>
              <a:cxnLst/>
              <a:rect r="r" b="b" t="t" l="l"/>
              <a:pathLst>
                <a:path h="200189" w="944447">
                  <a:moveTo>
                    <a:pt x="944447" y="0"/>
                  </a:moveTo>
                  <a:lnTo>
                    <a:pt x="944447" y="200189"/>
                  </a:lnTo>
                  <a:lnTo>
                    <a:pt x="0" y="200189"/>
                  </a:lnTo>
                  <a:lnTo>
                    <a:pt x="0" y="0"/>
                  </a:lnTo>
                  <a:close/>
                </a:path>
              </a:pathLst>
            </a:custGeom>
            <a:solidFill>
              <a:srgbClr val="6595FF">
                <a:alpha val="81961"/>
              </a:srgbClr>
            </a:solidFill>
          </p:spPr>
        </p:sp>
        <p:sp>
          <p:nvSpPr>
            <p:cNvPr name="TextBox 15" id="15"/>
            <p:cNvSpPr txBox="true"/>
            <p:nvPr/>
          </p:nvSpPr>
          <p:spPr>
            <a:xfrm>
              <a:off x="0" y="-38100"/>
              <a:ext cx="944447" cy="238289"/>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1247196" y="108583"/>
            <a:ext cx="10916135" cy="920117"/>
          </a:xfrm>
          <a:prstGeom prst="rect">
            <a:avLst/>
          </a:prstGeom>
        </p:spPr>
        <p:txBody>
          <a:bodyPr anchor="t" rtlCol="false" tIns="0" lIns="0" bIns="0" rIns="0">
            <a:spAutoFit/>
          </a:bodyPr>
          <a:lstStyle/>
          <a:p>
            <a:pPr algn="ctr">
              <a:lnSpc>
                <a:spcPts val="7559"/>
              </a:lnSpc>
              <a:spcBef>
                <a:spcPct val="0"/>
              </a:spcBef>
            </a:pPr>
            <a:r>
              <a:rPr lang="en-US" sz="5399">
                <a:solidFill>
                  <a:srgbClr val="FFFFFF"/>
                </a:solidFill>
                <a:latin typeface="Montserrat"/>
                <a:ea typeface="Montserrat"/>
                <a:cs typeface="Montserrat"/>
                <a:sym typeface="Montserrat"/>
              </a:rPr>
              <a:t>College choice helper</a:t>
            </a:r>
          </a:p>
        </p:txBody>
      </p:sp>
      <p:sp>
        <p:nvSpPr>
          <p:cNvPr name="Freeform 17" id="17"/>
          <p:cNvSpPr/>
          <p:nvPr/>
        </p:nvSpPr>
        <p:spPr>
          <a:xfrm flipH="false" flipV="false" rot="0">
            <a:off x="1278624" y="97559"/>
            <a:ext cx="1028700" cy="1028700"/>
          </a:xfrm>
          <a:custGeom>
            <a:avLst/>
            <a:gdLst/>
            <a:ahLst/>
            <a:cxnLst/>
            <a:rect r="r" b="b" t="t" l="l"/>
            <a:pathLst>
              <a:path h="1028700" w="1028700">
                <a:moveTo>
                  <a:pt x="0" y="0"/>
                </a:moveTo>
                <a:lnTo>
                  <a:pt x="1028700" y="0"/>
                </a:lnTo>
                <a:lnTo>
                  <a:pt x="1028700" y="1028700"/>
                </a:lnTo>
                <a:lnTo>
                  <a:pt x="0" y="1028700"/>
                </a:lnTo>
                <a:lnTo>
                  <a:pt x="0" y="0"/>
                </a:lnTo>
                <a:close/>
              </a:path>
            </a:pathLst>
          </a:custGeom>
          <a:blipFill>
            <a:blip r:embed="rId3"/>
            <a:stretch>
              <a:fillRect l="0" t="0" r="0" b="0"/>
            </a:stretch>
          </a:blipFill>
        </p:spPr>
      </p:sp>
      <p:sp>
        <p:nvSpPr>
          <p:cNvPr name="Freeform 18" id="18"/>
          <p:cNvSpPr/>
          <p:nvPr/>
        </p:nvSpPr>
        <p:spPr>
          <a:xfrm flipH="false" flipV="false" rot="0">
            <a:off x="7410782" y="3589219"/>
            <a:ext cx="7052384" cy="1445739"/>
          </a:xfrm>
          <a:custGeom>
            <a:avLst/>
            <a:gdLst/>
            <a:ahLst/>
            <a:cxnLst/>
            <a:rect r="r" b="b" t="t" l="l"/>
            <a:pathLst>
              <a:path h="1445739" w="7052384">
                <a:moveTo>
                  <a:pt x="0" y="0"/>
                </a:moveTo>
                <a:lnTo>
                  <a:pt x="7052384" y="0"/>
                </a:lnTo>
                <a:lnTo>
                  <a:pt x="7052384" y="1445739"/>
                </a:lnTo>
                <a:lnTo>
                  <a:pt x="0" y="1445739"/>
                </a:lnTo>
                <a:lnTo>
                  <a:pt x="0" y="0"/>
                </a:lnTo>
                <a:close/>
              </a:path>
            </a:pathLst>
          </a:custGeom>
          <a:blipFill>
            <a:blip r:embed="rId4"/>
            <a:stretch>
              <a:fillRect l="0" t="0" r="0" b="0"/>
            </a:stretch>
          </a:blipFill>
        </p:spPr>
      </p:sp>
      <p:grpSp>
        <p:nvGrpSpPr>
          <p:cNvPr name="Group 19" id="19"/>
          <p:cNvGrpSpPr/>
          <p:nvPr/>
        </p:nvGrpSpPr>
        <p:grpSpPr>
          <a:xfrm rot="0">
            <a:off x="4110428" y="6245509"/>
            <a:ext cx="13941018" cy="1926238"/>
            <a:chOff x="0" y="0"/>
            <a:chExt cx="3671639" cy="507272"/>
          </a:xfrm>
        </p:grpSpPr>
        <p:sp>
          <p:nvSpPr>
            <p:cNvPr name="Freeform 20" id="20"/>
            <p:cNvSpPr/>
            <p:nvPr/>
          </p:nvSpPr>
          <p:spPr>
            <a:xfrm flipH="false" flipV="false" rot="0">
              <a:off x="0" y="0"/>
              <a:ext cx="3671639" cy="507272"/>
            </a:xfrm>
            <a:custGeom>
              <a:avLst/>
              <a:gdLst/>
              <a:ahLst/>
              <a:cxnLst/>
              <a:rect r="r" b="b" t="t" l="l"/>
              <a:pathLst>
                <a:path h="507272" w="3671639">
                  <a:moveTo>
                    <a:pt x="3671639" y="0"/>
                  </a:moveTo>
                  <a:lnTo>
                    <a:pt x="3671639" y="507272"/>
                  </a:lnTo>
                  <a:lnTo>
                    <a:pt x="0" y="507272"/>
                  </a:lnTo>
                  <a:lnTo>
                    <a:pt x="0" y="0"/>
                  </a:lnTo>
                  <a:close/>
                </a:path>
              </a:pathLst>
            </a:custGeom>
            <a:solidFill>
              <a:srgbClr val="000000">
                <a:alpha val="0"/>
              </a:srgbClr>
            </a:solidFill>
            <a:ln w="952500" cap="sq">
              <a:solidFill>
                <a:srgbClr val="FFFFFF">
                  <a:alpha val="67843"/>
                </a:srgbClr>
              </a:solidFill>
              <a:prstDash val="solid"/>
              <a:miter/>
            </a:ln>
          </p:spPr>
        </p:sp>
        <p:sp>
          <p:nvSpPr>
            <p:cNvPr name="TextBox 21" id="21"/>
            <p:cNvSpPr txBox="true"/>
            <p:nvPr/>
          </p:nvSpPr>
          <p:spPr>
            <a:xfrm>
              <a:off x="0" y="-38100"/>
              <a:ext cx="3671639" cy="545372"/>
            </a:xfrm>
            <a:prstGeom prst="rect">
              <a:avLst/>
            </a:prstGeom>
          </p:spPr>
          <p:txBody>
            <a:bodyPr anchor="ctr" rtlCol="false" tIns="50800" lIns="50800" bIns="50800" rIns="50800"/>
            <a:lstStyle/>
            <a:p>
              <a:pPr algn="ctr">
                <a:lnSpc>
                  <a:spcPts val="2659"/>
                </a:lnSpc>
              </a:pPr>
            </a:p>
          </p:txBody>
        </p:sp>
      </p:grpSp>
      <p:sp>
        <p:nvSpPr>
          <p:cNvPr name="Freeform 22" id="22"/>
          <p:cNvSpPr/>
          <p:nvPr/>
        </p:nvSpPr>
        <p:spPr>
          <a:xfrm flipH="false" flipV="false" rot="0">
            <a:off x="4110428" y="6406704"/>
            <a:ext cx="6600707" cy="1575919"/>
          </a:xfrm>
          <a:custGeom>
            <a:avLst/>
            <a:gdLst/>
            <a:ahLst/>
            <a:cxnLst/>
            <a:rect r="r" b="b" t="t" l="l"/>
            <a:pathLst>
              <a:path h="1575919" w="6600707">
                <a:moveTo>
                  <a:pt x="0" y="0"/>
                </a:moveTo>
                <a:lnTo>
                  <a:pt x="6600707" y="0"/>
                </a:lnTo>
                <a:lnTo>
                  <a:pt x="6600707" y="1575918"/>
                </a:lnTo>
                <a:lnTo>
                  <a:pt x="0" y="1575918"/>
                </a:lnTo>
                <a:lnTo>
                  <a:pt x="0" y="0"/>
                </a:lnTo>
                <a:close/>
              </a:path>
            </a:pathLst>
          </a:custGeom>
          <a:blipFill>
            <a:blip r:embed="rId5"/>
            <a:stretch>
              <a:fillRect l="0" t="0" r="0" b="0"/>
            </a:stretch>
          </a:blipFill>
        </p:spPr>
      </p:sp>
      <p:sp>
        <p:nvSpPr>
          <p:cNvPr name="Freeform 23" id="23"/>
          <p:cNvSpPr/>
          <p:nvPr/>
        </p:nvSpPr>
        <p:spPr>
          <a:xfrm flipH="false" flipV="false" rot="0">
            <a:off x="10711851" y="6217579"/>
            <a:ext cx="7339596" cy="1954167"/>
          </a:xfrm>
          <a:custGeom>
            <a:avLst/>
            <a:gdLst/>
            <a:ahLst/>
            <a:cxnLst/>
            <a:rect r="r" b="b" t="t" l="l"/>
            <a:pathLst>
              <a:path h="1954167" w="7339596">
                <a:moveTo>
                  <a:pt x="0" y="0"/>
                </a:moveTo>
                <a:lnTo>
                  <a:pt x="7339596" y="0"/>
                </a:lnTo>
                <a:lnTo>
                  <a:pt x="7339596" y="1954168"/>
                </a:lnTo>
                <a:lnTo>
                  <a:pt x="0" y="1954168"/>
                </a:lnTo>
                <a:lnTo>
                  <a:pt x="0" y="0"/>
                </a:lnTo>
                <a:close/>
              </a:path>
            </a:pathLst>
          </a:custGeom>
          <a:blipFill>
            <a:blip r:embed="rId6"/>
            <a:stretch>
              <a:fillRect l="0" t="0" r="0" b="0"/>
            </a:stretch>
          </a:blipFill>
        </p:spPr>
      </p:sp>
      <p:sp>
        <p:nvSpPr>
          <p:cNvPr name="TextBox 24" id="24"/>
          <p:cNvSpPr txBox="true"/>
          <p:nvPr/>
        </p:nvSpPr>
        <p:spPr>
          <a:xfrm rot="0">
            <a:off x="4707250" y="1674361"/>
            <a:ext cx="5595025" cy="795022"/>
          </a:xfrm>
          <a:prstGeom prst="rect">
            <a:avLst/>
          </a:prstGeom>
        </p:spPr>
        <p:txBody>
          <a:bodyPr anchor="t" rtlCol="false" tIns="0" lIns="0" bIns="0" rIns="0">
            <a:spAutoFit/>
          </a:bodyPr>
          <a:lstStyle/>
          <a:p>
            <a:pPr algn="ctr">
              <a:lnSpc>
                <a:spcPts val="6579"/>
              </a:lnSpc>
              <a:spcBef>
                <a:spcPct val="0"/>
              </a:spcBef>
            </a:pPr>
            <a:r>
              <a:rPr lang="en-US" sz="4699">
                <a:solidFill>
                  <a:srgbClr val="000000"/>
                </a:solidFill>
                <a:latin typeface="Montserrat"/>
                <a:ea typeface="Montserrat"/>
                <a:cs typeface="Montserrat"/>
                <a:sym typeface="Montserrat"/>
              </a:rPr>
              <a:t>Costos y viabilidad</a:t>
            </a:r>
          </a:p>
        </p:txBody>
      </p:sp>
      <p:sp>
        <p:nvSpPr>
          <p:cNvPr name="TextBox 25" id="25"/>
          <p:cNvSpPr txBox="true"/>
          <p:nvPr/>
        </p:nvSpPr>
        <p:spPr>
          <a:xfrm rot="0">
            <a:off x="238804" y="1827332"/>
            <a:ext cx="3108340"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Contenido</a:t>
            </a:r>
          </a:p>
        </p:txBody>
      </p:sp>
      <p:sp>
        <p:nvSpPr>
          <p:cNvPr name="TextBox 26" id="26"/>
          <p:cNvSpPr txBox="true"/>
          <p:nvPr/>
        </p:nvSpPr>
        <p:spPr>
          <a:xfrm rot="0">
            <a:off x="1200415" y="2722047"/>
            <a:ext cx="1185118"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Problema</a:t>
            </a:r>
          </a:p>
        </p:txBody>
      </p:sp>
      <p:sp>
        <p:nvSpPr>
          <p:cNvPr name="TextBox 27" id="27"/>
          <p:cNvSpPr txBox="true"/>
          <p:nvPr/>
        </p:nvSpPr>
        <p:spPr>
          <a:xfrm rot="0">
            <a:off x="415874" y="3616762"/>
            <a:ext cx="2754200"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Propuesta de solucion</a:t>
            </a:r>
          </a:p>
        </p:txBody>
      </p:sp>
      <p:sp>
        <p:nvSpPr>
          <p:cNvPr name="TextBox 28" id="28"/>
          <p:cNvSpPr txBox="true"/>
          <p:nvPr/>
        </p:nvSpPr>
        <p:spPr>
          <a:xfrm rot="0">
            <a:off x="681302" y="4511477"/>
            <a:ext cx="222334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Costos y viabilidad</a:t>
            </a:r>
          </a:p>
        </p:txBody>
      </p:sp>
      <p:sp>
        <p:nvSpPr>
          <p:cNvPr name="TextBox 29" id="29"/>
          <p:cNvSpPr txBox="true"/>
          <p:nvPr/>
        </p:nvSpPr>
        <p:spPr>
          <a:xfrm rot="0">
            <a:off x="961992" y="5406192"/>
            <a:ext cx="1661964"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Herramientas</a:t>
            </a:r>
          </a:p>
        </p:txBody>
      </p:sp>
      <p:sp>
        <p:nvSpPr>
          <p:cNvPr name="TextBox 30" id="30"/>
          <p:cNvSpPr txBox="true"/>
          <p:nvPr/>
        </p:nvSpPr>
        <p:spPr>
          <a:xfrm rot="0">
            <a:off x="4707250" y="2582630"/>
            <a:ext cx="12673118" cy="682694"/>
          </a:xfrm>
          <a:prstGeom prst="rect">
            <a:avLst/>
          </a:prstGeom>
        </p:spPr>
        <p:txBody>
          <a:bodyPr anchor="t" rtlCol="false" tIns="0" lIns="0" bIns="0" rIns="0">
            <a:spAutoFit/>
          </a:bodyPr>
          <a:lstStyle/>
          <a:p>
            <a:pPr algn="l" marL="0" indent="0" lvl="0">
              <a:lnSpc>
                <a:spcPts val="2796"/>
              </a:lnSpc>
              <a:spcBef>
                <a:spcPct val="0"/>
              </a:spcBef>
            </a:pPr>
            <a:r>
              <a:rPr lang="en-US" sz="1997">
                <a:solidFill>
                  <a:srgbClr val="000000"/>
                </a:solidFill>
                <a:latin typeface="Montserrat"/>
                <a:ea typeface="Montserrat"/>
                <a:cs typeface="Montserrat"/>
                <a:sym typeface="Montserrat"/>
              </a:rPr>
              <a:t>Considerando costos en área de recursos humanos, tecnológicos, operativos, mantención y un fondo de emergencias los costos totales serían de $41.010.200, repartido de la siguiente manera:</a:t>
            </a:r>
          </a:p>
        </p:txBody>
      </p:sp>
      <p:sp>
        <p:nvSpPr>
          <p:cNvPr name="TextBox 31" id="31"/>
          <p:cNvSpPr txBox="true"/>
          <p:nvPr/>
        </p:nvSpPr>
        <p:spPr>
          <a:xfrm rot="0">
            <a:off x="1027402" y="6300907"/>
            <a:ext cx="1531144"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Arquitectura</a:t>
            </a:r>
          </a:p>
        </p:txBody>
      </p:sp>
      <p:sp>
        <p:nvSpPr>
          <p:cNvPr name="TextBox 32" id="32"/>
          <p:cNvSpPr txBox="true"/>
          <p:nvPr/>
        </p:nvSpPr>
        <p:spPr>
          <a:xfrm rot="0">
            <a:off x="1167077" y="7195622"/>
            <a:ext cx="125179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Seguridad</a:t>
            </a:r>
          </a:p>
        </p:txBody>
      </p:sp>
      <p:sp>
        <p:nvSpPr>
          <p:cNvPr name="TextBox 33" id="33"/>
          <p:cNvSpPr txBox="true"/>
          <p:nvPr/>
        </p:nvSpPr>
        <p:spPr>
          <a:xfrm rot="0">
            <a:off x="198652" y="8090337"/>
            <a:ext cx="318864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Aseguramiento de calidad</a:t>
            </a:r>
          </a:p>
        </p:txBody>
      </p:sp>
      <p:sp>
        <p:nvSpPr>
          <p:cNvPr name="TextBox 34" id="34"/>
          <p:cNvSpPr txBox="true"/>
          <p:nvPr/>
        </p:nvSpPr>
        <p:spPr>
          <a:xfrm rot="0">
            <a:off x="381041" y="8985052"/>
            <a:ext cx="2823865"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Herramientas Similares</a:t>
            </a:r>
          </a:p>
        </p:txBody>
      </p:sp>
      <p:sp>
        <p:nvSpPr>
          <p:cNvPr name="TextBox 35" id="35"/>
          <p:cNvSpPr txBox="true"/>
          <p:nvPr/>
        </p:nvSpPr>
        <p:spPr>
          <a:xfrm rot="0">
            <a:off x="932226" y="9879767"/>
            <a:ext cx="1721495"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Demostracion</a:t>
            </a:r>
          </a:p>
        </p:txBody>
      </p:sp>
      <p:sp>
        <p:nvSpPr>
          <p:cNvPr name="TextBox 36" id="36"/>
          <p:cNvSpPr txBox="true"/>
          <p:nvPr/>
        </p:nvSpPr>
        <p:spPr>
          <a:xfrm rot="0">
            <a:off x="4375291" y="5231215"/>
            <a:ext cx="12673118" cy="682694"/>
          </a:xfrm>
          <a:prstGeom prst="rect">
            <a:avLst/>
          </a:prstGeom>
        </p:spPr>
        <p:txBody>
          <a:bodyPr anchor="t" rtlCol="false" tIns="0" lIns="0" bIns="0" rIns="0">
            <a:spAutoFit/>
          </a:bodyPr>
          <a:lstStyle/>
          <a:p>
            <a:pPr algn="l" marL="0" indent="0" lvl="0">
              <a:lnSpc>
                <a:spcPts val="2796"/>
              </a:lnSpc>
              <a:spcBef>
                <a:spcPct val="0"/>
              </a:spcBef>
            </a:pPr>
            <a:r>
              <a:rPr lang="en-US" sz="1997">
                <a:solidFill>
                  <a:srgbClr val="000000"/>
                </a:solidFill>
                <a:latin typeface="Montserrat"/>
                <a:ea typeface="Montserrat"/>
                <a:cs typeface="Montserrat"/>
                <a:sym typeface="Montserrat"/>
              </a:rPr>
              <a:t>Con un periodo inicial de desarrollo y 3 años posteriores de mantención ya en producción se estiman los siguientes flujos de caja: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55651"/>
            <a:ext cx="3585947" cy="9467474"/>
            <a:chOff x="0" y="0"/>
            <a:chExt cx="944447" cy="2493491"/>
          </a:xfrm>
        </p:grpSpPr>
        <p:sp>
          <p:nvSpPr>
            <p:cNvPr name="Freeform 3" id="3"/>
            <p:cNvSpPr/>
            <p:nvPr/>
          </p:nvSpPr>
          <p:spPr>
            <a:xfrm flipH="false" flipV="false" rot="0">
              <a:off x="0" y="0"/>
              <a:ext cx="944447" cy="2493491"/>
            </a:xfrm>
            <a:custGeom>
              <a:avLst/>
              <a:gdLst/>
              <a:ahLst/>
              <a:cxnLst/>
              <a:rect r="r" b="b" t="t" l="l"/>
              <a:pathLst>
                <a:path h="2493491" w="944447">
                  <a:moveTo>
                    <a:pt x="0" y="0"/>
                  </a:moveTo>
                  <a:lnTo>
                    <a:pt x="944447" y="0"/>
                  </a:lnTo>
                  <a:lnTo>
                    <a:pt x="944447" y="2493491"/>
                  </a:lnTo>
                  <a:lnTo>
                    <a:pt x="0" y="2493491"/>
                  </a:lnTo>
                  <a:close/>
                </a:path>
              </a:pathLst>
            </a:custGeom>
            <a:solidFill>
              <a:srgbClr val="A6C3FF"/>
            </a:solidFill>
          </p:spPr>
        </p:sp>
        <p:sp>
          <p:nvSpPr>
            <p:cNvPr name="TextBox 4" id="4"/>
            <p:cNvSpPr txBox="true"/>
            <p:nvPr/>
          </p:nvSpPr>
          <p:spPr>
            <a:xfrm>
              <a:off x="0" y="-38100"/>
              <a:ext cx="944447" cy="2531591"/>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3585947" y="1201550"/>
            <a:ext cx="14702053" cy="10032059"/>
          </a:xfrm>
          <a:custGeom>
            <a:avLst/>
            <a:gdLst/>
            <a:ahLst/>
            <a:cxnLst/>
            <a:rect r="r" b="b" t="t" l="l"/>
            <a:pathLst>
              <a:path h="10032059" w="14702053">
                <a:moveTo>
                  <a:pt x="0" y="0"/>
                </a:moveTo>
                <a:lnTo>
                  <a:pt x="14702053" y="0"/>
                </a:lnTo>
                <a:lnTo>
                  <a:pt x="14702053" y="10032059"/>
                </a:lnTo>
                <a:lnTo>
                  <a:pt x="0" y="10032059"/>
                </a:lnTo>
                <a:lnTo>
                  <a:pt x="0" y="0"/>
                </a:lnTo>
                <a:close/>
              </a:path>
            </a:pathLst>
          </a:custGeom>
          <a:blipFill>
            <a:blip r:embed="rId2"/>
            <a:stretch>
              <a:fillRect l="-3842" t="-5305" r="-3842" b="0"/>
            </a:stretch>
          </a:blipFill>
        </p:spPr>
      </p:sp>
      <p:grpSp>
        <p:nvGrpSpPr>
          <p:cNvPr name="Group 6" id="6"/>
          <p:cNvGrpSpPr/>
          <p:nvPr/>
        </p:nvGrpSpPr>
        <p:grpSpPr>
          <a:xfrm rot="0">
            <a:off x="-1725922" y="-209550"/>
            <a:ext cx="20974315" cy="1465201"/>
            <a:chOff x="0" y="0"/>
            <a:chExt cx="5524100" cy="385897"/>
          </a:xfrm>
        </p:grpSpPr>
        <p:sp>
          <p:nvSpPr>
            <p:cNvPr name="Freeform 7" id="7"/>
            <p:cNvSpPr/>
            <p:nvPr/>
          </p:nvSpPr>
          <p:spPr>
            <a:xfrm flipH="false" flipV="false" rot="0">
              <a:off x="0" y="0"/>
              <a:ext cx="5524100" cy="385897"/>
            </a:xfrm>
            <a:custGeom>
              <a:avLst/>
              <a:gdLst/>
              <a:ahLst/>
              <a:cxnLst/>
              <a:rect r="r" b="b" t="t" l="l"/>
              <a:pathLst>
                <a:path h="385897" w="5524100">
                  <a:moveTo>
                    <a:pt x="0" y="0"/>
                  </a:moveTo>
                  <a:lnTo>
                    <a:pt x="5524100" y="0"/>
                  </a:lnTo>
                  <a:lnTo>
                    <a:pt x="5524100" y="385897"/>
                  </a:lnTo>
                  <a:lnTo>
                    <a:pt x="0" y="385897"/>
                  </a:lnTo>
                  <a:close/>
                </a:path>
              </a:pathLst>
            </a:custGeom>
            <a:solidFill>
              <a:srgbClr val="6595FF"/>
            </a:solidFill>
          </p:spPr>
        </p:sp>
        <p:sp>
          <p:nvSpPr>
            <p:cNvPr name="TextBox 8" id="8"/>
            <p:cNvSpPr txBox="true"/>
            <p:nvPr/>
          </p:nvSpPr>
          <p:spPr>
            <a:xfrm>
              <a:off x="0" y="-38100"/>
              <a:ext cx="5524100" cy="423997"/>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3865748" y="1540826"/>
            <a:ext cx="14192624" cy="7319173"/>
            <a:chOff x="0" y="0"/>
            <a:chExt cx="3737975" cy="1927684"/>
          </a:xfrm>
        </p:grpSpPr>
        <p:sp>
          <p:nvSpPr>
            <p:cNvPr name="Freeform 10" id="10"/>
            <p:cNvSpPr/>
            <p:nvPr/>
          </p:nvSpPr>
          <p:spPr>
            <a:xfrm flipH="false" flipV="false" rot="0">
              <a:off x="0" y="0"/>
              <a:ext cx="3737975" cy="1927683"/>
            </a:xfrm>
            <a:custGeom>
              <a:avLst/>
              <a:gdLst/>
              <a:ahLst/>
              <a:cxnLst/>
              <a:rect r="r" b="b" t="t" l="l"/>
              <a:pathLst>
                <a:path h="1927683" w="3737975">
                  <a:moveTo>
                    <a:pt x="24002" y="0"/>
                  </a:moveTo>
                  <a:lnTo>
                    <a:pt x="3713973" y="0"/>
                  </a:lnTo>
                  <a:cubicBezTo>
                    <a:pt x="3727229" y="0"/>
                    <a:pt x="3737975" y="10746"/>
                    <a:pt x="3737975" y="24002"/>
                  </a:cubicBezTo>
                  <a:lnTo>
                    <a:pt x="3737975" y="1903682"/>
                  </a:lnTo>
                  <a:cubicBezTo>
                    <a:pt x="3737975" y="1916938"/>
                    <a:pt x="3727229" y="1927683"/>
                    <a:pt x="3713973" y="1927683"/>
                  </a:cubicBezTo>
                  <a:lnTo>
                    <a:pt x="24002" y="1927683"/>
                  </a:lnTo>
                  <a:cubicBezTo>
                    <a:pt x="10746" y="1927683"/>
                    <a:pt x="0" y="1916938"/>
                    <a:pt x="0" y="1903682"/>
                  </a:cubicBezTo>
                  <a:lnTo>
                    <a:pt x="0" y="24002"/>
                  </a:lnTo>
                  <a:cubicBezTo>
                    <a:pt x="0" y="10746"/>
                    <a:pt x="10746" y="0"/>
                    <a:pt x="24002" y="0"/>
                  </a:cubicBezTo>
                  <a:close/>
                </a:path>
              </a:pathLst>
            </a:custGeom>
            <a:solidFill>
              <a:srgbClr val="FFFFFF">
                <a:alpha val="47843"/>
              </a:srgbClr>
            </a:solidFill>
            <a:ln w="38100" cap="rnd">
              <a:solidFill>
                <a:srgbClr val="6595FF">
                  <a:alpha val="47843"/>
                </a:srgbClr>
              </a:solidFill>
              <a:prstDash val="solid"/>
              <a:round/>
            </a:ln>
          </p:spPr>
        </p:sp>
        <p:sp>
          <p:nvSpPr>
            <p:cNvPr name="TextBox 11" id="11"/>
            <p:cNvSpPr txBox="true"/>
            <p:nvPr/>
          </p:nvSpPr>
          <p:spPr>
            <a:xfrm>
              <a:off x="0" y="-38100"/>
              <a:ext cx="3737975" cy="1965784"/>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4199085" y="4000691"/>
            <a:ext cx="13518005" cy="3375589"/>
            <a:chOff x="0" y="0"/>
            <a:chExt cx="3560230" cy="888956"/>
          </a:xfrm>
        </p:grpSpPr>
        <p:sp>
          <p:nvSpPr>
            <p:cNvPr name="Freeform 13" id="13"/>
            <p:cNvSpPr/>
            <p:nvPr/>
          </p:nvSpPr>
          <p:spPr>
            <a:xfrm flipH="false" flipV="false" rot="0">
              <a:off x="0" y="0"/>
              <a:ext cx="3560230" cy="888956"/>
            </a:xfrm>
            <a:custGeom>
              <a:avLst/>
              <a:gdLst/>
              <a:ahLst/>
              <a:cxnLst/>
              <a:rect r="r" b="b" t="t" l="l"/>
              <a:pathLst>
                <a:path h="888956" w="3560230">
                  <a:moveTo>
                    <a:pt x="3560230" y="0"/>
                  </a:moveTo>
                  <a:lnTo>
                    <a:pt x="3560230" y="888956"/>
                  </a:lnTo>
                  <a:lnTo>
                    <a:pt x="0" y="888956"/>
                  </a:lnTo>
                  <a:lnTo>
                    <a:pt x="0" y="0"/>
                  </a:lnTo>
                  <a:close/>
                </a:path>
              </a:pathLst>
            </a:custGeom>
            <a:solidFill>
              <a:srgbClr val="000000"/>
            </a:solidFill>
            <a:ln w="952500" cap="sq">
              <a:solidFill>
                <a:srgbClr val="000000"/>
              </a:solidFill>
              <a:prstDash val="solid"/>
              <a:miter/>
            </a:ln>
          </p:spPr>
        </p:sp>
        <p:sp>
          <p:nvSpPr>
            <p:cNvPr name="TextBox 14" id="14"/>
            <p:cNvSpPr txBox="true"/>
            <p:nvPr/>
          </p:nvSpPr>
          <p:spPr>
            <a:xfrm>
              <a:off x="0" y="-38100"/>
              <a:ext cx="3560230" cy="927056"/>
            </a:xfrm>
            <a:prstGeom prst="rect">
              <a:avLst/>
            </a:prstGeom>
          </p:spPr>
          <p:txBody>
            <a:bodyPr anchor="ctr" rtlCol="false" tIns="50800" lIns="50800" bIns="50800" rIns="50800"/>
            <a:lstStyle/>
            <a:p>
              <a:pPr algn="ctr">
                <a:lnSpc>
                  <a:spcPts val="2659"/>
                </a:lnSpc>
              </a:pPr>
            </a:p>
          </p:txBody>
        </p:sp>
      </p:grpSp>
      <p:sp>
        <p:nvSpPr>
          <p:cNvPr name="AutoShape 15" id="15"/>
          <p:cNvSpPr/>
          <p:nvPr/>
        </p:nvSpPr>
        <p:spPr>
          <a:xfrm flipV="true">
            <a:off x="4324486" y="2524245"/>
            <a:ext cx="4484525" cy="0"/>
          </a:xfrm>
          <a:prstGeom prst="line">
            <a:avLst/>
          </a:prstGeom>
          <a:ln cap="flat" w="38100">
            <a:solidFill>
              <a:srgbClr val="9BBAFF"/>
            </a:solidFill>
            <a:prstDash val="solid"/>
            <a:headEnd type="none" len="sm" w="sm"/>
            <a:tailEnd type="none" len="sm" w="sm"/>
          </a:ln>
        </p:spPr>
      </p:sp>
      <p:grpSp>
        <p:nvGrpSpPr>
          <p:cNvPr name="Group 16" id="16"/>
          <p:cNvGrpSpPr/>
          <p:nvPr/>
        </p:nvGrpSpPr>
        <p:grpSpPr>
          <a:xfrm rot="0">
            <a:off x="0" y="5206804"/>
            <a:ext cx="3585947" cy="760092"/>
            <a:chOff x="0" y="0"/>
            <a:chExt cx="944447" cy="200189"/>
          </a:xfrm>
        </p:grpSpPr>
        <p:sp>
          <p:nvSpPr>
            <p:cNvPr name="Freeform 17" id="17"/>
            <p:cNvSpPr/>
            <p:nvPr/>
          </p:nvSpPr>
          <p:spPr>
            <a:xfrm flipH="false" flipV="false" rot="0">
              <a:off x="0" y="0"/>
              <a:ext cx="944447" cy="200189"/>
            </a:xfrm>
            <a:custGeom>
              <a:avLst/>
              <a:gdLst/>
              <a:ahLst/>
              <a:cxnLst/>
              <a:rect r="r" b="b" t="t" l="l"/>
              <a:pathLst>
                <a:path h="200189" w="944447">
                  <a:moveTo>
                    <a:pt x="944447" y="0"/>
                  </a:moveTo>
                  <a:lnTo>
                    <a:pt x="944447" y="200189"/>
                  </a:lnTo>
                  <a:lnTo>
                    <a:pt x="0" y="200189"/>
                  </a:lnTo>
                  <a:lnTo>
                    <a:pt x="0" y="0"/>
                  </a:lnTo>
                  <a:close/>
                </a:path>
              </a:pathLst>
            </a:custGeom>
            <a:solidFill>
              <a:srgbClr val="6595FF">
                <a:alpha val="81961"/>
              </a:srgbClr>
            </a:solidFill>
          </p:spPr>
        </p:sp>
        <p:sp>
          <p:nvSpPr>
            <p:cNvPr name="TextBox 18" id="18"/>
            <p:cNvSpPr txBox="true"/>
            <p:nvPr/>
          </p:nvSpPr>
          <p:spPr>
            <a:xfrm>
              <a:off x="0" y="-38100"/>
              <a:ext cx="944447" cy="238289"/>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1247196" y="108583"/>
            <a:ext cx="10916135" cy="920117"/>
          </a:xfrm>
          <a:prstGeom prst="rect">
            <a:avLst/>
          </a:prstGeom>
        </p:spPr>
        <p:txBody>
          <a:bodyPr anchor="t" rtlCol="false" tIns="0" lIns="0" bIns="0" rIns="0">
            <a:spAutoFit/>
          </a:bodyPr>
          <a:lstStyle/>
          <a:p>
            <a:pPr algn="ctr">
              <a:lnSpc>
                <a:spcPts val="7559"/>
              </a:lnSpc>
              <a:spcBef>
                <a:spcPct val="0"/>
              </a:spcBef>
            </a:pPr>
            <a:r>
              <a:rPr lang="en-US" sz="5399">
                <a:solidFill>
                  <a:srgbClr val="FFFFFF"/>
                </a:solidFill>
                <a:latin typeface="Montserrat"/>
                <a:ea typeface="Montserrat"/>
                <a:cs typeface="Montserrat"/>
                <a:sym typeface="Montserrat"/>
              </a:rPr>
              <a:t>College choice helper</a:t>
            </a:r>
          </a:p>
        </p:txBody>
      </p:sp>
      <p:sp>
        <p:nvSpPr>
          <p:cNvPr name="Freeform 20" id="20"/>
          <p:cNvSpPr/>
          <p:nvPr/>
        </p:nvSpPr>
        <p:spPr>
          <a:xfrm flipH="false" flipV="false" rot="0">
            <a:off x="1278624" y="97559"/>
            <a:ext cx="1028700" cy="1028700"/>
          </a:xfrm>
          <a:custGeom>
            <a:avLst/>
            <a:gdLst/>
            <a:ahLst/>
            <a:cxnLst/>
            <a:rect r="r" b="b" t="t" l="l"/>
            <a:pathLst>
              <a:path h="1028700" w="1028700">
                <a:moveTo>
                  <a:pt x="0" y="0"/>
                </a:moveTo>
                <a:lnTo>
                  <a:pt x="1028700" y="0"/>
                </a:lnTo>
                <a:lnTo>
                  <a:pt x="1028700" y="1028700"/>
                </a:lnTo>
                <a:lnTo>
                  <a:pt x="0" y="1028700"/>
                </a:lnTo>
                <a:lnTo>
                  <a:pt x="0" y="0"/>
                </a:lnTo>
                <a:close/>
              </a:path>
            </a:pathLst>
          </a:custGeom>
          <a:blipFill>
            <a:blip r:embed="rId3"/>
            <a:stretch>
              <a:fillRect l="0" t="0" r="0" b="0"/>
            </a:stretch>
          </a:blipFill>
        </p:spPr>
      </p:sp>
      <p:grpSp>
        <p:nvGrpSpPr>
          <p:cNvPr name="Group 21" id="21"/>
          <p:cNvGrpSpPr/>
          <p:nvPr/>
        </p:nvGrpSpPr>
        <p:grpSpPr>
          <a:xfrm rot="0">
            <a:off x="4199085" y="2807774"/>
            <a:ext cx="13518005" cy="1132203"/>
            <a:chOff x="0" y="0"/>
            <a:chExt cx="3560230" cy="298164"/>
          </a:xfrm>
        </p:grpSpPr>
        <p:sp>
          <p:nvSpPr>
            <p:cNvPr name="Freeform 22" id="22"/>
            <p:cNvSpPr/>
            <p:nvPr/>
          </p:nvSpPr>
          <p:spPr>
            <a:xfrm flipH="false" flipV="false" rot="0">
              <a:off x="0" y="0"/>
              <a:ext cx="3560230" cy="298164"/>
            </a:xfrm>
            <a:custGeom>
              <a:avLst/>
              <a:gdLst/>
              <a:ahLst/>
              <a:cxnLst/>
              <a:rect r="r" b="b" t="t" l="l"/>
              <a:pathLst>
                <a:path h="298164" w="3560230">
                  <a:moveTo>
                    <a:pt x="3560230" y="0"/>
                  </a:moveTo>
                  <a:lnTo>
                    <a:pt x="3560230" y="298164"/>
                  </a:lnTo>
                  <a:lnTo>
                    <a:pt x="0" y="298164"/>
                  </a:lnTo>
                  <a:lnTo>
                    <a:pt x="0" y="0"/>
                  </a:lnTo>
                  <a:close/>
                </a:path>
              </a:pathLst>
            </a:custGeom>
            <a:solidFill>
              <a:srgbClr val="000000">
                <a:alpha val="67843"/>
              </a:srgbClr>
            </a:solidFill>
            <a:ln w="952500" cap="sq">
              <a:solidFill>
                <a:srgbClr val="FFFFFF">
                  <a:alpha val="67843"/>
                </a:srgbClr>
              </a:solidFill>
              <a:prstDash val="solid"/>
              <a:miter/>
            </a:ln>
          </p:spPr>
        </p:sp>
        <p:sp>
          <p:nvSpPr>
            <p:cNvPr name="TextBox 23" id="23"/>
            <p:cNvSpPr txBox="true"/>
            <p:nvPr/>
          </p:nvSpPr>
          <p:spPr>
            <a:xfrm>
              <a:off x="0" y="-38100"/>
              <a:ext cx="3560230" cy="336264"/>
            </a:xfrm>
            <a:prstGeom prst="rect">
              <a:avLst/>
            </a:prstGeom>
          </p:spPr>
          <p:txBody>
            <a:bodyPr anchor="ctr" rtlCol="false" tIns="50800" lIns="50800" bIns="50800" rIns="50800"/>
            <a:lstStyle/>
            <a:p>
              <a:pPr algn="ctr">
                <a:lnSpc>
                  <a:spcPts val="2659"/>
                </a:lnSpc>
              </a:pPr>
            </a:p>
          </p:txBody>
        </p:sp>
      </p:grpSp>
      <p:sp>
        <p:nvSpPr>
          <p:cNvPr name="Freeform 24" id="24"/>
          <p:cNvSpPr/>
          <p:nvPr/>
        </p:nvSpPr>
        <p:spPr>
          <a:xfrm flipH="false" flipV="false" rot="0">
            <a:off x="4838798" y="4743403"/>
            <a:ext cx="1159805" cy="1463477"/>
          </a:xfrm>
          <a:custGeom>
            <a:avLst/>
            <a:gdLst/>
            <a:ahLst/>
            <a:cxnLst/>
            <a:rect r="r" b="b" t="t" l="l"/>
            <a:pathLst>
              <a:path h="1463477" w="1159805">
                <a:moveTo>
                  <a:pt x="0" y="0"/>
                </a:moveTo>
                <a:lnTo>
                  <a:pt x="1159805" y="0"/>
                </a:lnTo>
                <a:lnTo>
                  <a:pt x="1159805" y="1463477"/>
                </a:lnTo>
                <a:lnTo>
                  <a:pt x="0" y="14634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false" flipV="false" rot="0">
            <a:off x="7664954" y="4834692"/>
            <a:ext cx="971882" cy="1280899"/>
          </a:xfrm>
          <a:custGeom>
            <a:avLst/>
            <a:gdLst/>
            <a:ahLst/>
            <a:cxnLst/>
            <a:rect r="r" b="b" t="t" l="l"/>
            <a:pathLst>
              <a:path h="1280899" w="971882">
                <a:moveTo>
                  <a:pt x="0" y="0"/>
                </a:moveTo>
                <a:lnTo>
                  <a:pt x="971882" y="0"/>
                </a:lnTo>
                <a:lnTo>
                  <a:pt x="971882" y="1280899"/>
                </a:lnTo>
                <a:lnTo>
                  <a:pt x="0" y="12808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6" id="26"/>
          <p:cNvSpPr/>
          <p:nvPr/>
        </p:nvSpPr>
        <p:spPr>
          <a:xfrm flipH="false" flipV="false" rot="0">
            <a:off x="10303188" y="4743403"/>
            <a:ext cx="1309799" cy="1309799"/>
          </a:xfrm>
          <a:custGeom>
            <a:avLst/>
            <a:gdLst/>
            <a:ahLst/>
            <a:cxnLst/>
            <a:rect r="r" b="b" t="t" l="l"/>
            <a:pathLst>
              <a:path h="1309799" w="1309799">
                <a:moveTo>
                  <a:pt x="0" y="0"/>
                </a:moveTo>
                <a:lnTo>
                  <a:pt x="1309798" y="0"/>
                </a:lnTo>
                <a:lnTo>
                  <a:pt x="1309798" y="1309799"/>
                </a:lnTo>
                <a:lnTo>
                  <a:pt x="0" y="130979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7" id="27"/>
          <p:cNvSpPr/>
          <p:nvPr/>
        </p:nvSpPr>
        <p:spPr>
          <a:xfrm flipH="false" flipV="false" rot="0">
            <a:off x="13038526" y="4785872"/>
            <a:ext cx="1264499" cy="1264499"/>
          </a:xfrm>
          <a:custGeom>
            <a:avLst/>
            <a:gdLst/>
            <a:ahLst/>
            <a:cxnLst/>
            <a:rect r="r" b="b" t="t" l="l"/>
            <a:pathLst>
              <a:path h="1264499" w="1264499">
                <a:moveTo>
                  <a:pt x="0" y="0"/>
                </a:moveTo>
                <a:lnTo>
                  <a:pt x="1264499" y="0"/>
                </a:lnTo>
                <a:lnTo>
                  <a:pt x="1264499" y="1264499"/>
                </a:lnTo>
                <a:lnTo>
                  <a:pt x="0" y="1264499"/>
                </a:lnTo>
                <a:lnTo>
                  <a:pt x="0" y="0"/>
                </a:lnTo>
                <a:close/>
              </a:path>
            </a:pathLst>
          </a:custGeom>
          <a:blipFill>
            <a:blip r:embed="rId10"/>
            <a:stretch>
              <a:fillRect l="0" t="0" r="0" b="0"/>
            </a:stretch>
          </a:blipFill>
        </p:spPr>
      </p:sp>
      <p:sp>
        <p:nvSpPr>
          <p:cNvPr name="Freeform 28" id="28"/>
          <p:cNvSpPr/>
          <p:nvPr/>
        </p:nvSpPr>
        <p:spPr>
          <a:xfrm flipH="false" flipV="false" rot="0">
            <a:off x="15491691" y="4785872"/>
            <a:ext cx="1238430" cy="1238430"/>
          </a:xfrm>
          <a:custGeom>
            <a:avLst/>
            <a:gdLst/>
            <a:ahLst/>
            <a:cxnLst/>
            <a:rect r="r" b="b" t="t" l="l"/>
            <a:pathLst>
              <a:path h="1238430" w="1238430">
                <a:moveTo>
                  <a:pt x="0" y="0"/>
                </a:moveTo>
                <a:lnTo>
                  <a:pt x="1238430" y="0"/>
                </a:lnTo>
                <a:lnTo>
                  <a:pt x="1238430" y="1238430"/>
                </a:lnTo>
                <a:lnTo>
                  <a:pt x="0" y="1238430"/>
                </a:lnTo>
                <a:lnTo>
                  <a:pt x="0" y="0"/>
                </a:lnTo>
                <a:close/>
              </a:path>
            </a:pathLst>
          </a:custGeom>
          <a:blipFill>
            <a:blip r:embed="rId11"/>
            <a:stretch>
              <a:fillRect l="0" t="0" r="0" b="0"/>
            </a:stretch>
          </a:blipFill>
        </p:spPr>
      </p:sp>
      <p:sp>
        <p:nvSpPr>
          <p:cNvPr name="TextBox 29" id="29"/>
          <p:cNvSpPr txBox="true"/>
          <p:nvPr/>
        </p:nvSpPr>
        <p:spPr>
          <a:xfrm rot="0">
            <a:off x="4324486" y="1710173"/>
            <a:ext cx="4436750" cy="795022"/>
          </a:xfrm>
          <a:prstGeom prst="rect">
            <a:avLst/>
          </a:prstGeom>
        </p:spPr>
        <p:txBody>
          <a:bodyPr anchor="t" rtlCol="false" tIns="0" lIns="0" bIns="0" rIns="0">
            <a:spAutoFit/>
          </a:bodyPr>
          <a:lstStyle/>
          <a:p>
            <a:pPr algn="ctr">
              <a:lnSpc>
                <a:spcPts val="6579"/>
              </a:lnSpc>
              <a:spcBef>
                <a:spcPct val="0"/>
              </a:spcBef>
            </a:pPr>
            <a:r>
              <a:rPr lang="en-US" sz="4699">
                <a:solidFill>
                  <a:srgbClr val="000000"/>
                </a:solidFill>
                <a:latin typeface="Montserrat"/>
                <a:ea typeface="Montserrat"/>
                <a:cs typeface="Montserrat"/>
                <a:sym typeface="Montserrat"/>
              </a:rPr>
              <a:t>Herramientas</a:t>
            </a:r>
          </a:p>
        </p:txBody>
      </p:sp>
      <p:sp>
        <p:nvSpPr>
          <p:cNvPr name="TextBox 30" id="30"/>
          <p:cNvSpPr txBox="true"/>
          <p:nvPr/>
        </p:nvSpPr>
        <p:spPr>
          <a:xfrm rot="0">
            <a:off x="238804" y="1827332"/>
            <a:ext cx="3108340"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Contenido</a:t>
            </a:r>
          </a:p>
        </p:txBody>
      </p:sp>
      <p:sp>
        <p:nvSpPr>
          <p:cNvPr name="TextBox 31" id="31"/>
          <p:cNvSpPr txBox="true"/>
          <p:nvPr/>
        </p:nvSpPr>
        <p:spPr>
          <a:xfrm rot="0">
            <a:off x="1200415" y="2722047"/>
            <a:ext cx="1185118"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Problema</a:t>
            </a:r>
          </a:p>
        </p:txBody>
      </p:sp>
      <p:sp>
        <p:nvSpPr>
          <p:cNvPr name="TextBox 32" id="32"/>
          <p:cNvSpPr txBox="true"/>
          <p:nvPr/>
        </p:nvSpPr>
        <p:spPr>
          <a:xfrm rot="0">
            <a:off x="415874" y="3616762"/>
            <a:ext cx="2754200"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Propuesta de solucion</a:t>
            </a:r>
          </a:p>
        </p:txBody>
      </p:sp>
      <p:sp>
        <p:nvSpPr>
          <p:cNvPr name="TextBox 33" id="33"/>
          <p:cNvSpPr txBox="true"/>
          <p:nvPr/>
        </p:nvSpPr>
        <p:spPr>
          <a:xfrm rot="0">
            <a:off x="681302" y="4511477"/>
            <a:ext cx="222334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Costos y viabilidad</a:t>
            </a:r>
          </a:p>
        </p:txBody>
      </p:sp>
      <p:sp>
        <p:nvSpPr>
          <p:cNvPr name="TextBox 34" id="34"/>
          <p:cNvSpPr txBox="true"/>
          <p:nvPr/>
        </p:nvSpPr>
        <p:spPr>
          <a:xfrm rot="0">
            <a:off x="961992" y="5406192"/>
            <a:ext cx="1661964"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Herramientas</a:t>
            </a:r>
          </a:p>
        </p:txBody>
      </p:sp>
      <p:sp>
        <p:nvSpPr>
          <p:cNvPr name="TextBox 35" id="35"/>
          <p:cNvSpPr txBox="true"/>
          <p:nvPr/>
        </p:nvSpPr>
        <p:spPr>
          <a:xfrm rot="0">
            <a:off x="1027402" y="6300907"/>
            <a:ext cx="1531144"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Arquitectura</a:t>
            </a:r>
          </a:p>
        </p:txBody>
      </p:sp>
      <p:sp>
        <p:nvSpPr>
          <p:cNvPr name="TextBox 36" id="36"/>
          <p:cNvSpPr txBox="true"/>
          <p:nvPr/>
        </p:nvSpPr>
        <p:spPr>
          <a:xfrm rot="0">
            <a:off x="1167077" y="7195622"/>
            <a:ext cx="125179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Seguridad</a:t>
            </a:r>
          </a:p>
        </p:txBody>
      </p:sp>
      <p:sp>
        <p:nvSpPr>
          <p:cNvPr name="TextBox 37" id="37"/>
          <p:cNvSpPr txBox="true"/>
          <p:nvPr/>
        </p:nvSpPr>
        <p:spPr>
          <a:xfrm rot="0">
            <a:off x="198652" y="8090337"/>
            <a:ext cx="318864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Aseguramiento de calidad</a:t>
            </a:r>
          </a:p>
        </p:txBody>
      </p:sp>
      <p:sp>
        <p:nvSpPr>
          <p:cNvPr name="TextBox 38" id="38"/>
          <p:cNvSpPr txBox="true"/>
          <p:nvPr/>
        </p:nvSpPr>
        <p:spPr>
          <a:xfrm rot="0">
            <a:off x="381041" y="8985052"/>
            <a:ext cx="2823865"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Herramientas Similares</a:t>
            </a:r>
          </a:p>
        </p:txBody>
      </p:sp>
      <p:sp>
        <p:nvSpPr>
          <p:cNvPr name="TextBox 39" id="39"/>
          <p:cNvSpPr txBox="true"/>
          <p:nvPr/>
        </p:nvSpPr>
        <p:spPr>
          <a:xfrm rot="0">
            <a:off x="932226" y="9879767"/>
            <a:ext cx="1721495"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Demostracion</a:t>
            </a:r>
          </a:p>
        </p:txBody>
      </p:sp>
      <p:sp>
        <p:nvSpPr>
          <p:cNvPr name="TextBox 40" id="40"/>
          <p:cNvSpPr txBox="true"/>
          <p:nvPr/>
        </p:nvSpPr>
        <p:spPr>
          <a:xfrm rot="0">
            <a:off x="12883445" y="6586022"/>
            <a:ext cx="1574662" cy="339019"/>
          </a:xfrm>
          <a:prstGeom prst="rect">
            <a:avLst/>
          </a:prstGeom>
        </p:spPr>
        <p:txBody>
          <a:bodyPr anchor="t" rtlCol="false" tIns="0" lIns="0" bIns="0" rIns="0">
            <a:spAutoFit/>
          </a:bodyPr>
          <a:lstStyle/>
          <a:p>
            <a:pPr algn="l" marL="0" indent="0" lvl="0">
              <a:lnSpc>
                <a:spcPts val="2802"/>
              </a:lnSpc>
              <a:spcBef>
                <a:spcPct val="0"/>
              </a:spcBef>
            </a:pPr>
            <a:r>
              <a:rPr lang="en-US" sz="2001">
                <a:solidFill>
                  <a:srgbClr val="FFFFFF"/>
                </a:solidFill>
                <a:latin typeface="Montserrat"/>
                <a:ea typeface="Montserrat"/>
                <a:cs typeface="Montserrat"/>
                <a:sym typeface="Montserrat"/>
              </a:rPr>
              <a:t>Lucidchart</a:t>
            </a:r>
          </a:p>
        </p:txBody>
      </p:sp>
      <p:sp>
        <p:nvSpPr>
          <p:cNvPr name="TextBox 41" id="41"/>
          <p:cNvSpPr txBox="true"/>
          <p:nvPr/>
        </p:nvSpPr>
        <p:spPr>
          <a:xfrm rot="0">
            <a:off x="4934086" y="6586022"/>
            <a:ext cx="1035287" cy="339019"/>
          </a:xfrm>
          <a:prstGeom prst="rect">
            <a:avLst/>
          </a:prstGeom>
        </p:spPr>
        <p:txBody>
          <a:bodyPr anchor="t" rtlCol="false" tIns="0" lIns="0" bIns="0" rIns="0">
            <a:spAutoFit/>
          </a:bodyPr>
          <a:lstStyle/>
          <a:p>
            <a:pPr algn="l" marL="0" indent="0" lvl="0">
              <a:lnSpc>
                <a:spcPts val="2802"/>
              </a:lnSpc>
              <a:spcBef>
                <a:spcPct val="0"/>
              </a:spcBef>
            </a:pPr>
            <a:r>
              <a:rPr lang="en-US" sz="2001">
                <a:solidFill>
                  <a:srgbClr val="FFFFFF"/>
                </a:solidFill>
                <a:latin typeface="Montserrat"/>
                <a:ea typeface="Montserrat"/>
                <a:cs typeface="Montserrat"/>
                <a:sym typeface="Montserrat"/>
              </a:rPr>
              <a:t>Django</a:t>
            </a:r>
          </a:p>
        </p:txBody>
      </p:sp>
      <p:sp>
        <p:nvSpPr>
          <p:cNvPr name="TextBox 42" id="42"/>
          <p:cNvSpPr txBox="true"/>
          <p:nvPr/>
        </p:nvSpPr>
        <p:spPr>
          <a:xfrm rot="0">
            <a:off x="10118034" y="6584710"/>
            <a:ext cx="1600193" cy="339675"/>
          </a:xfrm>
          <a:prstGeom prst="rect">
            <a:avLst/>
          </a:prstGeom>
        </p:spPr>
        <p:txBody>
          <a:bodyPr anchor="t" rtlCol="false" tIns="0" lIns="0" bIns="0" rIns="0">
            <a:spAutoFit/>
          </a:bodyPr>
          <a:lstStyle/>
          <a:p>
            <a:pPr algn="l" marL="0" indent="0" lvl="0">
              <a:lnSpc>
                <a:spcPts val="2802"/>
              </a:lnSpc>
              <a:spcBef>
                <a:spcPct val="0"/>
              </a:spcBef>
            </a:pPr>
            <a:r>
              <a:rPr lang="en-US" sz="2001">
                <a:solidFill>
                  <a:srgbClr val="FFFFFF"/>
                </a:solidFill>
                <a:latin typeface="Montserrat"/>
                <a:ea typeface="Montserrat"/>
                <a:cs typeface="Montserrat"/>
                <a:sym typeface="Montserrat"/>
              </a:rPr>
              <a:t>PostgreSQL</a:t>
            </a:r>
          </a:p>
        </p:txBody>
      </p:sp>
      <p:sp>
        <p:nvSpPr>
          <p:cNvPr name="TextBox 43" id="43"/>
          <p:cNvSpPr txBox="true"/>
          <p:nvPr/>
        </p:nvSpPr>
        <p:spPr>
          <a:xfrm rot="0">
            <a:off x="7196280" y="6584710"/>
            <a:ext cx="2076833" cy="339019"/>
          </a:xfrm>
          <a:prstGeom prst="rect">
            <a:avLst/>
          </a:prstGeom>
        </p:spPr>
        <p:txBody>
          <a:bodyPr anchor="t" rtlCol="false" tIns="0" lIns="0" bIns="0" rIns="0">
            <a:spAutoFit/>
          </a:bodyPr>
          <a:lstStyle/>
          <a:p>
            <a:pPr algn="l" marL="0" indent="0" lvl="0">
              <a:lnSpc>
                <a:spcPts val="2802"/>
              </a:lnSpc>
              <a:spcBef>
                <a:spcPct val="0"/>
              </a:spcBef>
            </a:pPr>
            <a:r>
              <a:rPr lang="en-US" sz="2001">
                <a:solidFill>
                  <a:srgbClr val="FFFFFF"/>
                </a:solidFill>
                <a:latin typeface="Montserrat"/>
                <a:ea typeface="Montserrat"/>
                <a:cs typeface="Montserrat"/>
                <a:sym typeface="Montserrat"/>
              </a:rPr>
              <a:t>Microsoft Office</a:t>
            </a:r>
          </a:p>
        </p:txBody>
      </p:sp>
      <p:sp>
        <p:nvSpPr>
          <p:cNvPr name="TextBox 44" id="44"/>
          <p:cNvSpPr txBox="true"/>
          <p:nvPr/>
        </p:nvSpPr>
        <p:spPr>
          <a:xfrm rot="0">
            <a:off x="15866888" y="6586022"/>
            <a:ext cx="488035" cy="339019"/>
          </a:xfrm>
          <a:prstGeom prst="rect">
            <a:avLst/>
          </a:prstGeom>
        </p:spPr>
        <p:txBody>
          <a:bodyPr anchor="t" rtlCol="false" tIns="0" lIns="0" bIns="0" rIns="0">
            <a:spAutoFit/>
          </a:bodyPr>
          <a:lstStyle/>
          <a:p>
            <a:pPr algn="l" marL="0" indent="0" lvl="0">
              <a:lnSpc>
                <a:spcPts val="2802"/>
              </a:lnSpc>
              <a:spcBef>
                <a:spcPct val="0"/>
              </a:spcBef>
            </a:pPr>
            <a:r>
              <a:rPr lang="en-US" sz="2001">
                <a:solidFill>
                  <a:srgbClr val="FFFFFF"/>
                </a:solidFill>
                <a:latin typeface="Montserrat"/>
                <a:ea typeface="Montserrat"/>
                <a:cs typeface="Montserrat"/>
                <a:sym typeface="Montserrat"/>
              </a:rPr>
              <a:t>Jira</a:t>
            </a:r>
          </a:p>
        </p:txBody>
      </p:sp>
      <p:sp>
        <p:nvSpPr>
          <p:cNvPr name="TextBox 45" id="45"/>
          <p:cNvSpPr txBox="true"/>
          <p:nvPr/>
        </p:nvSpPr>
        <p:spPr>
          <a:xfrm rot="0">
            <a:off x="4324486" y="2797916"/>
            <a:ext cx="13392603" cy="1042556"/>
          </a:xfrm>
          <a:prstGeom prst="rect">
            <a:avLst/>
          </a:prstGeom>
        </p:spPr>
        <p:txBody>
          <a:bodyPr anchor="t" rtlCol="false" tIns="0" lIns="0" bIns="0" rIns="0">
            <a:spAutoFit/>
          </a:bodyPr>
          <a:lstStyle/>
          <a:p>
            <a:pPr algn="l" marL="0" indent="0" lvl="0">
              <a:lnSpc>
                <a:spcPts val="2802"/>
              </a:lnSpc>
              <a:spcBef>
                <a:spcPct val="0"/>
              </a:spcBef>
            </a:pPr>
            <a:r>
              <a:rPr lang="en-US" sz="2001">
                <a:solidFill>
                  <a:srgbClr val="000000"/>
                </a:solidFill>
                <a:latin typeface="Montserrat"/>
                <a:ea typeface="Montserrat"/>
                <a:cs typeface="Montserrat"/>
                <a:sym typeface="Montserrat"/>
              </a:rPr>
              <a:t>Para desarrollar el sitio web se usaron principalmente herramientas open-source, esto debido a que el equipo determinó que suplen las necesidades de este proyecto, a continuación un desglose cada una y porque: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55651"/>
            <a:ext cx="3585947" cy="9467474"/>
            <a:chOff x="0" y="0"/>
            <a:chExt cx="944447" cy="2493491"/>
          </a:xfrm>
        </p:grpSpPr>
        <p:sp>
          <p:nvSpPr>
            <p:cNvPr name="Freeform 3" id="3"/>
            <p:cNvSpPr/>
            <p:nvPr/>
          </p:nvSpPr>
          <p:spPr>
            <a:xfrm flipH="false" flipV="false" rot="0">
              <a:off x="0" y="0"/>
              <a:ext cx="944447" cy="2493491"/>
            </a:xfrm>
            <a:custGeom>
              <a:avLst/>
              <a:gdLst/>
              <a:ahLst/>
              <a:cxnLst/>
              <a:rect r="r" b="b" t="t" l="l"/>
              <a:pathLst>
                <a:path h="2493491" w="944447">
                  <a:moveTo>
                    <a:pt x="0" y="0"/>
                  </a:moveTo>
                  <a:lnTo>
                    <a:pt x="944447" y="0"/>
                  </a:lnTo>
                  <a:lnTo>
                    <a:pt x="944447" y="2493491"/>
                  </a:lnTo>
                  <a:lnTo>
                    <a:pt x="0" y="2493491"/>
                  </a:lnTo>
                  <a:close/>
                </a:path>
              </a:pathLst>
            </a:custGeom>
            <a:solidFill>
              <a:srgbClr val="A6C3FF"/>
            </a:solidFill>
          </p:spPr>
        </p:sp>
        <p:sp>
          <p:nvSpPr>
            <p:cNvPr name="TextBox 4" id="4"/>
            <p:cNvSpPr txBox="true"/>
            <p:nvPr/>
          </p:nvSpPr>
          <p:spPr>
            <a:xfrm>
              <a:off x="0" y="-38100"/>
              <a:ext cx="944447" cy="2531591"/>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3585947" y="1201550"/>
            <a:ext cx="14702053" cy="10032059"/>
          </a:xfrm>
          <a:custGeom>
            <a:avLst/>
            <a:gdLst/>
            <a:ahLst/>
            <a:cxnLst/>
            <a:rect r="r" b="b" t="t" l="l"/>
            <a:pathLst>
              <a:path h="10032059" w="14702053">
                <a:moveTo>
                  <a:pt x="0" y="0"/>
                </a:moveTo>
                <a:lnTo>
                  <a:pt x="14702053" y="0"/>
                </a:lnTo>
                <a:lnTo>
                  <a:pt x="14702053" y="10032059"/>
                </a:lnTo>
                <a:lnTo>
                  <a:pt x="0" y="10032059"/>
                </a:lnTo>
                <a:lnTo>
                  <a:pt x="0" y="0"/>
                </a:lnTo>
                <a:close/>
              </a:path>
            </a:pathLst>
          </a:custGeom>
          <a:blipFill>
            <a:blip r:embed="rId2"/>
            <a:stretch>
              <a:fillRect l="-3842" t="-5305" r="-3842" b="0"/>
            </a:stretch>
          </a:blipFill>
        </p:spPr>
      </p:sp>
      <p:grpSp>
        <p:nvGrpSpPr>
          <p:cNvPr name="Group 6" id="6"/>
          <p:cNvGrpSpPr/>
          <p:nvPr/>
        </p:nvGrpSpPr>
        <p:grpSpPr>
          <a:xfrm rot="0">
            <a:off x="-1725922" y="-209550"/>
            <a:ext cx="20974315" cy="1465201"/>
            <a:chOff x="0" y="0"/>
            <a:chExt cx="5524100" cy="385897"/>
          </a:xfrm>
        </p:grpSpPr>
        <p:sp>
          <p:nvSpPr>
            <p:cNvPr name="Freeform 7" id="7"/>
            <p:cNvSpPr/>
            <p:nvPr/>
          </p:nvSpPr>
          <p:spPr>
            <a:xfrm flipH="false" flipV="false" rot="0">
              <a:off x="0" y="0"/>
              <a:ext cx="5524100" cy="385897"/>
            </a:xfrm>
            <a:custGeom>
              <a:avLst/>
              <a:gdLst/>
              <a:ahLst/>
              <a:cxnLst/>
              <a:rect r="r" b="b" t="t" l="l"/>
              <a:pathLst>
                <a:path h="385897" w="5524100">
                  <a:moveTo>
                    <a:pt x="0" y="0"/>
                  </a:moveTo>
                  <a:lnTo>
                    <a:pt x="5524100" y="0"/>
                  </a:lnTo>
                  <a:lnTo>
                    <a:pt x="5524100" y="385897"/>
                  </a:lnTo>
                  <a:lnTo>
                    <a:pt x="0" y="385897"/>
                  </a:lnTo>
                  <a:close/>
                </a:path>
              </a:pathLst>
            </a:custGeom>
            <a:solidFill>
              <a:srgbClr val="6595FF"/>
            </a:solidFill>
          </p:spPr>
        </p:sp>
        <p:sp>
          <p:nvSpPr>
            <p:cNvPr name="TextBox 8" id="8"/>
            <p:cNvSpPr txBox="true"/>
            <p:nvPr/>
          </p:nvSpPr>
          <p:spPr>
            <a:xfrm>
              <a:off x="0" y="-38100"/>
              <a:ext cx="5524100" cy="423997"/>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4236864" y="1540226"/>
            <a:ext cx="13400220" cy="8000527"/>
            <a:chOff x="0" y="0"/>
            <a:chExt cx="3529276" cy="2107135"/>
          </a:xfrm>
        </p:grpSpPr>
        <p:sp>
          <p:nvSpPr>
            <p:cNvPr name="Freeform 10" id="10"/>
            <p:cNvSpPr/>
            <p:nvPr/>
          </p:nvSpPr>
          <p:spPr>
            <a:xfrm flipH="false" flipV="false" rot="0">
              <a:off x="0" y="0"/>
              <a:ext cx="3529276" cy="2107135"/>
            </a:xfrm>
            <a:custGeom>
              <a:avLst/>
              <a:gdLst/>
              <a:ahLst/>
              <a:cxnLst/>
              <a:rect r="r" b="b" t="t" l="l"/>
              <a:pathLst>
                <a:path h="2107135" w="3529276">
                  <a:moveTo>
                    <a:pt x="25421" y="0"/>
                  </a:moveTo>
                  <a:lnTo>
                    <a:pt x="3503855" y="0"/>
                  </a:lnTo>
                  <a:cubicBezTo>
                    <a:pt x="3510597" y="0"/>
                    <a:pt x="3517063" y="2678"/>
                    <a:pt x="3521830" y="7446"/>
                  </a:cubicBezTo>
                  <a:cubicBezTo>
                    <a:pt x="3526598" y="12213"/>
                    <a:pt x="3529276" y="18679"/>
                    <a:pt x="3529276" y="25421"/>
                  </a:cubicBezTo>
                  <a:lnTo>
                    <a:pt x="3529276" y="2081714"/>
                  </a:lnTo>
                  <a:cubicBezTo>
                    <a:pt x="3529276" y="2088456"/>
                    <a:pt x="3526598" y="2094922"/>
                    <a:pt x="3521830" y="2099689"/>
                  </a:cubicBezTo>
                  <a:cubicBezTo>
                    <a:pt x="3517063" y="2104456"/>
                    <a:pt x="3510597" y="2107135"/>
                    <a:pt x="3503855" y="2107135"/>
                  </a:cubicBezTo>
                  <a:lnTo>
                    <a:pt x="25421" y="2107135"/>
                  </a:lnTo>
                  <a:cubicBezTo>
                    <a:pt x="18679" y="2107135"/>
                    <a:pt x="12213" y="2104456"/>
                    <a:pt x="7446" y="2099689"/>
                  </a:cubicBezTo>
                  <a:cubicBezTo>
                    <a:pt x="2678" y="2094922"/>
                    <a:pt x="0" y="2088456"/>
                    <a:pt x="0" y="2081714"/>
                  </a:cubicBezTo>
                  <a:lnTo>
                    <a:pt x="0" y="25421"/>
                  </a:lnTo>
                  <a:cubicBezTo>
                    <a:pt x="0" y="18679"/>
                    <a:pt x="2678" y="12213"/>
                    <a:pt x="7446" y="7446"/>
                  </a:cubicBezTo>
                  <a:cubicBezTo>
                    <a:pt x="12213" y="2678"/>
                    <a:pt x="18679" y="0"/>
                    <a:pt x="25421" y="0"/>
                  </a:cubicBezTo>
                  <a:close/>
                </a:path>
              </a:pathLst>
            </a:custGeom>
            <a:solidFill>
              <a:srgbClr val="FFFFFF">
                <a:alpha val="47843"/>
              </a:srgbClr>
            </a:solidFill>
            <a:ln w="38100" cap="rnd">
              <a:solidFill>
                <a:srgbClr val="6595FF">
                  <a:alpha val="47843"/>
                </a:srgbClr>
              </a:solidFill>
              <a:prstDash val="solid"/>
              <a:round/>
            </a:ln>
          </p:spPr>
        </p:sp>
        <p:sp>
          <p:nvSpPr>
            <p:cNvPr name="TextBox 11" id="11"/>
            <p:cNvSpPr txBox="true"/>
            <p:nvPr/>
          </p:nvSpPr>
          <p:spPr>
            <a:xfrm>
              <a:off x="0" y="-38100"/>
              <a:ext cx="3529276" cy="2145235"/>
            </a:xfrm>
            <a:prstGeom prst="rect">
              <a:avLst/>
            </a:prstGeom>
          </p:spPr>
          <p:txBody>
            <a:bodyPr anchor="ctr" rtlCol="false" tIns="50800" lIns="50800" bIns="50800" rIns="50800"/>
            <a:lstStyle/>
            <a:p>
              <a:pPr algn="ctr">
                <a:lnSpc>
                  <a:spcPts val="2659"/>
                </a:lnSpc>
              </a:pPr>
            </a:p>
          </p:txBody>
        </p:sp>
      </p:grpSp>
      <p:sp>
        <p:nvSpPr>
          <p:cNvPr name="AutoShape 12" id="12"/>
          <p:cNvSpPr/>
          <p:nvPr/>
        </p:nvSpPr>
        <p:spPr>
          <a:xfrm>
            <a:off x="4707250" y="2741097"/>
            <a:ext cx="3843858" cy="0"/>
          </a:xfrm>
          <a:prstGeom prst="line">
            <a:avLst/>
          </a:prstGeom>
          <a:ln cap="flat" w="38100">
            <a:solidFill>
              <a:srgbClr val="9BBAFF"/>
            </a:solidFill>
            <a:prstDash val="solid"/>
            <a:headEnd type="none" len="sm" w="sm"/>
            <a:tailEnd type="none" len="sm" w="sm"/>
          </a:ln>
        </p:spPr>
      </p:sp>
      <p:sp>
        <p:nvSpPr>
          <p:cNvPr name="TextBox 13" id="13"/>
          <p:cNvSpPr txBox="true"/>
          <p:nvPr/>
        </p:nvSpPr>
        <p:spPr>
          <a:xfrm rot="0">
            <a:off x="1247196" y="108583"/>
            <a:ext cx="10916135" cy="920117"/>
          </a:xfrm>
          <a:prstGeom prst="rect">
            <a:avLst/>
          </a:prstGeom>
        </p:spPr>
        <p:txBody>
          <a:bodyPr anchor="t" rtlCol="false" tIns="0" lIns="0" bIns="0" rIns="0">
            <a:spAutoFit/>
          </a:bodyPr>
          <a:lstStyle/>
          <a:p>
            <a:pPr algn="ctr">
              <a:lnSpc>
                <a:spcPts val="7559"/>
              </a:lnSpc>
              <a:spcBef>
                <a:spcPct val="0"/>
              </a:spcBef>
            </a:pPr>
            <a:r>
              <a:rPr lang="en-US" sz="5399">
                <a:solidFill>
                  <a:srgbClr val="FFFFFF"/>
                </a:solidFill>
                <a:latin typeface="Montserrat"/>
                <a:ea typeface="Montserrat"/>
                <a:cs typeface="Montserrat"/>
                <a:sym typeface="Montserrat"/>
              </a:rPr>
              <a:t>College choice helper</a:t>
            </a:r>
          </a:p>
        </p:txBody>
      </p:sp>
      <p:grpSp>
        <p:nvGrpSpPr>
          <p:cNvPr name="Group 14" id="14"/>
          <p:cNvGrpSpPr/>
          <p:nvPr/>
        </p:nvGrpSpPr>
        <p:grpSpPr>
          <a:xfrm rot="0">
            <a:off x="0" y="6101519"/>
            <a:ext cx="3585947" cy="760092"/>
            <a:chOff x="0" y="0"/>
            <a:chExt cx="944447" cy="200189"/>
          </a:xfrm>
        </p:grpSpPr>
        <p:sp>
          <p:nvSpPr>
            <p:cNvPr name="Freeform 15" id="15"/>
            <p:cNvSpPr/>
            <p:nvPr/>
          </p:nvSpPr>
          <p:spPr>
            <a:xfrm flipH="false" flipV="false" rot="0">
              <a:off x="0" y="0"/>
              <a:ext cx="944447" cy="200189"/>
            </a:xfrm>
            <a:custGeom>
              <a:avLst/>
              <a:gdLst/>
              <a:ahLst/>
              <a:cxnLst/>
              <a:rect r="r" b="b" t="t" l="l"/>
              <a:pathLst>
                <a:path h="200189" w="944447">
                  <a:moveTo>
                    <a:pt x="944447" y="0"/>
                  </a:moveTo>
                  <a:lnTo>
                    <a:pt x="944447" y="200189"/>
                  </a:lnTo>
                  <a:lnTo>
                    <a:pt x="0" y="200189"/>
                  </a:lnTo>
                  <a:lnTo>
                    <a:pt x="0" y="0"/>
                  </a:lnTo>
                  <a:close/>
                </a:path>
              </a:pathLst>
            </a:custGeom>
            <a:solidFill>
              <a:srgbClr val="6595FF">
                <a:alpha val="81961"/>
              </a:srgbClr>
            </a:solidFill>
          </p:spPr>
        </p:sp>
        <p:sp>
          <p:nvSpPr>
            <p:cNvPr name="TextBox 16" id="16"/>
            <p:cNvSpPr txBox="true"/>
            <p:nvPr/>
          </p:nvSpPr>
          <p:spPr>
            <a:xfrm>
              <a:off x="0" y="-38100"/>
              <a:ext cx="944447" cy="238289"/>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0">
            <a:off x="1278624" y="97559"/>
            <a:ext cx="1028700" cy="1028700"/>
          </a:xfrm>
          <a:custGeom>
            <a:avLst/>
            <a:gdLst/>
            <a:ahLst/>
            <a:cxnLst/>
            <a:rect r="r" b="b" t="t" l="l"/>
            <a:pathLst>
              <a:path h="1028700" w="1028700">
                <a:moveTo>
                  <a:pt x="0" y="0"/>
                </a:moveTo>
                <a:lnTo>
                  <a:pt x="1028700" y="0"/>
                </a:lnTo>
                <a:lnTo>
                  <a:pt x="1028700" y="1028700"/>
                </a:lnTo>
                <a:lnTo>
                  <a:pt x="0" y="1028700"/>
                </a:lnTo>
                <a:lnTo>
                  <a:pt x="0" y="0"/>
                </a:lnTo>
                <a:close/>
              </a:path>
            </a:pathLst>
          </a:custGeom>
          <a:blipFill>
            <a:blip r:embed="rId3"/>
            <a:stretch>
              <a:fillRect l="0" t="0" r="0" b="0"/>
            </a:stretch>
          </a:blipFill>
        </p:spPr>
      </p:sp>
      <p:sp>
        <p:nvSpPr>
          <p:cNvPr name="Freeform 18" id="18"/>
          <p:cNvSpPr/>
          <p:nvPr/>
        </p:nvSpPr>
        <p:spPr>
          <a:xfrm flipH="false" flipV="false" rot="0">
            <a:off x="5340400" y="3661420"/>
            <a:ext cx="4652604" cy="2964159"/>
          </a:xfrm>
          <a:custGeom>
            <a:avLst/>
            <a:gdLst/>
            <a:ahLst/>
            <a:cxnLst/>
            <a:rect r="r" b="b" t="t" l="l"/>
            <a:pathLst>
              <a:path h="2964159" w="4652604">
                <a:moveTo>
                  <a:pt x="0" y="0"/>
                </a:moveTo>
                <a:lnTo>
                  <a:pt x="4652605" y="0"/>
                </a:lnTo>
                <a:lnTo>
                  <a:pt x="4652605" y="2964160"/>
                </a:lnTo>
                <a:lnTo>
                  <a:pt x="0" y="2964160"/>
                </a:lnTo>
                <a:lnTo>
                  <a:pt x="0" y="0"/>
                </a:lnTo>
                <a:close/>
              </a:path>
            </a:pathLst>
          </a:custGeom>
          <a:blipFill>
            <a:blip r:embed="rId4"/>
            <a:stretch>
              <a:fillRect l="0" t="0" r="0" b="0"/>
            </a:stretch>
          </a:blipFill>
        </p:spPr>
      </p:sp>
      <p:sp>
        <p:nvSpPr>
          <p:cNvPr name="Freeform 19" id="19"/>
          <p:cNvSpPr/>
          <p:nvPr/>
        </p:nvSpPr>
        <p:spPr>
          <a:xfrm flipH="false" flipV="false" rot="0">
            <a:off x="12164705" y="3385230"/>
            <a:ext cx="3321072" cy="3389831"/>
          </a:xfrm>
          <a:custGeom>
            <a:avLst/>
            <a:gdLst/>
            <a:ahLst/>
            <a:cxnLst/>
            <a:rect r="r" b="b" t="t" l="l"/>
            <a:pathLst>
              <a:path h="3389831" w="3321072">
                <a:moveTo>
                  <a:pt x="0" y="0"/>
                </a:moveTo>
                <a:lnTo>
                  <a:pt x="3321071" y="0"/>
                </a:lnTo>
                <a:lnTo>
                  <a:pt x="3321071" y="3389831"/>
                </a:lnTo>
                <a:lnTo>
                  <a:pt x="0" y="3389831"/>
                </a:lnTo>
                <a:lnTo>
                  <a:pt x="0" y="0"/>
                </a:lnTo>
                <a:close/>
              </a:path>
            </a:pathLst>
          </a:custGeom>
          <a:blipFill>
            <a:blip r:embed="rId5"/>
            <a:stretch>
              <a:fillRect l="0" t="0" r="0" b="0"/>
            </a:stretch>
          </a:blipFill>
        </p:spPr>
      </p:sp>
      <p:sp>
        <p:nvSpPr>
          <p:cNvPr name="Freeform 20" id="20"/>
          <p:cNvSpPr/>
          <p:nvPr/>
        </p:nvSpPr>
        <p:spPr>
          <a:xfrm flipH="false" flipV="false" rot="0">
            <a:off x="6839300" y="6982915"/>
            <a:ext cx="6864509" cy="2325353"/>
          </a:xfrm>
          <a:custGeom>
            <a:avLst/>
            <a:gdLst/>
            <a:ahLst/>
            <a:cxnLst/>
            <a:rect r="r" b="b" t="t" l="l"/>
            <a:pathLst>
              <a:path h="2325353" w="6864509">
                <a:moveTo>
                  <a:pt x="0" y="0"/>
                </a:moveTo>
                <a:lnTo>
                  <a:pt x="6864509" y="0"/>
                </a:lnTo>
                <a:lnTo>
                  <a:pt x="6864509" y="2325352"/>
                </a:lnTo>
                <a:lnTo>
                  <a:pt x="0" y="2325352"/>
                </a:lnTo>
                <a:lnTo>
                  <a:pt x="0" y="0"/>
                </a:lnTo>
                <a:close/>
              </a:path>
            </a:pathLst>
          </a:custGeom>
          <a:blipFill>
            <a:blip r:embed="rId6"/>
            <a:stretch>
              <a:fillRect l="0" t="0" r="0" b="0"/>
            </a:stretch>
          </a:blipFill>
        </p:spPr>
      </p:sp>
      <p:sp>
        <p:nvSpPr>
          <p:cNvPr name="TextBox 21" id="21"/>
          <p:cNvSpPr txBox="true"/>
          <p:nvPr/>
        </p:nvSpPr>
        <p:spPr>
          <a:xfrm rot="0">
            <a:off x="4707250" y="1779707"/>
            <a:ext cx="3892199" cy="795022"/>
          </a:xfrm>
          <a:prstGeom prst="rect">
            <a:avLst/>
          </a:prstGeom>
        </p:spPr>
        <p:txBody>
          <a:bodyPr anchor="t" rtlCol="false" tIns="0" lIns="0" bIns="0" rIns="0">
            <a:spAutoFit/>
          </a:bodyPr>
          <a:lstStyle/>
          <a:p>
            <a:pPr algn="ctr">
              <a:lnSpc>
                <a:spcPts val="6579"/>
              </a:lnSpc>
              <a:spcBef>
                <a:spcPct val="0"/>
              </a:spcBef>
            </a:pPr>
            <a:r>
              <a:rPr lang="en-US" sz="4699">
                <a:solidFill>
                  <a:srgbClr val="000000"/>
                </a:solidFill>
                <a:latin typeface="Montserrat"/>
                <a:ea typeface="Montserrat"/>
                <a:cs typeface="Montserrat"/>
                <a:sym typeface="Montserrat"/>
              </a:rPr>
              <a:t>Arquitectura</a:t>
            </a:r>
          </a:p>
        </p:txBody>
      </p:sp>
      <p:sp>
        <p:nvSpPr>
          <p:cNvPr name="TextBox 22" id="22"/>
          <p:cNvSpPr txBox="true"/>
          <p:nvPr/>
        </p:nvSpPr>
        <p:spPr>
          <a:xfrm rot="0">
            <a:off x="238804" y="1827332"/>
            <a:ext cx="3108340"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Contenido</a:t>
            </a:r>
          </a:p>
        </p:txBody>
      </p:sp>
      <p:sp>
        <p:nvSpPr>
          <p:cNvPr name="TextBox 23" id="23"/>
          <p:cNvSpPr txBox="true"/>
          <p:nvPr/>
        </p:nvSpPr>
        <p:spPr>
          <a:xfrm rot="0">
            <a:off x="1200415" y="2722047"/>
            <a:ext cx="1185118"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Problema</a:t>
            </a:r>
          </a:p>
        </p:txBody>
      </p:sp>
      <p:sp>
        <p:nvSpPr>
          <p:cNvPr name="TextBox 24" id="24"/>
          <p:cNvSpPr txBox="true"/>
          <p:nvPr/>
        </p:nvSpPr>
        <p:spPr>
          <a:xfrm rot="0">
            <a:off x="415874" y="3616762"/>
            <a:ext cx="2754200"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Propuesta de solucion</a:t>
            </a:r>
          </a:p>
        </p:txBody>
      </p:sp>
      <p:sp>
        <p:nvSpPr>
          <p:cNvPr name="TextBox 25" id="25"/>
          <p:cNvSpPr txBox="true"/>
          <p:nvPr/>
        </p:nvSpPr>
        <p:spPr>
          <a:xfrm rot="0">
            <a:off x="681302" y="4511477"/>
            <a:ext cx="222334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Costos y viabilidad</a:t>
            </a:r>
          </a:p>
        </p:txBody>
      </p:sp>
      <p:sp>
        <p:nvSpPr>
          <p:cNvPr name="TextBox 26" id="26"/>
          <p:cNvSpPr txBox="true"/>
          <p:nvPr/>
        </p:nvSpPr>
        <p:spPr>
          <a:xfrm rot="0">
            <a:off x="961992" y="5406192"/>
            <a:ext cx="1661964"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Herramientas</a:t>
            </a:r>
          </a:p>
        </p:txBody>
      </p:sp>
      <p:sp>
        <p:nvSpPr>
          <p:cNvPr name="TextBox 27" id="27"/>
          <p:cNvSpPr txBox="true"/>
          <p:nvPr/>
        </p:nvSpPr>
        <p:spPr>
          <a:xfrm rot="0">
            <a:off x="4707250" y="2864604"/>
            <a:ext cx="9534321" cy="455330"/>
          </a:xfrm>
          <a:prstGeom prst="rect">
            <a:avLst/>
          </a:prstGeom>
        </p:spPr>
        <p:txBody>
          <a:bodyPr anchor="t" rtlCol="false" tIns="0" lIns="0" bIns="0" rIns="0">
            <a:spAutoFit/>
          </a:bodyPr>
          <a:lstStyle/>
          <a:p>
            <a:pPr algn="ctr">
              <a:lnSpc>
                <a:spcPts val="2656"/>
              </a:lnSpc>
            </a:pPr>
            <a:r>
              <a:rPr lang="en-US" sz="1897">
                <a:solidFill>
                  <a:srgbClr val="000000"/>
                </a:solidFill>
                <a:latin typeface="Montserrat"/>
                <a:ea typeface="Montserrat"/>
                <a:cs typeface="Montserrat"/>
                <a:sym typeface="Montserrat"/>
              </a:rPr>
              <a:t>Se realizaron diferentes diagramas para comprender la estructura del sistema.</a:t>
            </a:r>
          </a:p>
          <a:p>
            <a:pPr algn="ctr" marL="0" indent="0" lvl="0">
              <a:lnSpc>
                <a:spcPts val="976"/>
              </a:lnSpc>
              <a:spcBef>
                <a:spcPct val="0"/>
              </a:spcBef>
            </a:pPr>
          </a:p>
        </p:txBody>
      </p:sp>
      <p:sp>
        <p:nvSpPr>
          <p:cNvPr name="TextBox 28" id="28"/>
          <p:cNvSpPr txBox="true"/>
          <p:nvPr/>
        </p:nvSpPr>
        <p:spPr>
          <a:xfrm rot="0">
            <a:off x="1027402" y="6300907"/>
            <a:ext cx="1531144"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Arquitectura</a:t>
            </a:r>
          </a:p>
        </p:txBody>
      </p:sp>
      <p:sp>
        <p:nvSpPr>
          <p:cNvPr name="TextBox 29" id="29"/>
          <p:cNvSpPr txBox="true"/>
          <p:nvPr/>
        </p:nvSpPr>
        <p:spPr>
          <a:xfrm rot="0">
            <a:off x="1167077" y="7195622"/>
            <a:ext cx="125179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Seguridad</a:t>
            </a:r>
          </a:p>
        </p:txBody>
      </p:sp>
      <p:sp>
        <p:nvSpPr>
          <p:cNvPr name="TextBox 30" id="30"/>
          <p:cNvSpPr txBox="true"/>
          <p:nvPr/>
        </p:nvSpPr>
        <p:spPr>
          <a:xfrm rot="0">
            <a:off x="198652" y="8090337"/>
            <a:ext cx="318864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Aseguramiento de calidad</a:t>
            </a:r>
          </a:p>
        </p:txBody>
      </p:sp>
      <p:sp>
        <p:nvSpPr>
          <p:cNvPr name="TextBox 31" id="31"/>
          <p:cNvSpPr txBox="true"/>
          <p:nvPr/>
        </p:nvSpPr>
        <p:spPr>
          <a:xfrm rot="0">
            <a:off x="381041" y="8985052"/>
            <a:ext cx="2823865"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Herramientas Similares</a:t>
            </a:r>
          </a:p>
        </p:txBody>
      </p:sp>
      <p:sp>
        <p:nvSpPr>
          <p:cNvPr name="TextBox 32" id="32"/>
          <p:cNvSpPr txBox="true"/>
          <p:nvPr/>
        </p:nvSpPr>
        <p:spPr>
          <a:xfrm rot="0">
            <a:off x="932226" y="9879767"/>
            <a:ext cx="1721495"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Demostracion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55651"/>
            <a:ext cx="3585947" cy="9467474"/>
            <a:chOff x="0" y="0"/>
            <a:chExt cx="944447" cy="2493491"/>
          </a:xfrm>
        </p:grpSpPr>
        <p:sp>
          <p:nvSpPr>
            <p:cNvPr name="Freeform 3" id="3"/>
            <p:cNvSpPr/>
            <p:nvPr/>
          </p:nvSpPr>
          <p:spPr>
            <a:xfrm flipH="false" flipV="false" rot="0">
              <a:off x="0" y="0"/>
              <a:ext cx="944447" cy="2493491"/>
            </a:xfrm>
            <a:custGeom>
              <a:avLst/>
              <a:gdLst/>
              <a:ahLst/>
              <a:cxnLst/>
              <a:rect r="r" b="b" t="t" l="l"/>
              <a:pathLst>
                <a:path h="2493491" w="944447">
                  <a:moveTo>
                    <a:pt x="0" y="0"/>
                  </a:moveTo>
                  <a:lnTo>
                    <a:pt x="944447" y="0"/>
                  </a:lnTo>
                  <a:lnTo>
                    <a:pt x="944447" y="2493491"/>
                  </a:lnTo>
                  <a:lnTo>
                    <a:pt x="0" y="2493491"/>
                  </a:lnTo>
                  <a:close/>
                </a:path>
              </a:pathLst>
            </a:custGeom>
            <a:solidFill>
              <a:srgbClr val="A6C3FF"/>
            </a:solidFill>
          </p:spPr>
        </p:sp>
        <p:sp>
          <p:nvSpPr>
            <p:cNvPr name="TextBox 4" id="4"/>
            <p:cNvSpPr txBox="true"/>
            <p:nvPr/>
          </p:nvSpPr>
          <p:spPr>
            <a:xfrm>
              <a:off x="0" y="-38100"/>
              <a:ext cx="944447" cy="2531591"/>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3585947" y="1201550"/>
            <a:ext cx="14702053" cy="10032059"/>
          </a:xfrm>
          <a:custGeom>
            <a:avLst/>
            <a:gdLst/>
            <a:ahLst/>
            <a:cxnLst/>
            <a:rect r="r" b="b" t="t" l="l"/>
            <a:pathLst>
              <a:path h="10032059" w="14702053">
                <a:moveTo>
                  <a:pt x="0" y="0"/>
                </a:moveTo>
                <a:lnTo>
                  <a:pt x="14702053" y="0"/>
                </a:lnTo>
                <a:lnTo>
                  <a:pt x="14702053" y="10032059"/>
                </a:lnTo>
                <a:lnTo>
                  <a:pt x="0" y="10032059"/>
                </a:lnTo>
                <a:lnTo>
                  <a:pt x="0" y="0"/>
                </a:lnTo>
                <a:close/>
              </a:path>
            </a:pathLst>
          </a:custGeom>
          <a:blipFill>
            <a:blip r:embed="rId2"/>
            <a:stretch>
              <a:fillRect l="-3842" t="-5305" r="-3842" b="0"/>
            </a:stretch>
          </a:blipFill>
        </p:spPr>
      </p:sp>
      <p:grpSp>
        <p:nvGrpSpPr>
          <p:cNvPr name="Group 6" id="6"/>
          <p:cNvGrpSpPr/>
          <p:nvPr/>
        </p:nvGrpSpPr>
        <p:grpSpPr>
          <a:xfrm rot="0">
            <a:off x="-1725922" y="-209550"/>
            <a:ext cx="20974315" cy="1465201"/>
            <a:chOff x="0" y="0"/>
            <a:chExt cx="5524100" cy="385897"/>
          </a:xfrm>
        </p:grpSpPr>
        <p:sp>
          <p:nvSpPr>
            <p:cNvPr name="Freeform 7" id="7"/>
            <p:cNvSpPr/>
            <p:nvPr/>
          </p:nvSpPr>
          <p:spPr>
            <a:xfrm flipH="false" flipV="false" rot="0">
              <a:off x="0" y="0"/>
              <a:ext cx="5524100" cy="385897"/>
            </a:xfrm>
            <a:custGeom>
              <a:avLst/>
              <a:gdLst/>
              <a:ahLst/>
              <a:cxnLst/>
              <a:rect r="r" b="b" t="t" l="l"/>
              <a:pathLst>
                <a:path h="385897" w="5524100">
                  <a:moveTo>
                    <a:pt x="0" y="0"/>
                  </a:moveTo>
                  <a:lnTo>
                    <a:pt x="5524100" y="0"/>
                  </a:lnTo>
                  <a:lnTo>
                    <a:pt x="5524100" y="385897"/>
                  </a:lnTo>
                  <a:lnTo>
                    <a:pt x="0" y="385897"/>
                  </a:lnTo>
                  <a:close/>
                </a:path>
              </a:pathLst>
            </a:custGeom>
            <a:solidFill>
              <a:srgbClr val="6595FF"/>
            </a:solidFill>
          </p:spPr>
        </p:sp>
        <p:sp>
          <p:nvSpPr>
            <p:cNvPr name="TextBox 8" id="8"/>
            <p:cNvSpPr txBox="true"/>
            <p:nvPr/>
          </p:nvSpPr>
          <p:spPr>
            <a:xfrm>
              <a:off x="0" y="-38100"/>
              <a:ext cx="5524100" cy="423997"/>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3815169" y="1490247"/>
            <a:ext cx="14310642" cy="8712735"/>
            <a:chOff x="0" y="0"/>
            <a:chExt cx="3769058" cy="2294712"/>
          </a:xfrm>
        </p:grpSpPr>
        <p:sp>
          <p:nvSpPr>
            <p:cNvPr name="Freeform 10" id="10"/>
            <p:cNvSpPr/>
            <p:nvPr/>
          </p:nvSpPr>
          <p:spPr>
            <a:xfrm flipH="false" flipV="false" rot="0">
              <a:off x="0" y="0"/>
              <a:ext cx="3769058" cy="2294712"/>
            </a:xfrm>
            <a:custGeom>
              <a:avLst/>
              <a:gdLst/>
              <a:ahLst/>
              <a:cxnLst/>
              <a:rect r="r" b="b" t="t" l="l"/>
              <a:pathLst>
                <a:path h="2294712" w="3769058">
                  <a:moveTo>
                    <a:pt x="23804" y="0"/>
                  </a:moveTo>
                  <a:lnTo>
                    <a:pt x="3745254" y="0"/>
                  </a:lnTo>
                  <a:cubicBezTo>
                    <a:pt x="3751568" y="0"/>
                    <a:pt x="3757622" y="2508"/>
                    <a:pt x="3762086" y="6972"/>
                  </a:cubicBezTo>
                  <a:cubicBezTo>
                    <a:pt x="3766550" y="11436"/>
                    <a:pt x="3769058" y="17490"/>
                    <a:pt x="3769058" y="23804"/>
                  </a:cubicBezTo>
                  <a:lnTo>
                    <a:pt x="3769058" y="2270908"/>
                  </a:lnTo>
                  <a:cubicBezTo>
                    <a:pt x="3769058" y="2284055"/>
                    <a:pt x="3758401" y="2294712"/>
                    <a:pt x="3745254" y="2294712"/>
                  </a:cubicBezTo>
                  <a:lnTo>
                    <a:pt x="23804" y="2294712"/>
                  </a:lnTo>
                  <a:cubicBezTo>
                    <a:pt x="17490" y="2294712"/>
                    <a:pt x="11436" y="2292204"/>
                    <a:pt x="6972" y="2287740"/>
                  </a:cubicBezTo>
                  <a:cubicBezTo>
                    <a:pt x="2508" y="2283276"/>
                    <a:pt x="0" y="2277222"/>
                    <a:pt x="0" y="2270908"/>
                  </a:cubicBezTo>
                  <a:lnTo>
                    <a:pt x="0" y="23804"/>
                  </a:lnTo>
                  <a:cubicBezTo>
                    <a:pt x="0" y="17490"/>
                    <a:pt x="2508" y="11436"/>
                    <a:pt x="6972" y="6972"/>
                  </a:cubicBezTo>
                  <a:cubicBezTo>
                    <a:pt x="11436" y="2508"/>
                    <a:pt x="17490" y="0"/>
                    <a:pt x="23804" y="0"/>
                  </a:cubicBezTo>
                  <a:close/>
                </a:path>
              </a:pathLst>
            </a:custGeom>
            <a:solidFill>
              <a:srgbClr val="FFFFFF">
                <a:alpha val="47843"/>
              </a:srgbClr>
            </a:solidFill>
            <a:ln w="38100" cap="rnd">
              <a:solidFill>
                <a:srgbClr val="6595FF">
                  <a:alpha val="47843"/>
                </a:srgbClr>
              </a:solidFill>
              <a:prstDash val="solid"/>
              <a:round/>
            </a:ln>
          </p:spPr>
        </p:sp>
        <p:sp>
          <p:nvSpPr>
            <p:cNvPr name="TextBox 11" id="11"/>
            <p:cNvSpPr txBox="true"/>
            <p:nvPr/>
          </p:nvSpPr>
          <p:spPr>
            <a:xfrm>
              <a:off x="0" y="-38100"/>
              <a:ext cx="3769058" cy="2332812"/>
            </a:xfrm>
            <a:prstGeom prst="rect">
              <a:avLst/>
            </a:prstGeom>
          </p:spPr>
          <p:txBody>
            <a:bodyPr anchor="ctr" rtlCol="false" tIns="50800" lIns="50800" bIns="50800" rIns="50800"/>
            <a:lstStyle/>
            <a:p>
              <a:pPr algn="ctr">
                <a:lnSpc>
                  <a:spcPts val="2659"/>
                </a:lnSpc>
              </a:pPr>
            </a:p>
          </p:txBody>
        </p:sp>
      </p:grpSp>
      <p:sp>
        <p:nvSpPr>
          <p:cNvPr name="AutoShape 12" id="12"/>
          <p:cNvSpPr/>
          <p:nvPr/>
        </p:nvSpPr>
        <p:spPr>
          <a:xfrm>
            <a:off x="4783335" y="2514709"/>
            <a:ext cx="3977901" cy="0"/>
          </a:xfrm>
          <a:prstGeom prst="line">
            <a:avLst/>
          </a:prstGeom>
          <a:ln cap="flat" w="38100">
            <a:solidFill>
              <a:srgbClr val="9BBAFF"/>
            </a:solidFill>
            <a:prstDash val="solid"/>
            <a:headEnd type="none" len="sm" w="sm"/>
            <a:tailEnd type="none" len="sm" w="sm"/>
          </a:ln>
        </p:spPr>
      </p:sp>
      <p:sp>
        <p:nvSpPr>
          <p:cNvPr name="TextBox 13" id="13"/>
          <p:cNvSpPr txBox="true"/>
          <p:nvPr/>
        </p:nvSpPr>
        <p:spPr>
          <a:xfrm rot="0">
            <a:off x="1247196" y="108583"/>
            <a:ext cx="10916135" cy="920117"/>
          </a:xfrm>
          <a:prstGeom prst="rect">
            <a:avLst/>
          </a:prstGeom>
        </p:spPr>
        <p:txBody>
          <a:bodyPr anchor="t" rtlCol="false" tIns="0" lIns="0" bIns="0" rIns="0">
            <a:spAutoFit/>
          </a:bodyPr>
          <a:lstStyle/>
          <a:p>
            <a:pPr algn="ctr">
              <a:lnSpc>
                <a:spcPts val="7559"/>
              </a:lnSpc>
              <a:spcBef>
                <a:spcPct val="0"/>
              </a:spcBef>
            </a:pPr>
            <a:r>
              <a:rPr lang="en-US" sz="5399">
                <a:solidFill>
                  <a:srgbClr val="FFFFFF"/>
                </a:solidFill>
                <a:latin typeface="Montserrat"/>
                <a:ea typeface="Montserrat"/>
                <a:cs typeface="Montserrat"/>
                <a:sym typeface="Montserrat"/>
              </a:rPr>
              <a:t>College choice helper</a:t>
            </a:r>
          </a:p>
        </p:txBody>
      </p:sp>
      <p:grpSp>
        <p:nvGrpSpPr>
          <p:cNvPr name="Group 14" id="14"/>
          <p:cNvGrpSpPr/>
          <p:nvPr/>
        </p:nvGrpSpPr>
        <p:grpSpPr>
          <a:xfrm rot="0">
            <a:off x="0" y="6996234"/>
            <a:ext cx="3585947" cy="760092"/>
            <a:chOff x="0" y="0"/>
            <a:chExt cx="944447" cy="200189"/>
          </a:xfrm>
        </p:grpSpPr>
        <p:sp>
          <p:nvSpPr>
            <p:cNvPr name="Freeform 15" id="15"/>
            <p:cNvSpPr/>
            <p:nvPr/>
          </p:nvSpPr>
          <p:spPr>
            <a:xfrm flipH="false" flipV="false" rot="0">
              <a:off x="0" y="0"/>
              <a:ext cx="944447" cy="200189"/>
            </a:xfrm>
            <a:custGeom>
              <a:avLst/>
              <a:gdLst/>
              <a:ahLst/>
              <a:cxnLst/>
              <a:rect r="r" b="b" t="t" l="l"/>
              <a:pathLst>
                <a:path h="200189" w="944447">
                  <a:moveTo>
                    <a:pt x="944447" y="0"/>
                  </a:moveTo>
                  <a:lnTo>
                    <a:pt x="944447" y="200189"/>
                  </a:lnTo>
                  <a:lnTo>
                    <a:pt x="0" y="200189"/>
                  </a:lnTo>
                  <a:lnTo>
                    <a:pt x="0" y="0"/>
                  </a:lnTo>
                  <a:close/>
                </a:path>
              </a:pathLst>
            </a:custGeom>
            <a:solidFill>
              <a:srgbClr val="6595FF">
                <a:alpha val="81961"/>
              </a:srgbClr>
            </a:solidFill>
          </p:spPr>
        </p:sp>
        <p:sp>
          <p:nvSpPr>
            <p:cNvPr name="TextBox 16" id="16"/>
            <p:cNvSpPr txBox="true"/>
            <p:nvPr/>
          </p:nvSpPr>
          <p:spPr>
            <a:xfrm>
              <a:off x="0" y="-38100"/>
              <a:ext cx="944447" cy="238289"/>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0">
            <a:off x="1356833" y="97559"/>
            <a:ext cx="1028700" cy="1028700"/>
          </a:xfrm>
          <a:custGeom>
            <a:avLst/>
            <a:gdLst/>
            <a:ahLst/>
            <a:cxnLst/>
            <a:rect r="r" b="b" t="t" l="l"/>
            <a:pathLst>
              <a:path h="1028700" w="1028700">
                <a:moveTo>
                  <a:pt x="0" y="0"/>
                </a:moveTo>
                <a:lnTo>
                  <a:pt x="1028700" y="0"/>
                </a:lnTo>
                <a:lnTo>
                  <a:pt x="1028700" y="1028700"/>
                </a:lnTo>
                <a:lnTo>
                  <a:pt x="0" y="1028700"/>
                </a:lnTo>
                <a:lnTo>
                  <a:pt x="0" y="0"/>
                </a:lnTo>
                <a:close/>
              </a:path>
            </a:pathLst>
          </a:custGeom>
          <a:blipFill>
            <a:blip r:embed="rId3"/>
            <a:stretch>
              <a:fillRect l="0" t="0" r="0" b="0"/>
            </a:stretch>
          </a:blipFill>
        </p:spPr>
      </p:sp>
      <p:sp>
        <p:nvSpPr>
          <p:cNvPr name="Freeform 18" id="18"/>
          <p:cNvSpPr/>
          <p:nvPr/>
        </p:nvSpPr>
        <p:spPr>
          <a:xfrm flipH="false" flipV="false" rot="0">
            <a:off x="4274188" y="6602643"/>
            <a:ext cx="6489761" cy="2688315"/>
          </a:xfrm>
          <a:custGeom>
            <a:avLst/>
            <a:gdLst/>
            <a:ahLst/>
            <a:cxnLst/>
            <a:rect r="r" b="b" t="t" l="l"/>
            <a:pathLst>
              <a:path h="2688315" w="6489761">
                <a:moveTo>
                  <a:pt x="0" y="0"/>
                </a:moveTo>
                <a:lnTo>
                  <a:pt x="6489761" y="0"/>
                </a:lnTo>
                <a:lnTo>
                  <a:pt x="6489761" y="2688315"/>
                </a:lnTo>
                <a:lnTo>
                  <a:pt x="0" y="2688315"/>
                </a:lnTo>
                <a:lnTo>
                  <a:pt x="0" y="0"/>
                </a:lnTo>
                <a:close/>
              </a:path>
            </a:pathLst>
          </a:custGeom>
          <a:blipFill>
            <a:blip r:embed="rId4"/>
            <a:stretch>
              <a:fillRect l="0" t="0" r="0" b="0"/>
            </a:stretch>
          </a:blipFill>
        </p:spPr>
      </p:sp>
      <p:sp>
        <p:nvSpPr>
          <p:cNvPr name="Freeform 19" id="19"/>
          <p:cNvSpPr/>
          <p:nvPr/>
        </p:nvSpPr>
        <p:spPr>
          <a:xfrm flipH="false" flipV="false" rot="0">
            <a:off x="11029297" y="6127152"/>
            <a:ext cx="6729818" cy="3790715"/>
          </a:xfrm>
          <a:custGeom>
            <a:avLst/>
            <a:gdLst/>
            <a:ahLst/>
            <a:cxnLst/>
            <a:rect r="r" b="b" t="t" l="l"/>
            <a:pathLst>
              <a:path h="3790715" w="6729818">
                <a:moveTo>
                  <a:pt x="0" y="0"/>
                </a:moveTo>
                <a:lnTo>
                  <a:pt x="6729818" y="0"/>
                </a:lnTo>
                <a:lnTo>
                  <a:pt x="6729818" y="3790715"/>
                </a:lnTo>
                <a:lnTo>
                  <a:pt x="0" y="3790715"/>
                </a:lnTo>
                <a:lnTo>
                  <a:pt x="0" y="0"/>
                </a:lnTo>
                <a:close/>
              </a:path>
            </a:pathLst>
          </a:custGeom>
          <a:blipFill>
            <a:blip r:embed="rId5"/>
            <a:stretch>
              <a:fillRect l="0" t="0" r="0" b="0"/>
            </a:stretch>
          </a:blipFill>
        </p:spPr>
      </p:sp>
      <p:grpSp>
        <p:nvGrpSpPr>
          <p:cNvPr name="Group 20" id="20"/>
          <p:cNvGrpSpPr/>
          <p:nvPr/>
        </p:nvGrpSpPr>
        <p:grpSpPr>
          <a:xfrm rot="0">
            <a:off x="4192711" y="2666780"/>
            <a:ext cx="13673173" cy="3307213"/>
            <a:chOff x="0" y="0"/>
            <a:chExt cx="3601096" cy="870950"/>
          </a:xfrm>
        </p:grpSpPr>
        <p:sp>
          <p:nvSpPr>
            <p:cNvPr name="Freeform 21" id="21"/>
            <p:cNvSpPr/>
            <p:nvPr/>
          </p:nvSpPr>
          <p:spPr>
            <a:xfrm flipH="false" flipV="false" rot="0">
              <a:off x="0" y="0"/>
              <a:ext cx="3601096" cy="870950"/>
            </a:xfrm>
            <a:custGeom>
              <a:avLst/>
              <a:gdLst/>
              <a:ahLst/>
              <a:cxnLst/>
              <a:rect r="r" b="b" t="t" l="l"/>
              <a:pathLst>
                <a:path h="870950" w="3601096">
                  <a:moveTo>
                    <a:pt x="3601096" y="0"/>
                  </a:moveTo>
                  <a:lnTo>
                    <a:pt x="3601096" y="870950"/>
                  </a:lnTo>
                  <a:lnTo>
                    <a:pt x="0" y="870950"/>
                  </a:lnTo>
                  <a:lnTo>
                    <a:pt x="0" y="0"/>
                  </a:lnTo>
                  <a:close/>
                </a:path>
              </a:pathLst>
            </a:custGeom>
            <a:solidFill>
              <a:srgbClr val="000000">
                <a:alpha val="87843"/>
              </a:srgbClr>
            </a:solidFill>
            <a:ln w="952500" cap="sq">
              <a:solidFill>
                <a:srgbClr val="000000">
                  <a:alpha val="87843"/>
                </a:srgbClr>
              </a:solidFill>
              <a:prstDash val="solid"/>
              <a:miter/>
            </a:ln>
          </p:spPr>
        </p:sp>
        <p:sp>
          <p:nvSpPr>
            <p:cNvPr name="TextBox 22" id="22"/>
            <p:cNvSpPr txBox="true"/>
            <p:nvPr/>
          </p:nvSpPr>
          <p:spPr>
            <a:xfrm>
              <a:off x="0" y="-38100"/>
              <a:ext cx="3601096" cy="909050"/>
            </a:xfrm>
            <a:prstGeom prst="rect">
              <a:avLst/>
            </a:prstGeom>
          </p:spPr>
          <p:txBody>
            <a:bodyPr anchor="ctr" rtlCol="false" tIns="50800" lIns="50800" bIns="50800" rIns="50800"/>
            <a:lstStyle/>
            <a:p>
              <a:pPr algn="ctr">
                <a:lnSpc>
                  <a:spcPts val="2659"/>
                </a:lnSpc>
              </a:pPr>
            </a:p>
          </p:txBody>
        </p:sp>
      </p:grpSp>
      <p:sp>
        <p:nvSpPr>
          <p:cNvPr name="Freeform 23" id="23"/>
          <p:cNvSpPr/>
          <p:nvPr/>
        </p:nvSpPr>
        <p:spPr>
          <a:xfrm flipH="false" flipV="false" rot="0">
            <a:off x="8022734" y="1653341"/>
            <a:ext cx="738502" cy="738502"/>
          </a:xfrm>
          <a:custGeom>
            <a:avLst/>
            <a:gdLst/>
            <a:ahLst/>
            <a:cxnLst/>
            <a:rect r="r" b="b" t="t" l="l"/>
            <a:pathLst>
              <a:path h="738502" w="738502">
                <a:moveTo>
                  <a:pt x="0" y="0"/>
                </a:moveTo>
                <a:lnTo>
                  <a:pt x="738502" y="0"/>
                </a:lnTo>
                <a:lnTo>
                  <a:pt x="738502" y="738502"/>
                </a:lnTo>
                <a:lnTo>
                  <a:pt x="0" y="7385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4" id="24"/>
          <p:cNvSpPr txBox="true"/>
          <p:nvPr/>
        </p:nvSpPr>
        <p:spPr>
          <a:xfrm rot="0">
            <a:off x="4476223" y="1567616"/>
            <a:ext cx="3892199" cy="795022"/>
          </a:xfrm>
          <a:prstGeom prst="rect">
            <a:avLst/>
          </a:prstGeom>
        </p:spPr>
        <p:txBody>
          <a:bodyPr anchor="t" rtlCol="false" tIns="0" lIns="0" bIns="0" rIns="0">
            <a:spAutoFit/>
          </a:bodyPr>
          <a:lstStyle/>
          <a:p>
            <a:pPr algn="ctr">
              <a:lnSpc>
                <a:spcPts val="6579"/>
              </a:lnSpc>
              <a:spcBef>
                <a:spcPct val="0"/>
              </a:spcBef>
            </a:pPr>
            <a:r>
              <a:rPr lang="en-US" sz="4699">
                <a:solidFill>
                  <a:srgbClr val="000000"/>
                </a:solidFill>
                <a:latin typeface="Montserrat"/>
                <a:ea typeface="Montserrat"/>
                <a:cs typeface="Montserrat"/>
                <a:sym typeface="Montserrat"/>
              </a:rPr>
              <a:t>Seguridad</a:t>
            </a:r>
          </a:p>
        </p:txBody>
      </p:sp>
      <p:sp>
        <p:nvSpPr>
          <p:cNvPr name="TextBox 25" id="25"/>
          <p:cNvSpPr txBox="true"/>
          <p:nvPr/>
        </p:nvSpPr>
        <p:spPr>
          <a:xfrm rot="0">
            <a:off x="238804" y="1827332"/>
            <a:ext cx="3108340"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Contenido</a:t>
            </a:r>
          </a:p>
        </p:txBody>
      </p:sp>
      <p:sp>
        <p:nvSpPr>
          <p:cNvPr name="TextBox 26" id="26"/>
          <p:cNvSpPr txBox="true"/>
          <p:nvPr/>
        </p:nvSpPr>
        <p:spPr>
          <a:xfrm rot="0">
            <a:off x="1200415" y="2722047"/>
            <a:ext cx="1185118"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Problema</a:t>
            </a:r>
          </a:p>
        </p:txBody>
      </p:sp>
      <p:sp>
        <p:nvSpPr>
          <p:cNvPr name="TextBox 27" id="27"/>
          <p:cNvSpPr txBox="true"/>
          <p:nvPr/>
        </p:nvSpPr>
        <p:spPr>
          <a:xfrm rot="0">
            <a:off x="415874" y="3616762"/>
            <a:ext cx="2754200"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Propuesta de solucion</a:t>
            </a:r>
          </a:p>
        </p:txBody>
      </p:sp>
      <p:sp>
        <p:nvSpPr>
          <p:cNvPr name="TextBox 28" id="28"/>
          <p:cNvSpPr txBox="true"/>
          <p:nvPr/>
        </p:nvSpPr>
        <p:spPr>
          <a:xfrm rot="0">
            <a:off x="681302" y="4511477"/>
            <a:ext cx="222334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Costos y viabilidad</a:t>
            </a:r>
          </a:p>
        </p:txBody>
      </p:sp>
      <p:sp>
        <p:nvSpPr>
          <p:cNvPr name="TextBox 29" id="29"/>
          <p:cNvSpPr txBox="true"/>
          <p:nvPr/>
        </p:nvSpPr>
        <p:spPr>
          <a:xfrm rot="0">
            <a:off x="961992" y="5406192"/>
            <a:ext cx="1661964"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Herramientas</a:t>
            </a:r>
          </a:p>
        </p:txBody>
      </p:sp>
      <p:sp>
        <p:nvSpPr>
          <p:cNvPr name="TextBox 30" id="30"/>
          <p:cNvSpPr txBox="true"/>
          <p:nvPr/>
        </p:nvSpPr>
        <p:spPr>
          <a:xfrm rot="0">
            <a:off x="1027402" y="6300907"/>
            <a:ext cx="1531144"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Arquitectura</a:t>
            </a:r>
          </a:p>
        </p:txBody>
      </p:sp>
      <p:sp>
        <p:nvSpPr>
          <p:cNvPr name="TextBox 31" id="31"/>
          <p:cNvSpPr txBox="true"/>
          <p:nvPr/>
        </p:nvSpPr>
        <p:spPr>
          <a:xfrm rot="0">
            <a:off x="1167077" y="7195622"/>
            <a:ext cx="125179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Seguridad</a:t>
            </a:r>
          </a:p>
        </p:txBody>
      </p:sp>
      <p:sp>
        <p:nvSpPr>
          <p:cNvPr name="TextBox 32" id="32"/>
          <p:cNvSpPr txBox="true"/>
          <p:nvPr/>
        </p:nvSpPr>
        <p:spPr>
          <a:xfrm rot="0">
            <a:off x="198652" y="8090337"/>
            <a:ext cx="318864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Aseguramiento de calidad</a:t>
            </a:r>
          </a:p>
        </p:txBody>
      </p:sp>
      <p:sp>
        <p:nvSpPr>
          <p:cNvPr name="TextBox 33" id="33"/>
          <p:cNvSpPr txBox="true"/>
          <p:nvPr/>
        </p:nvSpPr>
        <p:spPr>
          <a:xfrm rot="0">
            <a:off x="381041" y="8985052"/>
            <a:ext cx="2823865"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Herramientas Similares</a:t>
            </a:r>
          </a:p>
        </p:txBody>
      </p:sp>
      <p:sp>
        <p:nvSpPr>
          <p:cNvPr name="TextBox 34" id="34"/>
          <p:cNvSpPr txBox="true"/>
          <p:nvPr/>
        </p:nvSpPr>
        <p:spPr>
          <a:xfrm rot="0">
            <a:off x="932226" y="9879767"/>
            <a:ext cx="1721495"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Demostracion</a:t>
            </a:r>
          </a:p>
        </p:txBody>
      </p:sp>
      <p:sp>
        <p:nvSpPr>
          <p:cNvPr name="TextBox 35" id="35"/>
          <p:cNvSpPr txBox="true"/>
          <p:nvPr/>
        </p:nvSpPr>
        <p:spPr>
          <a:xfrm rot="0">
            <a:off x="4332996" y="2739958"/>
            <a:ext cx="13392603" cy="3153169"/>
          </a:xfrm>
          <a:prstGeom prst="rect">
            <a:avLst/>
          </a:prstGeom>
        </p:spPr>
        <p:txBody>
          <a:bodyPr anchor="t" rtlCol="false" tIns="0" lIns="0" bIns="0" rIns="0">
            <a:spAutoFit/>
          </a:bodyPr>
          <a:lstStyle/>
          <a:p>
            <a:pPr algn="l">
              <a:lnSpc>
                <a:spcPts val="2802"/>
              </a:lnSpc>
            </a:pPr>
            <a:r>
              <a:rPr lang="en-US" sz="2001">
                <a:solidFill>
                  <a:srgbClr val="FFFFFF"/>
                </a:solidFill>
                <a:latin typeface="Montserrat"/>
                <a:ea typeface="Montserrat"/>
                <a:cs typeface="Montserrat"/>
                <a:sym typeface="Montserrat"/>
              </a:rPr>
              <a:t>Se emplearon diversas formas de asegurar la seguridad del sistema, se implementaron cabeceras como X-Content-Type Options, Strict-Content-Security y Concent Security Policy par</a:t>
            </a:r>
            <a:r>
              <a:rPr lang="en-US" sz="2001">
                <a:solidFill>
                  <a:srgbClr val="FFFFFF"/>
                </a:solidFill>
                <a:latin typeface="Montserrat"/>
                <a:ea typeface="Montserrat"/>
                <a:cs typeface="Montserrat"/>
                <a:sym typeface="Montserrat"/>
              </a:rPr>
              <a:t>a proteger el sitio web de diferentes tipos de ataques.</a:t>
            </a:r>
          </a:p>
          <a:p>
            <a:pPr algn="l">
              <a:lnSpc>
                <a:spcPts val="2802"/>
              </a:lnSpc>
            </a:pPr>
            <a:r>
              <a:rPr lang="en-US" sz="2001">
                <a:solidFill>
                  <a:srgbClr val="FFFFFF"/>
                </a:solidFill>
                <a:latin typeface="Montserrat"/>
                <a:ea typeface="Montserrat"/>
                <a:cs typeface="Montserrat"/>
                <a:sym typeface="Montserrat"/>
              </a:rPr>
              <a:t>Además de las consultas a ba</a:t>
            </a:r>
            <a:r>
              <a:rPr lang="en-US" sz="2001">
                <a:solidFill>
                  <a:srgbClr val="FFFFFF"/>
                </a:solidFill>
                <a:latin typeface="Montserrat"/>
                <a:ea typeface="Montserrat"/>
                <a:cs typeface="Montserrat"/>
                <a:sym typeface="Montserrat"/>
              </a:rPr>
              <a:t>se de datos nunca son de forma directa sino que utilizando el ORM integrado de Django, esto ofrece otra capa de protección ya que en todos los casos los datos enviados son tratados como texto plano, de forma que no se corre riesgo de una inyección SQL.</a:t>
            </a:r>
          </a:p>
          <a:p>
            <a:pPr algn="l" marL="0" indent="0" lvl="0">
              <a:lnSpc>
                <a:spcPts val="2802"/>
              </a:lnSpc>
              <a:spcBef>
                <a:spcPct val="0"/>
              </a:spcBef>
            </a:pPr>
            <a:r>
              <a:rPr lang="en-US" sz="2001">
                <a:solidFill>
                  <a:srgbClr val="FFFFFF"/>
                </a:solidFill>
                <a:latin typeface="Montserrat"/>
                <a:ea typeface="Montserrat"/>
                <a:cs typeface="Montserrat"/>
                <a:sym typeface="Montserrat"/>
              </a:rPr>
              <a:t>Sumado a ello el sistema funciona con una estricta lógica de permisos basados en roles, cada rol presente tiene funciones determinadas, no puede realizar las de los otros roles y no existe ningún tipo de superusuario capaz de hacer lo que sea.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55651"/>
            <a:ext cx="3585947" cy="9467474"/>
            <a:chOff x="0" y="0"/>
            <a:chExt cx="944447" cy="2493491"/>
          </a:xfrm>
        </p:grpSpPr>
        <p:sp>
          <p:nvSpPr>
            <p:cNvPr name="Freeform 3" id="3"/>
            <p:cNvSpPr/>
            <p:nvPr/>
          </p:nvSpPr>
          <p:spPr>
            <a:xfrm flipH="false" flipV="false" rot="0">
              <a:off x="0" y="0"/>
              <a:ext cx="944447" cy="2493491"/>
            </a:xfrm>
            <a:custGeom>
              <a:avLst/>
              <a:gdLst/>
              <a:ahLst/>
              <a:cxnLst/>
              <a:rect r="r" b="b" t="t" l="l"/>
              <a:pathLst>
                <a:path h="2493491" w="944447">
                  <a:moveTo>
                    <a:pt x="0" y="0"/>
                  </a:moveTo>
                  <a:lnTo>
                    <a:pt x="944447" y="0"/>
                  </a:lnTo>
                  <a:lnTo>
                    <a:pt x="944447" y="2493491"/>
                  </a:lnTo>
                  <a:lnTo>
                    <a:pt x="0" y="2493491"/>
                  </a:lnTo>
                  <a:close/>
                </a:path>
              </a:pathLst>
            </a:custGeom>
            <a:solidFill>
              <a:srgbClr val="A6C3FF"/>
            </a:solidFill>
          </p:spPr>
        </p:sp>
        <p:sp>
          <p:nvSpPr>
            <p:cNvPr name="TextBox 4" id="4"/>
            <p:cNvSpPr txBox="true"/>
            <p:nvPr/>
          </p:nvSpPr>
          <p:spPr>
            <a:xfrm>
              <a:off x="0" y="-38100"/>
              <a:ext cx="944447" cy="2531591"/>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3585947" y="1201550"/>
            <a:ext cx="14702053" cy="10032059"/>
          </a:xfrm>
          <a:custGeom>
            <a:avLst/>
            <a:gdLst/>
            <a:ahLst/>
            <a:cxnLst/>
            <a:rect r="r" b="b" t="t" l="l"/>
            <a:pathLst>
              <a:path h="10032059" w="14702053">
                <a:moveTo>
                  <a:pt x="0" y="0"/>
                </a:moveTo>
                <a:lnTo>
                  <a:pt x="14702053" y="0"/>
                </a:lnTo>
                <a:lnTo>
                  <a:pt x="14702053" y="10032059"/>
                </a:lnTo>
                <a:lnTo>
                  <a:pt x="0" y="10032059"/>
                </a:lnTo>
                <a:lnTo>
                  <a:pt x="0" y="0"/>
                </a:lnTo>
                <a:close/>
              </a:path>
            </a:pathLst>
          </a:custGeom>
          <a:blipFill>
            <a:blip r:embed="rId2"/>
            <a:stretch>
              <a:fillRect l="-3842" t="-5305" r="-3842" b="0"/>
            </a:stretch>
          </a:blipFill>
        </p:spPr>
      </p:sp>
      <p:grpSp>
        <p:nvGrpSpPr>
          <p:cNvPr name="Group 6" id="6"/>
          <p:cNvGrpSpPr/>
          <p:nvPr/>
        </p:nvGrpSpPr>
        <p:grpSpPr>
          <a:xfrm rot="0">
            <a:off x="-1725922" y="-209550"/>
            <a:ext cx="20974315" cy="1465201"/>
            <a:chOff x="0" y="0"/>
            <a:chExt cx="5524100" cy="385897"/>
          </a:xfrm>
        </p:grpSpPr>
        <p:sp>
          <p:nvSpPr>
            <p:cNvPr name="Freeform 7" id="7"/>
            <p:cNvSpPr/>
            <p:nvPr/>
          </p:nvSpPr>
          <p:spPr>
            <a:xfrm flipH="false" flipV="false" rot="0">
              <a:off x="0" y="0"/>
              <a:ext cx="5524100" cy="385897"/>
            </a:xfrm>
            <a:custGeom>
              <a:avLst/>
              <a:gdLst/>
              <a:ahLst/>
              <a:cxnLst/>
              <a:rect r="r" b="b" t="t" l="l"/>
              <a:pathLst>
                <a:path h="385897" w="5524100">
                  <a:moveTo>
                    <a:pt x="0" y="0"/>
                  </a:moveTo>
                  <a:lnTo>
                    <a:pt x="5524100" y="0"/>
                  </a:lnTo>
                  <a:lnTo>
                    <a:pt x="5524100" y="385897"/>
                  </a:lnTo>
                  <a:lnTo>
                    <a:pt x="0" y="385897"/>
                  </a:lnTo>
                  <a:close/>
                </a:path>
              </a:pathLst>
            </a:custGeom>
            <a:solidFill>
              <a:srgbClr val="6595FF"/>
            </a:solidFill>
          </p:spPr>
        </p:sp>
        <p:sp>
          <p:nvSpPr>
            <p:cNvPr name="TextBox 8" id="8"/>
            <p:cNvSpPr txBox="true"/>
            <p:nvPr/>
          </p:nvSpPr>
          <p:spPr>
            <a:xfrm>
              <a:off x="0" y="-38100"/>
              <a:ext cx="5524100" cy="423997"/>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4270380" y="1928599"/>
            <a:ext cx="13400220" cy="7329701"/>
            <a:chOff x="0" y="0"/>
            <a:chExt cx="3529276" cy="1930456"/>
          </a:xfrm>
        </p:grpSpPr>
        <p:sp>
          <p:nvSpPr>
            <p:cNvPr name="Freeform 10" id="10"/>
            <p:cNvSpPr/>
            <p:nvPr/>
          </p:nvSpPr>
          <p:spPr>
            <a:xfrm flipH="false" flipV="false" rot="0">
              <a:off x="0" y="0"/>
              <a:ext cx="3529276" cy="1930456"/>
            </a:xfrm>
            <a:custGeom>
              <a:avLst/>
              <a:gdLst/>
              <a:ahLst/>
              <a:cxnLst/>
              <a:rect r="r" b="b" t="t" l="l"/>
              <a:pathLst>
                <a:path h="1930456" w="3529276">
                  <a:moveTo>
                    <a:pt x="25421" y="0"/>
                  </a:moveTo>
                  <a:lnTo>
                    <a:pt x="3503855" y="0"/>
                  </a:lnTo>
                  <a:cubicBezTo>
                    <a:pt x="3510597" y="0"/>
                    <a:pt x="3517063" y="2678"/>
                    <a:pt x="3521830" y="7446"/>
                  </a:cubicBezTo>
                  <a:cubicBezTo>
                    <a:pt x="3526598" y="12213"/>
                    <a:pt x="3529276" y="18679"/>
                    <a:pt x="3529276" y="25421"/>
                  </a:cubicBezTo>
                  <a:lnTo>
                    <a:pt x="3529276" y="1905035"/>
                  </a:lnTo>
                  <a:cubicBezTo>
                    <a:pt x="3529276" y="1911777"/>
                    <a:pt x="3526598" y="1918243"/>
                    <a:pt x="3521830" y="1923011"/>
                  </a:cubicBezTo>
                  <a:cubicBezTo>
                    <a:pt x="3517063" y="1927778"/>
                    <a:pt x="3510597" y="1930456"/>
                    <a:pt x="3503855" y="1930456"/>
                  </a:cubicBezTo>
                  <a:lnTo>
                    <a:pt x="25421" y="1930456"/>
                  </a:lnTo>
                  <a:cubicBezTo>
                    <a:pt x="18679" y="1930456"/>
                    <a:pt x="12213" y="1927778"/>
                    <a:pt x="7446" y="1923011"/>
                  </a:cubicBezTo>
                  <a:cubicBezTo>
                    <a:pt x="2678" y="1918243"/>
                    <a:pt x="0" y="1911777"/>
                    <a:pt x="0" y="1905035"/>
                  </a:cubicBezTo>
                  <a:lnTo>
                    <a:pt x="0" y="25421"/>
                  </a:lnTo>
                  <a:cubicBezTo>
                    <a:pt x="0" y="18679"/>
                    <a:pt x="2678" y="12213"/>
                    <a:pt x="7446" y="7446"/>
                  </a:cubicBezTo>
                  <a:cubicBezTo>
                    <a:pt x="12213" y="2678"/>
                    <a:pt x="18679" y="0"/>
                    <a:pt x="25421" y="0"/>
                  </a:cubicBezTo>
                  <a:close/>
                </a:path>
              </a:pathLst>
            </a:custGeom>
            <a:solidFill>
              <a:srgbClr val="FFFFFF">
                <a:alpha val="47843"/>
              </a:srgbClr>
            </a:solidFill>
            <a:ln w="38100" cap="rnd">
              <a:solidFill>
                <a:srgbClr val="6595FF">
                  <a:alpha val="47843"/>
                </a:srgbClr>
              </a:solidFill>
              <a:prstDash val="solid"/>
              <a:round/>
            </a:ln>
          </p:spPr>
        </p:sp>
        <p:sp>
          <p:nvSpPr>
            <p:cNvPr name="TextBox 11" id="11"/>
            <p:cNvSpPr txBox="true"/>
            <p:nvPr/>
          </p:nvSpPr>
          <p:spPr>
            <a:xfrm>
              <a:off x="0" y="-38100"/>
              <a:ext cx="3529276" cy="1968556"/>
            </a:xfrm>
            <a:prstGeom prst="rect">
              <a:avLst/>
            </a:prstGeom>
          </p:spPr>
          <p:txBody>
            <a:bodyPr anchor="ctr" rtlCol="false" tIns="50800" lIns="50800" bIns="50800" rIns="50800"/>
            <a:lstStyle/>
            <a:p>
              <a:pPr algn="ctr">
                <a:lnSpc>
                  <a:spcPts val="2659"/>
                </a:lnSpc>
              </a:pPr>
            </a:p>
          </p:txBody>
        </p:sp>
      </p:grpSp>
      <p:sp>
        <p:nvSpPr>
          <p:cNvPr name="AutoShape 12" id="12"/>
          <p:cNvSpPr/>
          <p:nvPr/>
        </p:nvSpPr>
        <p:spPr>
          <a:xfrm flipV="true">
            <a:off x="4707250" y="3045262"/>
            <a:ext cx="6812855" cy="19230"/>
          </a:xfrm>
          <a:prstGeom prst="line">
            <a:avLst/>
          </a:prstGeom>
          <a:ln cap="flat" w="38100">
            <a:solidFill>
              <a:srgbClr val="9BBAFF"/>
            </a:solidFill>
            <a:prstDash val="solid"/>
            <a:headEnd type="none" len="sm" w="sm"/>
            <a:tailEnd type="none" len="sm" w="sm"/>
          </a:ln>
        </p:spPr>
      </p:sp>
      <p:sp>
        <p:nvSpPr>
          <p:cNvPr name="TextBox 13" id="13"/>
          <p:cNvSpPr txBox="true"/>
          <p:nvPr/>
        </p:nvSpPr>
        <p:spPr>
          <a:xfrm rot="0">
            <a:off x="1247196" y="108583"/>
            <a:ext cx="10916135" cy="920117"/>
          </a:xfrm>
          <a:prstGeom prst="rect">
            <a:avLst/>
          </a:prstGeom>
        </p:spPr>
        <p:txBody>
          <a:bodyPr anchor="t" rtlCol="false" tIns="0" lIns="0" bIns="0" rIns="0">
            <a:spAutoFit/>
          </a:bodyPr>
          <a:lstStyle/>
          <a:p>
            <a:pPr algn="ctr">
              <a:lnSpc>
                <a:spcPts val="7559"/>
              </a:lnSpc>
              <a:spcBef>
                <a:spcPct val="0"/>
              </a:spcBef>
            </a:pPr>
            <a:r>
              <a:rPr lang="en-US" sz="5399">
                <a:solidFill>
                  <a:srgbClr val="FFFFFF"/>
                </a:solidFill>
                <a:latin typeface="Montserrat"/>
                <a:ea typeface="Montserrat"/>
                <a:cs typeface="Montserrat"/>
                <a:sym typeface="Montserrat"/>
              </a:rPr>
              <a:t>College choice helper</a:t>
            </a:r>
          </a:p>
        </p:txBody>
      </p:sp>
      <p:grpSp>
        <p:nvGrpSpPr>
          <p:cNvPr name="Group 14" id="14"/>
          <p:cNvGrpSpPr/>
          <p:nvPr/>
        </p:nvGrpSpPr>
        <p:grpSpPr>
          <a:xfrm rot="0">
            <a:off x="0" y="7890949"/>
            <a:ext cx="3585947" cy="760092"/>
            <a:chOff x="0" y="0"/>
            <a:chExt cx="944447" cy="200189"/>
          </a:xfrm>
        </p:grpSpPr>
        <p:sp>
          <p:nvSpPr>
            <p:cNvPr name="Freeform 15" id="15"/>
            <p:cNvSpPr/>
            <p:nvPr/>
          </p:nvSpPr>
          <p:spPr>
            <a:xfrm flipH="false" flipV="false" rot="0">
              <a:off x="0" y="0"/>
              <a:ext cx="944447" cy="200189"/>
            </a:xfrm>
            <a:custGeom>
              <a:avLst/>
              <a:gdLst/>
              <a:ahLst/>
              <a:cxnLst/>
              <a:rect r="r" b="b" t="t" l="l"/>
              <a:pathLst>
                <a:path h="200189" w="944447">
                  <a:moveTo>
                    <a:pt x="944447" y="0"/>
                  </a:moveTo>
                  <a:lnTo>
                    <a:pt x="944447" y="200189"/>
                  </a:lnTo>
                  <a:lnTo>
                    <a:pt x="0" y="200189"/>
                  </a:lnTo>
                  <a:lnTo>
                    <a:pt x="0" y="0"/>
                  </a:lnTo>
                  <a:close/>
                </a:path>
              </a:pathLst>
            </a:custGeom>
            <a:solidFill>
              <a:srgbClr val="6595FF">
                <a:alpha val="81961"/>
              </a:srgbClr>
            </a:solidFill>
          </p:spPr>
        </p:sp>
        <p:sp>
          <p:nvSpPr>
            <p:cNvPr name="TextBox 16" id="16"/>
            <p:cNvSpPr txBox="true"/>
            <p:nvPr/>
          </p:nvSpPr>
          <p:spPr>
            <a:xfrm>
              <a:off x="0" y="-38100"/>
              <a:ext cx="944447" cy="238289"/>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0">
            <a:off x="1278624" y="97559"/>
            <a:ext cx="1028700" cy="1028700"/>
          </a:xfrm>
          <a:custGeom>
            <a:avLst/>
            <a:gdLst/>
            <a:ahLst/>
            <a:cxnLst/>
            <a:rect r="r" b="b" t="t" l="l"/>
            <a:pathLst>
              <a:path h="1028700" w="1028700">
                <a:moveTo>
                  <a:pt x="0" y="0"/>
                </a:moveTo>
                <a:lnTo>
                  <a:pt x="1028700" y="0"/>
                </a:lnTo>
                <a:lnTo>
                  <a:pt x="1028700" y="1028700"/>
                </a:lnTo>
                <a:lnTo>
                  <a:pt x="0" y="1028700"/>
                </a:lnTo>
                <a:lnTo>
                  <a:pt x="0" y="0"/>
                </a:lnTo>
                <a:close/>
              </a:path>
            </a:pathLst>
          </a:custGeom>
          <a:blipFill>
            <a:blip r:embed="rId3"/>
            <a:stretch>
              <a:fillRect l="0" t="0" r="0" b="0"/>
            </a:stretch>
          </a:blipFill>
        </p:spPr>
      </p:sp>
      <p:grpSp>
        <p:nvGrpSpPr>
          <p:cNvPr name="Group 18" id="18"/>
          <p:cNvGrpSpPr/>
          <p:nvPr/>
        </p:nvGrpSpPr>
        <p:grpSpPr>
          <a:xfrm rot="0">
            <a:off x="4586604" y="3417374"/>
            <a:ext cx="12752834" cy="1417318"/>
            <a:chOff x="0" y="0"/>
            <a:chExt cx="3358707" cy="373249"/>
          </a:xfrm>
        </p:grpSpPr>
        <p:sp>
          <p:nvSpPr>
            <p:cNvPr name="Freeform 19" id="19"/>
            <p:cNvSpPr/>
            <p:nvPr/>
          </p:nvSpPr>
          <p:spPr>
            <a:xfrm flipH="false" flipV="false" rot="0">
              <a:off x="0" y="0"/>
              <a:ext cx="3358707" cy="373249"/>
            </a:xfrm>
            <a:custGeom>
              <a:avLst/>
              <a:gdLst/>
              <a:ahLst/>
              <a:cxnLst/>
              <a:rect r="r" b="b" t="t" l="l"/>
              <a:pathLst>
                <a:path h="373249" w="3358707">
                  <a:moveTo>
                    <a:pt x="3358707" y="0"/>
                  </a:moveTo>
                  <a:lnTo>
                    <a:pt x="3358707" y="373249"/>
                  </a:lnTo>
                  <a:lnTo>
                    <a:pt x="0" y="373249"/>
                  </a:lnTo>
                  <a:lnTo>
                    <a:pt x="0" y="0"/>
                  </a:lnTo>
                  <a:close/>
                </a:path>
              </a:pathLst>
            </a:custGeom>
            <a:solidFill>
              <a:srgbClr val="000000">
                <a:alpha val="67843"/>
              </a:srgbClr>
            </a:solidFill>
            <a:ln w="952500" cap="sq">
              <a:solidFill>
                <a:srgbClr val="FFFFFF">
                  <a:alpha val="67843"/>
                </a:srgbClr>
              </a:solidFill>
              <a:prstDash val="solid"/>
              <a:miter/>
            </a:ln>
          </p:spPr>
        </p:sp>
        <p:sp>
          <p:nvSpPr>
            <p:cNvPr name="TextBox 20" id="20"/>
            <p:cNvSpPr txBox="true"/>
            <p:nvPr/>
          </p:nvSpPr>
          <p:spPr>
            <a:xfrm>
              <a:off x="0" y="-38100"/>
              <a:ext cx="3358707" cy="411349"/>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4586604" y="5098677"/>
            <a:ext cx="12752834" cy="1382887"/>
            <a:chOff x="0" y="0"/>
            <a:chExt cx="3358707" cy="364181"/>
          </a:xfrm>
        </p:grpSpPr>
        <p:sp>
          <p:nvSpPr>
            <p:cNvPr name="Freeform 22" id="22"/>
            <p:cNvSpPr/>
            <p:nvPr/>
          </p:nvSpPr>
          <p:spPr>
            <a:xfrm flipH="false" flipV="false" rot="0">
              <a:off x="0" y="0"/>
              <a:ext cx="3358707" cy="364181"/>
            </a:xfrm>
            <a:custGeom>
              <a:avLst/>
              <a:gdLst/>
              <a:ahLst/>
              <a:cxnLst/>
              <a:rect r="r" b="b" t="t" l="l"/>
              <a:pathLst>
                <a:path h="364181" w="3358707">
                  <a:moveTo>
                    <a:pt x="3358707" y="0"/>
                  </a:moveTo>
                  <a:lnTo>
                    <a:pt x="3358707" y="364181"/>
                  </a:lnTo>
                  <a:lnTo>
                    <a:pt x="0" y="364181"/>
                  </a:lnTo>
                  <a:lnTo>
                    <a:pt x="0" y="0"/>
                  </a:lnTo>
                  <a:close/>
                </a:path>
              </a:pathLst>
            </a:custGeom>
            <a:solidFill>
              <a:srgbClr val="000000">
                <a:alpha val="87843"/>
              </a:srgbClr>
            </a:solidFill>
            <a:ln w="952500" cap="sq">
              <a:solidFill>
                <a:srgbClr val="000000">
                  <a:alpha val="87843"/>
                </a:srgbClr>
              </a:solidFill>
              <a:prstDash val="solid"/>
              <a:miter/>
            </a:ln>
          </p:spPr>
        </p:sp>
        <p:sp>
          <p:nvSpPr>
            <p:cNvPr name="TextBox 23" id="23"/>
            <p:cNvSpPr txBox="true"/>
            <p:nvPr/>
          </p:nvSpPr>
          <p:spPr>
            <a:xfrm>
              <a:off x="0" y="-38100"/>
              <a:ext cx="3358707" cy="402281"/>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4594073" y="6853676"/>
            <a:ext cx="12752834" cy="1417318"/>
            <a:chOff x="0" y="0"/>
            <a:chExt cx="3358707" cy="373249"/>
          </a:xfrm>
        </p:grpSpPr>
        <p:sp>
          <p:nvSpPr>
            <p:cNvPr name="Freeform 25" id="25"/>
            <p:cNvSpPr/>
            <p:nvPr/>
          </p:nvSpPr>
          <p:spPr>
            <a:xfrm flipH="false" flipV="false" rot="0">
              <a:off x="0" y="0"/>
              <a:ext cx="3358707" cy="373249"/>
            </a:xfrm>
            <a:custGeom>
              <a:avLst/>
              <a:gdLst/>
              <a:ahLst/>
              <a:cxnLst/>
              <a:rect r="r" b="b" t="t" l="l"/>
              <a:pathLst>
                <a:path h="373249" w="3358707">
                  <a:moveTo>
                    <a:pt x="3358707" y="0"/>
                  </a:moveTo>
                  <a:lnTo>
                    <a:pt x="3358707" y="373249"/>
                  </a:lnTo>
                  <a:lnTo>
                    <a:pt x="0" y="373249"/>
                  </a:lnTo>
                  <a:lnTo>
                    <a:pt x="0" y="0"/>
                  </a:lnTo>
                  <a:close/>
                </a:path>
              </a:pathLst>
            </a:custGeom>
            <a:solidFill>
              <a:srgbClr val="000000">
                <a:alpha val="67843"/>
              </a:srgbClr>
            </a:solidFill>
            <a:ln w="952500" cap="sq">
              <a:solidFill>
                <a:srgbClr val="FFFFFF">
                  <a:alpha val="67843"/>
                </a:srgbClr>
              </a:solidFill>
              <a:prstDash val="solid"/>
              <a:miter/>
            </a:ln>
          </p:spPr>
        </p:sp>
        <p:sp>
          <p:nvSpPr>
            <p:cNvPr name="TextBox 26" id="26"/>
            <p:cNvSpPr txBox="true"/>
            <p:nvPr/>
          </p:nvSpPr>
          <p:spPr>
            <a:xfrm>
              <a:off x="0" y="-38100"/>
              <a:ext cx="3358707" cy="411349"/>
            </a:xfrm>
            <a:prstGeom prst="rect">
              <a:avLst/>
            </a:prstGeom>
          </p:spPr>
          <p:txBody>
            <a:bodyPr anchor="ctr" rtlCol="false" tIns="50800" lIns="50800" bIns="50800" rIns="50800"/>
            <a:lstStyle/>
            <a:p>
              <a:pPr algn="ctr">
                <a:lnSpc>
                  <a:spcPts val="2659"/>
                </a:lnSpc>
              </a:pPr>
            </a:p>
          </p:txBody>
        </p:sp>
      </p:grpSp>
      <p:sp>
        <p:nvSpPr>
          <p:cNvPr name="Freeform 27" id="27"/>
          <p:cNvSpPr/>
          <p:nvPr/>
        </p:nvSpPr>
        <p:spPr>
          <a:xfrm flipH="false" flipV="false" rot="0">
            <a:off x="15097403" y="5320647"/>
            <a:ext cx="1662023" cy="1047075"/>
          </a:xfrm>
          <a:custGeom>
            <a:avLst/>
            <a:gdLst/>
            <a:ahLst/>
            <a:cxnLst/>
            <a:rect r="r" b="b" t="t" l="l"/>
            <a:pathLst>
              <a:path h="1047075" w="1662023">
                <a:moveTo>
                  <a:pt x="0" y="0"/>
                </a:moveTo>
                <a:lnTo>
                  <a:pt x="1662023" y="0"/>
                </a:lnTo>
                <a:lnTo>
                  <a:pt x="1662023" y="1047075"/>
                </a:lnTo>
                <a:lnTo>
                  <a:pt x="0" y="10470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8" id="28"/>
          <p:cNvSpPr/>
          <p:nvPr/>
        </p:nvSpPr>
        <p:spPr>
          <a:xfrm flipH="false" flipV="false" rot="0">
            <a:off x="4707250" y="6976865"/>
            <a:ext cx="578484" cy="1142684"/>
          </a:xfrm>
          <a:custGeom>
            <a:avLst/>
            <a:gdLst/>
            <a:ahLst/>
            <a:cxnLst/>
            <a:rect r="r" b="b" t="t" l="l"/>
            <a:pathLst>
              <a:path h="1142684" w="578484">
                <a:moveTo>
                  <a:pt x="0" y="0"/>
                </a:moveTo>
                <a:lnTo>
                  <a:pt x="578484" y="0"/>
                </a:lnTo>
                <a:lnTo>
                  <a:pt x="578484" y="1142684"/>
                </a:lnTo>
                <a:lnTo>
                  <a:pt x="0" y="11426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9" id="29"/>
          <p:cNvSpPr/>
          <p:nvPr/>
        </p:nvSpPr>
        <p:spPr>
          <a:xfrm flipH="false" flipV="false" rot="0">
            <a:off x="5493991" y="6986549"/>
            <a:ext cx="558513" cy="1151573"/>
          </a:xfrm>
          <a:custGeom>
            <a:avLst/>
            <a:gdLst/>
            <a:ahLst/>
            <a:cxnLst/>
            <a:rect r="r" b="b" t="t" l="l"/>
            <a:pathLst>
              <a:path h="1151573" w="558513">
                <a:moveTo>
                  <a:pt x="0" y="0"/>
                </a:moveTo>
                <a:lnTo>
                  <a:pt x="558513" y="0"/>
                </a:lnTo>
                <a:lnTo>
                  <a:pt x="558513" y="1151573"/>
                </a:lnTo>
                <a:lnTo>
                  <a:pt x="0" y="115157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0" id="30"/>
          <p:cNvSpPr/>
          <p:nvPr/>
        </p:nvSpPr>
        <p:spPr>
          <a:xfrm flipH="false" flipV="false" rot="0">
            <a:off x="6262054" y="7034444"/>
            <a:ext cx="809176" cy="1027526"/>
          </a:xfrm>
          <a:custGeom>
            <a:avLst/>
            <a:gdLst/>
            <a:ahLst/>
            <a:cxnLst/>
            <a:rect r="r" b="b" t="t" l="l"/>
            <a:pathLst>
              <a:path h="1027526" w="809176">
                <a:moveTo>
                  <a:pt x="0" y="0"/>
                </a:moveTo>
                <a:lnTo>
                  <a:pt x="809176" y="0"/>
                </a:lnTo>
                <a:lnTo>
                  <a:pt x="809176" y="1027525"/>
                </a:lnTo>
                <a:lnTo>
                  <a:pt x="0" y="102752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31" id="31"/>
          <p:cNvSpPr txBox="true"/>
          <p:nvPr/>
        </p:nvSpPr>
        <p:spPr>
          <a:xfrm rot="0">
            <a:off x="4707250" y="2248177"/>
            <a:ext cx="6812855" cy="669926"/>
          </a:xfrm>
          <a:prstGeom prst="rect">
            <a:avLst/>
          </a:prstGeom>
        </p:spPr>
        <p:txBody>
          <a:bodyPr anchor="t" rtlCol="false" tIns="0" lIns="0" bIns="0" rIns="0">
            <a:spAutoFit/>
          </a:bodyPr>
          <a:lstStyle/>
          <a:p>
            <a:pPr algn="ctr">
              <a:lnSpc>
                <a:spcPts val="5599"/>
              </a:lnSpc>
              <a:spcBef>
                <a:spcPct val="0"/>
              </a:spcBef>
            </a:pPr>
            <a:r>
              <a:rPr lang="en-US" sz="3999">
                <a:solidFill>
                  <a:srgbClr val="000000"/>
                </a:solidFill>
                <a:latin typeface="Montserrat"/>
                <a:ea typeface="Montserrat"/>
                <a:cs typeface="Montserrat"/>
                <a:sym typeface="Montserrat"/>
              </a:rPr>
              <a:t>Aseguramiento de calidad</a:t>
            </a:r>
          </a:p>
        </p:txBody>
      </p:sp>
      <p:sp>
        <p:nvSpPr>
          <p:cNvPr name="TextBox 32" id="32"/>
          <p:cNvSpPr txBox="true"/>
          <p:nvPr/>
        </p:nvSpPr>
        <p:spPr>
          <a:xfrm rot="0">
            <a:off x="238804" y="1827332"/>
            <a:ext cx="3108340"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Contenido</a:t>
            </a:r>
          </a:p>
        </p:txBody>
      </p:sp>
      <p:sp>
        <p:nvSpPr>
          <p:cNvPr name="TextBox 33" id="33"/>
          <p:cNvSpPr txBox="true"/>
          <p:nvPr/>
        </p:nvSpPr>
        <p:spPr>
          <a:xfrm rot="0">
            <a:off x="1200415" y="2722047"/>
            <a:ext cx="1185118"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Problema</a:t>
            </a:r>
          </a:p>
        </p:txBody>
      </p:sp>
      <p:sp>
        <p:nvSpPr>
          <p:cNvPr name="TextBox 34" id="34"/>
          <p:cNvSpPr txBox="true"/>
          <p:nvPr/>
        </p:nvSpPr>
        <p:spPr>
          <a:xfrm rot="0">
            <a:off x="415874" y="3616762"/>
            <a:ext cx="2754200"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Propuesta de solucion</a:t>
            </a:r>
          </a:p>
        </p:txBody>
      </p:sp>
      <p:sp>
        <p:nvSpPr>
          <p:cNvPr name="TextBox 35" id="35"/>
          <p:cNvSpPr txBox="true"/>
          <p:nvPr/>
        </p:nvSpPr>
        <p:spPr>
          <a:xfrm rot="0">
            <a:off x="681302" y="4511477"/>
            <a:ext cx="222334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Costos y viabilidad</a:t>
            </a:r>
          </a:p>
        </p:txBody>
      </p:sp>
      <p:sp>
        <p:nvSpPr>
          <p:cNvPr name="TextBox 36" id="36"/>
          <p:cNvSpPr txBox="true"/>
          <p:nvPr/>
        </p:nvSpPr>
        <p:spPr>
          <a:xfrm rot="0">
            <a:off x="961992" y="5406192"/>
            <a:ext cx="1661964"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Herramientas</a:t>
            </a:r>
          </a:p>
        </p:txBody>
      </p:sp>
      <p:sp>
        <p:nvSpPr>
          <p:cNvPr name="TextBox 37" id="37"/>
          <p:cNvSpPr txBox="true"/>
          <p:nvPr/>
        </p:nvSpPr>
        <p:spPr>
          <a:xfrm rot="0">
            <a:off x="1027402" y="6300907"/>
            <a:ext cx="1531144"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Arquitectura</a:t>
            </a:r>
          </a:p>
        </p:txBody>
      </p:sp>
      <p:sp>
        <p:nvSpPr>
          <p:cNvPr name="TextBox 38" id="38"/>
          <p:cNvSpPr txBox="true"/>
          <p:nvPr/>
        </p:nvSpPr>
        <p:spPr>
          <a:xfrm rot="0">
            <a:off x="1167077" y="7195622"/>
            <a:ext cx="125179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Seguridad</a:t>
            </a:r>
          </a:p>
        </p:txBody>
      </p:sp>
      <p:sp>
        <p:nvSpPr>
          <p:cNvPr name="TextBox 39" id="39"/>
          <p:cNvSpPr txBox="true"/>
          <p:nvPr/>
        </p:nvSpPr>
        <p:spPr>
          <a:xfrm rot="0">
            <a:off x="198652" y="8090337"/>
            <a:ext cx="318864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Aseguramiento de calidad</a:t>
            </a:r>
          </a:p>
        </p:txBody>
      </p:sp>
      <p:sp>
        <p:nvSpPr>
          <p:cNvPr name="TextBox 40" id="40"/>
          <p:cNvSpPr txBox="true"/>
          <p:nvPr/>
        </p:nvSpPr>
        <p:spPr>
          <a:xfrm rot="0">
            <a:off x="381041" y="8985052"/>
            <a:ext cx="2823865"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Herramientas Similares</a:t>
            </a:r>
          </a:p>
        </p:txBody>
      </p:sp>
      <p:sp>
        <p:nvSpPr>
          <p:cNvPr name="TextBox 41" id="41"/>
          <p:cNvSpPr txBox="true"/>
          <p:nvPr/>
        </p:nvSpPr>
        <p:spPr>
          <a:xfrm rot="0">
            <a:off x="932226" y="9879767"/>
            <a:ext cx="1721495"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Demostracion</a:t>
            </a:r>
          </a:p>
        </p:txBody>
      </p:sp>
      <p:sp>
        <p:nvSpPr>
          <p:cNvPr name="TextBox 42" id="42"/>
          <p:cNvSpPr txBox="true"/>
          <p:nvPr/>
        </p:nvSpPr>
        <p:spPr>
          <a:xfrm rot="0">
            <a:off x="4707250" y="3445278"/>
            <a:ext cx="12535982" cy="1323409"/>
          </a:xfrm>
          <a:prstGeom prst="rect">
            <a:avLst/>
          </a:prstGeom>
        </p:spPr>
        <p:txBody>
          <a:bodyPr anchor="t" rtlCol="false" tIns="0" lIns="0" bIns="0" rIns="0">
            <a:spAutoFit/>
          </a:bodyPr>
          <a:lstStyle/>
          <a:p>
            <a:pPr algn="l" marL="0" indent="0" lvl="0">
              <a:lnSpc>
                <a:spcPts val="2656"/>
              </a:lnSpc>
              <a:spcBef>
                <a:spcPct val="0"/>
              </a:spcBef>
            </a:pPr>
            <a:r>
              <a:rPr lang="en-US" sz="1897">
                <a:solidFill>
                  <a:srgbClr val="000000"/>
                </a:solidFill>
                <a:latin typeface="Montserrat"/>
                <a:ea typeface="Montserrat"/>
                <a:cs typeface="Montserrat"/>
                <a:sym typeface="Montserrat"/>
              </a:rPr>
              <a:t>Se realizaron diferentes pruebas de carga y estrés para probar como reacciona el sistema ante diferentes niveles de afluencia de usuarios usando Jmeter para simular múltiples peticiones, la carga más ligera siendo de 25 usuarios en 10 segundos, mientras que la de estrés fue de 300 usuarios en los mismo 10 segundos, el sistema soportó todas las pruebas sin caídas ni errores.</a:t>
            </a:r>
          </a:p>
        </p:txBody>
      </p:sp>
      <p:sp>
        <p:nvSpPr>
          <p:cNvPr name="TextBox 43" id="43"/>
          <p:cNvSpPr txBox="true"/>
          <p:nvPr/>
        </p:nvSpPr>
        <p:spPr>
          <a:xfrm rot="0">
            <a:off x="4707250" y="5263357"/>
            <a:ext cx="9821906" cy="1035119"/>
          </a:xfrm>
          <a:prstGeom prst="rect">
            <a:avLst/>
          </a:prstGeom>
        </p:spPr>
        <p:txBody>
          <a:bodyPr anchor="t" rtlCol="false" tIns="0" lIns="0" bIns="0" rIns="0">
            <a:spAutoFit/>
          </a:bodyPr>
          <a:lstStyle/>
          <a:p>
            <a:pPr algn="l" marL="0" indent="0" lvl="0">
              <a:lnSpc>
                <a:spcPts val="2796"/>
              </a:lnSpc>
              <a:spcBef>
                <a:spcPct val="0"/>
              </a:spcBef>
            </a:pPr>
            <a:r>
              <a:rPr lang="en-US" sz="1997">
                <a:solidFill>
                  <a:srgbClr val="FFFFFF"/>
                </a:solidFill>
                <a:latin typeface="Montserrat"/>
                <a:ea typeface="Montserrat"/>
                <a:cs typeface="Montserrat"/>
                <a:sym typeface="Montserrat"/>
              </a:rPr>
              <a:t>Se comprobó además que el sistema funciona en los principales navegadores del momento, estos siendo Google Chrome, Microsoft Edge, Opera y Mozilla Firefox.</a:t>
            </a:r>
          </a:p>
        </p:txBody>
      </p:sp>
      <p:sp>
        <p:nvSpPr>
          <p:cNvPr name="TextBox 44" id="44"/>
          <p:cNvSpPr txBox="true"/>
          <p:nvPr/>
        </p:nvSpPr>
        <p:spPr>
          <a:xfrm rot="0">
            <a:off x="7280780" y="7048269"/>
            <a:ext cx="9962452" cy="1099254"/>
          </a:xfrm>
          <a:prstGeom prst="rect">
            <a:avLst/>
          </a:prstGeom>
        </p:spPr>
        <p:txBody>
          <a:bodyPr anchor="t" rtlCol="false" tIns="0" lIns="0" bIns="0" rIns="0">
            <a:spAutoFit/>
          </a:bodyPr>
          <a:lstStyle/>
          <a:p>
            <a:pPr algn="r" marL="0" indent="0" lvl="0">
              <a:lnSpc>
                <a:spcPts val="2936"/>
              </a:lnSpc>
              <a:spcBef>
                <a:spcPct val="0"/>
              </a:spcBef>
            </a:pPr>
            <a:r>
              <a:rPr lang="en-US" sz="2097">
                <a:solidFill>
                  <a:srgbClr val="000000"/>
                </a:solidFill>
                <a:latin typeface="Montserrat"/>
                <a:ea typeface="Montserrat"/>
                <a:cs typeface="Montserrat"/>
                <a:sym typeface="Montserrat"/>
              </a:rPr>
              <a:t>Adicionalmente se implementó un diseño responsivo para dispositivos móviles, aunque el mismo necesita algunos ajustes en dispositivos IPhone, pues el navegador Safari parece presentar algunas incongruencias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55651"/>
            <a:ext cx="3585947" cy="9467474"/>
            <a:chOff x="0" y="0"/>
            <a:chExt cx="944447" cy="2493491"/>
          </a:xfrm>
        </p:grpSpPr>
        <p:sp>
          <p:nvSpPr>
            <p:cNvPr name="Freeform 3" id="3"/>
            <p:cNvSpPr/>
            <p:nvPr/>
          </p:nvSpPr>
          <p:spPr>
            <a:xfrm flipH="false" flipV="false" rot="0">
              <a:off x="0" y="0"/>
              <a:ext cx="944447" cy="2493491"/>
            </a:xfrm>
            <a:custGeom>
              <a:avLst/>
              <a:gdLst/>
              <a:ahLst/>
              <a:cxnLst/>
              <a:rect r="r" b="b" t="t" l="l"/>
              <a:pathLst>
                <a:path h="2493491" w="944447">
                  <a:moveTo>
                    <a:pt x="0" y="0"/>
                  </a:moveTo>
                  <a:lnTo>
                    <a:pt x="944447" y="0"/>
                  </a:lnTo>
                  <a:lnTo>
                    <a:pt x="944447" y="2493491"/>
                  </a:lnTo>
                  <a:lnTo>
                    <a:pt x="0" y="2493491"/>
                  </a:lnTo>
                  <a:close/>
                </a:path>
              </a:pathLst>
            </a:custGeom>
            <a:solidFill>
              <a:srgbClr val="A6C3FF"/>
            </a:solidFill>
          </p:spPr>
        </p:sp>
        <p:sp>
          <p:nvSpPr>
            <p:cNvPr name="TextBox 4" id="4"/>
            <p:cNvSpPr txBox="true"/>
            <p:nvPr/>
          </p:nvSpPr>
          <p:spPr>
            <a:xfrm>
              <a:off x="0" y="-38100"/>
              <a:ext cx="944447" cy="2531591"/>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3585947" y="1201550"/>
            <a:ext cx="14702053" cy="10032059"/>
          </a:xfrm>
          <a:custGeom>
            <a:avLst/>
            <a:gdLst/>
            <a:ahLst/>
            <a:cxnLst/>
            <a:rect r="r" b="b" t="t" l="l"/>
            <a:pathLst>
              <a:path h="10032059" w="14702053">
                <a:moveTo>
                  <a:pt x="0" y="0"/>
                </a:moveTo>
                <a:lnTo>
                  <a:pt x="14702053" y="0"/>
                </a:lnTo>
                <a:lnTo>
                  <a:pt x="14702053" y="10032059"/>
                </a:lnTo>
                <a:lnTo>
                  <a:pt x="0" y="10032059"/>
                </a:lnTo>
                <a:lnTo>
                  <a:pt x="0" y="0"/>
                </a:lnTo>
                <a:close/>
              </a:path>
            </a:pathLst>
          </a:custGeom>
          <a:blipFill>
            <a:blip r:embed="rId2"/>
            <a:stretch>
              <a:fillRect l="-3842" t="-5305" r="-3842" b="0"/>
            </a:stretch>
          </a:blipFill>
        </p:spPr>
      </p:sp>
      <p:grpSp>
        <p:nvGrpSpPr>
          <p:cNvPr name="Group 6" id="6"/>
          <p:cNvGrpSpPr/>
          <p:nvPr/>
        </p:nvGrpSpPr>
        <p:grpSpPr>
          <a:xfrm rot="0">
            <a:off x="-1725922" y="-209550"/>
            <a:ext cx="20974315" cy="1465201"/>
            <a:chOff x="0" y="0"/>
            <a:chExt cx="5524100" cy="385897"/>
          </a:xfrm>
        </p:grpSpPr>
        <p:sp>
          <p:nvSpPr>
            <p:cNvPr name="Freeform 7" id="7"/>
            <p:cNvSpPr/>
            <p:nvPr/>
          </p:nvSpPr>
          <p:spPr>
            <a:xfrm flipH="false" flipV="false" rot="0">
              <a:off x="0" y="0"/>
              <a:ext cx="5524100" cy="385897"/>
            </a:xfrm>
            <a:custGeom>
              <a:avLst/>
              <a:gdLst/>
              <a:ahLst/>
              <a:cxnLst/>
              <a:rect r="r" b="b" t="t" l="l"/>
              <a:pathLst>
                <a:path h="385897" w="5524100">
                  <a:moveTo>
                    <a:pt x="0" y="0"/>
                  </a:moveTo>
                  <a:lnTo>
                    <a:pt x="5524100" y="0"/>
                  </a:lnTo>
                  <a:lnTo>
                    <a:pt x="5524100" y="385897"/>
                  </a:lnTo>
                  <a:lnTo>
                    <a:pt x="0" y="385897"/>
                  </a:lnTo>
                  <a:close/>
                </a:path>
              </a:pathLst>
            </a:custGeom>
            <a:solidFill>
              <a:srgbClr val="6595FF"/>
            </a:solidFill>
          </p:spPr>
        </p:sp>
        <p:sp>
          <p:nvSpPr>
            <p:cNvPr name="TextBox 8" id="8"/>
            <p:cNvSpPr txBox="true"/>
            <p:nvPr/>
          </p:nvSpPr>
          <p:spPr>
            <a:xfrm>
              <a:off x="0" y="-38100"/>
              <a:ext cx="5524100" cy="423997"/>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3949280" y="1551145"/>
            <a:ext cx="13993362" cy="8366723"/>
            <a:chOff x="0" y="0"/>
            <a:chExt cx="3685495" cy="2203581"/>
          </a:xfrm>
        </p:grpSpPr>
        <p:sp>
          <p:nvSpPr>
            <p:cNvPr name="Freeform 10" id="10"/>
            <p:cNvSpPr/>
            <p:nvPr/>
          </p:nvSpPr>
          <p:spPr>
            <a:xfrm flipH="false" flipV="false" rot="0">
              <a:off x="0" y="0"/>
              <a:ext cx="3685494" cy="2203581"/>
            </a:xfrm>
            <a:custGeom>
              <a:avLst/>
              <a:gdLst/>
              <a:ahLst/>
              <a:cxnLst/>
              <a:rect r="r" b="b" t="t" l="l"/>
              <a:pathLst>
                <a:path h="2203581" w="3685494">
                  <a:moveTo>
                    <a:pt x="24343" y="0"/>
                  </a:moveTo>
                  <a:lnTo>
                    <a:pt x="3661151" y="0"/>
                  </a:lnTo>
                  <a:cubicBezTo>
                    <a:pt x="3674595" y="0"/>
                    <a:pt x="3685494" y="10899"/>
                    <a:pt x="3685494" y="24343"/>
                  </a:cubicBezTo>
                  <a:lnTo>
                    <a:pt x="3685494" y="2179238"/>
                  </a:lnTo>
                  <a:cubicBezTo>
                    <a:pt x="3685494" y="2192682"/>
                    <a:pt x="3674595" y="2203581"/>
                    <a:pt x="3661151" y="2203581"/>
                  </a:cubicBezTo>
                  <a:lnTo>
                    <a:pt x="24343" y="2203581"/>
                  </a:lnTo>
                  <a:cubicBezTo>
                    <a:pt x="10899" y="2203581"/>
                    <a:pt x="0" y="2192682"/>
                    <a:pt x="0" y="2179238"/>
                  </a:cubicBezTo>
                  <a:lnTo>
                    <a:pt x="0" y="24343"/>
                  </a:lnTo>
                  <a:cubicBezTo>
                    <a:pt x="0" y="10899"/>
                    <a:pt x="10899" y="0"/>
                    <a:pt x="24343" y="0"/>
                  </a:cubicBezTo>
                  <a:close/>
                </a:path>
              </a:pathLst>
            </a:custGeom>
            <a:solidFill>
              <a:srgbClr val="FFFFFF">
                <a:alpha val="47843"/>
              </a:srgbClr>
            </a:solidFill>
            <a:ln w="38100" cap="rnd">
              <a:solidFill>
                <a:srgbClr val="6595FF">
                  <a:alpha val="47843"/>
                </a:srgbClr>
              </a:solidFill>
              <a:prstDash val="solid"/>
              <a:round/>
            </a:ln>
          </p:spPr>
        </p:sp>
        <p:sp>
          <p:nvSpPr>
            <p:cNvPr name="TextBox 11" id="11"/>
            <p:cNvSpPr txBox="true"/>
            <p:nvPr/>
          </p:nvSpPr>
          <p:spPr>
            <a:xfrm>
              <a:off x="0" y="-38100"/>
              <a:ext cx="3685495" cy="2241681"/>
            </a:xfrm>
            <a:prstGeom prst="rect">
              <a:avLst/>
            </a:prstGeom>
          </p:spPr>
          <p:txBody>
            <a:bodyPr anchor="ctr" rtlCol="false" tIns="50800" lIns="50800" bIns="50800" rIns="50800"/>
            <a:lstStyle/>
            <a:p>
              <a:pPr algn="ctr">
                <a:lnSpc>
                  <a:spcPts val="2659"/>
                </a:lnSpc>
              </a:pPr>
            </a:p>
          </p:txBody>
        </p:sp>
      </p:grpSp>
      <p:sp>
        <p:nvSpPr>
          <p:cNvPr name="AutoShape 12" id="12"/>
          <p:cNvSpPr/>
          <p:nvPr/>
        </p:nvSpPr>
        <p:spPr>
          <a:xfrm>
            <a:off x="4707250" y="3064492"/>
            <a:ext cx="3843858" cy="0"/>
          </a:xfrm>
          <a:prstGeom prst="line">
            <a:avLst/>
          </a:prstGeom>
          <a:ln cap="flat" w="38100">
            <a:solidFill>
              <a:srgbClr val="9BBAFF"/>
            </a:solidFill>
            <a:prstDash val="solid"/>
            <a:headEnd type="none" len="sm" w="sm"/>
            <a:tailEnd type="none" len="sm" w="sm"/>
          </a:ln>
        </p:spPr>
      </p:sp>
      <p:sp>
        <p:nvSpPr>
          <p:cNvPr name="TextBox 13" id="13"/>
          <p:cNvSpPr txBox="true"/>
          <p:nvPr/>
        </p:nvSpPr>
        <p:spPr>
          <a:xfrm rot="0">
            <a:off x="1247196" y="108583"/>
            <a:ext cx="10916135" cy="920117"/>
          </a:xfrm>
          <a:prstGeom prst="rect">
            <a:avLst/>
          </a:prstGeom>
        </p:spPr>
        <p:txBody>
          <a:bodyPr anchor="t" rtlCol="false" tIns="0" lIns="0" bIns="0" rIns="0">
            <a:spAutoFit/>
          </a:bodyPr>
          <a:lstStyle/>
          <a:p>
            <a:pPr algn="ctr">
              <a:lnSpc>
                <a:spcPts val="7559"/>
              </a:lnSpc>
              <a:spcBef>
                <a:spcPct val="0"/>
              </a:spcBef>
            </a:pPr>
            <a:r>
              <a:rPr lang="en-US" sz="5399">
                <a:solidFill>
                  <a:srgbClr val="FFFFFF"/>
                </a:solidFill>
                <a:latin typeface="Montserrat"/>
                <a:ea typeface="Montserrat"/>
                <a:cs typeface="Montserrat"/>
                <a:sym typeface="Montserrat"/>
              </a:rPr>
              <a:t>College choice helper</a:t>
            </a:r>
          </a:p>
        </p:txBody>
      </p:sp>
      <p:grpSp>
        <p:nvGrpSpPr>
          <p:cNvPr name="Group 14" id="14"/>
          <p:cNvGrpSpPr/>
          <p:nvPr/>
        </p:nvGrpSpPr>
        <p:grpSpPr>
          <a:xfrm rot="0">
            <a:off x="0" y="8785664"/>
            <a:ext cx="3585947" cy="760092"/>
            <a:chOff x="0" y="0"/>
            <a:chExt cx="944447" cy="200189"/>
          </a:xfrm>
        </p:grpSpPr>
        <p:sp>
          <p:nvSpPr>
            <p:cNvPr name="Freeform 15" id="15"/>
            <p:cNvSpPr/>
            <p:nvPr/>
          </p:nvSpPr>
          <p:spPr>
            <a:xfrm flipH="false" flipV="false" rot="0">
              <a:off x="0" y="0"/>
              <a:ext cx="944447" cy="200189"/>
            </a:xfrm>
            <a:custGeom>
              <a:avLst/>
              <a:gdLst/>
              <a:ahLst/>
              <a:cxnLst/>
              <a:rect r="r" b="b" t="t" l="l"/>
              <a:pathLst>
                <a:path h="200189" w="944447">
                  <a:moveTo>
                    <a:pt x="944447" y="0"/>
                  </a:moveTo>
                  <a:lnTo>
                    <a:pt x="944447" y="200189"/>
                  </a:lnTo>
                  <a:lnTo>
                    <a:pt x="0" y="200189"/>
                  </a:lnTo>
                  <a:lnTo>
                    <a:pt x="0" y="0"/>
                  </a:lnTo>
                  <a:close/>
                </a:path>
              </a:pathLst>
            </a:custGeom>
            <a:solidFill>
              <a:srgbClr val="6595FF">
                <a:alpha val="81961"/>
              </a:srgbClr>
            </a:solidFill>
          </p:spPr>
        </p:sp>
        <p:sp>
          <p:nvSpPr>
            <p:cNvPr name="TextBox 16" id="16"/>
            <p:cNvSpPr txBox="true"/>
            <p:nvPr/>
          </p:nvSpPr>
          <p:spPr>
            <a:xfrm>
              <a:off x="0" y="-38100"/>
              <a:ext cx="944447" cy="238289"/>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0">
            <a:off x="1278624" y="97559"/>
            <a:ext cx="1028700" cy="1028700"/>
          </a:xfrm>
          <a:custGeom>
            <a:avLst/>
            <a:gdLst/>
            <a:ahLst/>
            <a:cxnLst/>
            <a:rect r="r" b="b" t="t" l="l"/>
            <a:pathLst>
              <a:path h="1028700" w="1028700">
                <a:moveTo>
                  <a:pt x="0" y="0"/>
                </a:moveTo>
                <a:lnTo>
                  <a:pt x="1028700" y="0"/>
                </a:lnTo>
                <a:lnTo>
                  <a:pt x="1028700" y="1028700"/>
                </a:lnTo>
                <a:lnTo>
                  <a:pt x="0" y="1028700"/>
                </a:lnTo>
                <a:lnTo>
                  <a:pt x="0" y="0"/>
                </a:lnTo>
                <a:close/>
              </a:path>
            </a:pathLst>
          </a:custGeom>
          <a:blipFill>
            <a:blip r:embed="rId3"/>
            <a:stretch>
              <a:fillRect l="0" t="0" r="0" b="0"/>
            </a:stretch>
          </a:blipFill>
        </p:spPr>
      </p:sp>
      <p:grpSp>
        <p:nvGrpSpPr>
          <p:cNvPr name="Group 18" id="18"/>
          <p:cNvGrpSpPr/>
          <p:nvPr/>
        </p:nvGrpSpPr>
        <p:grpSpPr>
          <a:xfrm rot="0">
            <a:off x="4569544" y="6624122"/>
            <a:ext cx="12752834" cy="1417318"/>
            <a:chOff x="0" y="0"/>
            <a:chExt cx="3358707" cy="373249"/>
          </a:xfrm>
        </p:grpSpPr>
        <p:sp>
          <p:nvSpPr>
            <p:cNvPr name="Freeform 19" id="19"/>
            <p:cNvSpPr/>
            <p:nvPr/>
          </p:nvSpPr>
          <p:spPr>
            <a:xfrm flipH="false" flipV="false" rot="0">
              <a:off x="0" y="0"/>
              <a:ext cx="3358707" cy="373249"/>
            </a:xfrm>
            <a:custGeom>
              <a:avLst/>
              <a:gdLst/>
              <a:ahLst/>
              <a:cxnLst/>
              <a:rect r="r" b="b" t="t" l="l"/>
              <a:pathLst>
                <a:path h="373249" w="3358707">
                  <a:moveTo>
                    <a:pt x="3358707" y="0"/>
                  </a:moveTo>
                  <a:lnTo>
                    <a:pt x="3358707" y="373249"/>
                  </a:lnTo>
                  <a:lnTo>
                    <a:pt x="0" y="373249"/>
                  </a:lnTo>
                  <a:lnTo>
                    <a:pt x="0" y="0"/>
                  </a:lnTo>
                  <a:close/>
                </a:path>
              </a:pathLst>
            </a:custGeom>
            <a:solidFill>
              <a:srgbClr val="000000">
                <a:alpha val="67843"/>
              </a:srgbClr>
            </a:solidFill>
            <a:ln w="952500" cap="sq">
              <a:solidFill>
                <a:srgbClr val="FFFFFF">
                  <a:alpha val="67843"/>
                </a:srgbClr>
              </a:solidFill>
              <a:prstDash val="solid"/>
              <a:miter/>
            </a:ln>
          </p:spPr>
        </p:sp>
        <p:sp>
          <p:nvSpPr>
            <p:cNvPr name="TextBox 20" id="20"/>
            <p:cNvSpPr txBox="true"/>
            <p:nvPr/>
          </p:nvSpPr>
          <p:spPr>
            <a:xfrm>
              <a:off x="0" y="-38100"/>
              <a:ext cx="3358707" cy="411349"/>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4560557" y="4598115"/>
            <a:ext cx="12752834" cy="1382887"/>
            <a:chOff x="0" y="0"/>
            <a:chExt cx="3358707" cy="364181"/>
          </a:xfrm>
        </p:grpSpPr>
        <p:sp>
          <p:nvSpPr>
            <p:cNvPr name="Freeform 22" id="22"/>
            <p:cNvSpPr/>
            <p:nvPr/>
          </p:nvSpPr>
          <p:spPr>
            <a:xfrm flipH="false" flipV="false" rot="0">
              <a:off x="0" y="0"/>
              <a:ext cx="3358707" cy="364181"/>
            </a:xfrm>
            <a:custGeom>
              <a:avLst/>
              <a:gdLst/>
              <a:ahLst/>
              <a:cxnLst/>
              <a:rect r="r" b="b" t="t" l="l"/>
              <a:pathLst>
                <a:path h="364181" w="3358707">
                  <a:moveTo>
                    <a:pt x="3358707" y="0"/>
                  </a:moveTo>
                  <a:lnTo>
                    <a:pt x="3358707" y="364181"/>
                  </a:lnTo>
                  <a:lnTo>
                    <a:pt x="0" y="364181"/>
                  </a:lnTo>
                  <a:lnTo>
                    <a:pt x="0" y="0"/>
                  </a:lnTo>
                  <a:close/>
                </a:path>
              </a:pathLst>
            </a:custGeom>
            <a:solidFill>
              <a:srgbClr val="000000">
                <a:alpha val="87843"/>
              </a:srgbClr>
            </a:solidFill>
            <a:ln w="952500" cap="sq">
              <a:solidFill>
                <a:srgbClr val="000000">
                  <a:alpha val="87843"/>
                </a:srgbClr>
              </a:solidFill>
              <a:prstDash val="solid"/>
              <a:miter/>
            </a:ln>
          </p:spPr>
        </p:sp>
        <p:sp>
          <p:nvSpPr>
            <p:cNvPr name="TextBox 23" id="23"/>
            <p:cNvSpPr txBox="true"/>
            <p:nvPr/>
          </p:nvSpPr>
          <p:spPr>
            <a:xfrm>
              <a:off x="0" y="-38100"/>
              <a:ext cx="3358707" cy="402281"/>
            </a:xfrm>
            <a:prstGeom prst="rect">
              <a:avLst/>
            </a:prstGeom>
          </p:spPr>
          <p:txBody>
            <a:bodyPr anchor="ctr" rtlCol="false" tIns="50800" lIns="50800" bIns="50800" rIns="50800"/>
            <a:lstStyle/>
            <a:p>
              <a:pPr algn="ctr">
                <a:lnSpc>
                  <a:spcPts val="2659"/>
                </a:lnSpc>
              </a:pPr>
            </a:p>
          </p:txBody>
        </p:sp>
      </p:grpSp>
      <p:sp>
        <p:nvSpPr>
          <p:cNvPr name="Freeform 24" id="24"/>
          <p:cNvSpPr/>
          <p:nvPr/>
        </p:nvSpPr>
        <p:spPr>
          <a:xfrm flipH="false" flipV="false" rot="0">
            <a:off x="14769644" y="7050221"/>
            <a:ext cx="2409572" cy="652020"/>
          </a:xfrm>
          <a:custGeom>
            <a:avLst/>
            <a:gdLst/>
            <a:ahLst/>
            <a:cxnLst/>
            <a:rect r="r" b="b" t="t" l="l"/>
            <a:pathLst>
              <a:path h="652020" w="2409572">
                <a:moveTo>
                  <a:pt x="0" y="0"/>
                </a:moveTo>
                <a:lnTo>
                  <a:pt x="2409573" y="0"/>
                </a:lnTo>
                <a:lnTo>
                  <a:pt x="2409573" y="652020"/>
                </a:lnTo>
                <a:lnTo>
                  <a:pt x="0" y="652020"/>
                </a:lnTo>
                <a:lnTo>
                  <a:pt x="0" y="0"/>
                </a:lnTo>
                <a:close/>
              </a:path>
            </a:pathLst>
          </a:custGeom>
          <a:blipFill>
            <a:blip r:embed="rId4"/>
            <a:stretch>
              <a:fillRect l="-801" t="-191032" r="-1068" b="-177704"/>
            </a:stretch>
          </a:blipFill>
        </p:spPr>
      </p:sp>
      <p:sp>
        <p:nvSpPr>
          <p:cNvPr name="Freeform 25" id="25"/>
          <p:cNvSpPr/>
          <p:nvPr/>
        </p:nvSpPr>
        <p:spPr>
          <a:xfrm flipH="false" flipV="false" rot="0">
            <a:off x="15974430" y="4725558"/>
            <a:ext cx="1135095" cy="1128001"/>
          </a:xfrm>
          <a:custGeom>
            <a:avLst/>
            <a:gdLst/>
            <a:ahLst/>
            <a:cxnLst/>
            <a:rect r="r" b="b" t="t" l="l"/>
            <a:pathLst>
              <a:path h="1128001" w="1135095">
                <a:moveTo>
                  <a:pt x="0" y="0"/>
                </a:moveTo>
                <a:lnTo>
                  <a:pt x="1135096" y="0"/>
                </a:lnTo>
                <a:lnTo>
                  <a:pt x="1135096" y="1128001"/>
                </a:lnTo>
                <a:lnTo>
                  <a:pt x="0" y="11280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6" id="26"/>
          <p:cNvSpPr txBox="true"/>
          <p:nvPr/>
        </p:nvSpPr>
        <p:spPr>
          <a:xfrm rot="0">
            <a:off x="4707250" y="2238652"/>
            <a:ext cx="5604757" cy="646431"/>
          </a:xfrm>
          <a:prstGeom prst="rect">
            <a:avLst/>
          </a:prstGeom>
        </p:spPr>
        <p:txBody>
          <a:bodyPr anchor="t" rtlCol="false" tIns="0" lIns="0" bIns="0" rIns="0">
            <a:spAutoFit/>
          </a:bodyPr>
          <a:lstStyle/>
          <a:p>
            <a:pPr algn="ctr">
              <a:lnSpc>
                <a:spcPts val="5319"/>
              </a:lnSpc>
              <a:spcBef>
                <a:spcPct val="0"/>
              </a:spcBef>
            </a:pPr>
            <a:r>
              <a:rPr lang="en-US" sz="3799">
                <a:solidFill>
                  <a:srgbClr val="000000"/>
                </a:solidFill>
                <a:latin typeface="Montserrat"/>
                <a:ea typeface="Montserrat"/>
                <a:cs typeface="Montserrat"/>
                <a:sym typeface="Montserrat"/>
              </a:rPr>
              <a:t>Herramientas similares</a:t>
            </a:r>
          </a:p>
        </p:txBody>
      </p:sp>
      <p:sp>
        <p:nvSpPr>
          <p:cNvPr name="TextBox 27" id="27"/>
          <p:cNvSpPr txBox="true"/>
          <p:nvPr/>
        </p:nvSpPr>
        <p:spPr>
          <a:xfrm rot="0">
            <a:off x="238804" y="1827332"/>
            <a:ext cx="3108340"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Contenido</a:t>
            </a:r>
          </a:p>
        </p:txBody>
      </p:sp>
      <p:sp>
        <p:nvSpPr>
          <p:cNvPr name="TextBox 28" id="28"/>
          <p:cNvSpPr txBox="true"/>
          <p:nvPr/>
        </p:nvSpPr>
        <p:spPr>
          <a:xfrm rot="0">
            <a:off x="1200415" y="2722047"/>
            <a:ext cx="1185118"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Problema</a:t>
            </a:r>
          </a:p>
        </p:txBody>
      </p:sp>
      <p:sp>
        <p:nvSpPr>
          <p:cNvPr name="TextBox 29" id="29"/>
          <p:cNvSpPr txBox="true"/>
          <p:nvPr/>
        </p:nvSpPr>
        <p:spPr>
          <a:xfrm rot="0">
            <a:off x="415874" y="3616762"/>
            <a:ext cx="2754200"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Propuesta de solucion</a:t>
            </a:r>
          </a:p>
        </p:txBody>
      </p:sp>
      <p:sp>
        <p:nvSpPr>
          <p:cNvPr name="TextBox 30" id="30"/>
          <p:cNvSpPr txBox="true"/>
          <p:nvPr/>
        </p:nvSpPr>
        <p:spPr>
          <a:xfrm rot="0">
            <a:off x="681302" y="4511477"/>
            <a:ext cx="222334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Costos y viabilidad</a:t>
            </a:r>
          </a:p>
        </p:txBody>
      </p:sp>
      <p:sp>
        <p:nvSpPr>
          <p:cNvPr name="TextBox 31" id="31"/>
          <p:cNvSpPr txBox="true"/>
          <p:nvPr/>
        </p:nvSpPr>
        <p:spPr>
          <a:xfrm rot="0">
            <a:off x="961992" y="5406192"/>
            <a:ext cx="1661964"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Herramientas</a:t>
            </a:r>
          </a:p>
        </p:txBody>
      </p:sp>
      <p:sp>
        <p:nvSpPr>
          <p:cNvPr name="TextBox 32" id="32"/>
          <p:cNvSpPr txBox="true"/>
          <p:nvPr/>
        </p:nvSpPr>
        <p:spPr>
          <a:xfrm rot="0">
            <a:off x="1027402" y="6300907"/>
            <a:ext cx="1531144"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Arquitectura</a:t>
            </a:r>
          </a:p>
        </p:txBody>
      </p:sp>
      <p:sp>
        <p:nvSpPr>
          <p:cNvPr name="TextBox 33" id="33"/>
          <p:cNvSpPr txBox="true"/>
          <p:nvPr/>
        </p:nvSpPr>
        <p:spPr>
          <a:xfrm rot="0">
            <a:off x="1167077" y="7195622"/>
            <a:ext cx="125179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Seguridad</a:t>
            </a:r>
          </a:p>
        </p:txBody>
      </p:sp>
      <p:sp>
        <p:nvSpPr>
          <p:cNvPr name="TextBox 34" id="34"/>
          <p:cNvSpPr txBox="true"/>
          <p:nvPr/>
        </p:nvSpPr>
        <p:spPr>
          <a:xfrm rot="0">
            <a:off x="198652" y="8090337"/>
            <a:ext cx="318864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Aseguramiento de calidad</a:t>
            </a:r>
          </a:p>
        </p:txBody>
      </p:sp>
      <p:sp>
        <p:nvSpPr>
          <p:cNvPr name="TextBox 35" id="35"/>
          <p:cNvSpPr txBox="true"/>
          <p:nvPr/>
        </p:nvSpPr>
        <p:spPr>
          <a:xfrm rot="0">
            <a:off x="381041" y="8985052"/>
            <a:ext cx="2823865"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Herramientas Similares</a:t>
            </a:r>
          </a:p>
        </p:txBody>
      </p:sp>
      <p:sp>
        <p:nvSpPr>
          <p:cNvPr name="TextBox 36" id="36"/>
          <p:cNvSpPr txBox="true"/>
          <p:nvPr/>
        </p:nvSpPr>
        <p:spPr>
          <a:xfrm rot="0">
            <a:off x="932226" y="9879767"/>
            <a:ext cx="1721495"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Demostracion</a:t>
            </a:r>
          </a:p>
        </p:txBody>
      </p:sp>
      <p:sp>
        <p:nvSpPr>
          <p:cNvPr name="TextBox 37" id="37"/>
          <p:cNvSpPr txBox="true"/>
          <p:nvPr/>
        </p:nvSpPr>
        <p:spPr>
          <a:xfrm rot="0">
            <a:off x="4677970" y="3207367"/>
            <a:ext cx="12535982" cy="990034"/>
          </a:xfrm>
          <a:prstGeom prst="rect">
            <a:avLst/>
          </a:prstGeom>
        </p:spPr>
        <p:txBody>
          <a:bodyPr anchor="t" rtlCol="false" tIns="0" lIns="0" bIns="0" rIns="0">
            <a:spAutoFit/>
          </a:bodyPr>
          <a:lstStyle/>
          <a:p>
            <a:pPr algn="l" marL="0" indent="0" lvl="0">
              <a:lnSpc>
                <a:spcPts val="2656"/>
              </a:lnSpc>
              <a:spcBef>
                <a:spcPct val="0"/>
              </a:spcBef>
            </a:pPr>
            <a:r>
              <a:rPr lang="en-US" sz="1897">
                <a:solidFill>
                  <a:srgbClr val="000000"/>
                </a:solidFill>
                <a:latin typeface="Montserrat"/>
                <a:ea typeface="Montserrat"/>
                <a:cs typeface="Montserrat"/>
                <a:sym typeface="Montserrat"/>
              </a:rPr>
              <a:t>Existen actualmente herramientas para guiar a los estudiantes en su decisión de estudio superior, sin embargo estas opciones se centran en aspectos distintos a College Choice Helper, como prueba de ello las dos más relevantes son:</a:t>
            </a:r>
          </a:p>
        </p:txBody>
      </p:sp>
      <p:sp>
        <p:nvSpPr>
          <p:cNvPr name="TextBox 38" id="38"/>
          <p:cNvSpPr txBox="true"/>
          <p:nvPr/>
        </p:nvSpPr>
        <p:spPr>
          <a:xfrm rot="0">
            <a:off x="4668983" y="8375452"/>
            <a:ext cx="12535982" cy="656659"/>
          </a:xfrm>
          <a:prstGeom prst="rect">
            <a:avLst/>
          </a:prstGeom>
        </p:spPr>
        <p:txBody>
          <a:bodyPr anchor="t" rtlCol="false" tIns="0" lIns="0" bIns="0" rIns="0">
            <a:spAutoFit/>
          </a:bodyPr>
          <a:lstStyle/>
          <a:p>
            <a:pPr algn="l" marL="0" indent="0" lvl="0">
              <a:lnSpc>
                <a:spcPts val="2656"/>
              </a:lnSpc>
              <a:spcBef>
                <a:spcPct val="0"/>
              </a:spcBef>
            </a:pPr>
            <a:r>
              <a:rPr lang="en-US" sz="1897">
                <a:solidFill>
                  <a:srgbClr val="000000"/>
                </a:solidFill>
                <a:latin typeface="Montserrat"/>
                <a:ea typeface="Montserrat"/>
                <a:cs typeface="Montserrat"/>
                <a:sym typeface="Montserrat"/>
              </a:rPr>
              <a:t>Mientras tanto, College Choice Helper se centra en la experiencia misma de estudiar, priorizando que se ajuste a lo que busca el estudiante.</a:t>
            </a:r>
          </a:p>
        </p:txBody>
      </p:sp>
      <p:sp>
        <p:nvSpPr>
          <p:cNvPr name="TextBox 39" id="39"/>
          <p:cNvSpPr txBox="true"/>
          <p:nvPr/>
        </p:nvSpPr>
        <p:spPr>
          <a:xfrm rot="0">
            <a:off x="4668983" y="4677933"/>
            <a:ext cx="11042550" cy="1189424"/>
          </a:xfrm>
          <a:prstGeom prst="rect">
            <a:avLst/>
          </a:prstGeom>
        </p:spPr>
        <p:txBody>
          <a:bodyPr anchor="t" rtlCol="false" tIns="0" lIns="0" bIns="0" rIns="0">
            <a:spAutoFit/>
          </a:bodyPr>
          <a:lstStyle/>
          <a:p>
            <a:pPr algn="l" marL="0" indent="0" lvl="0">
              <a:lnSpc>
                <a:spcPts val="3216"/>
              </a:lnSpc>
              <a:spcBef>
                <a:spcPct val="0"/>
              </a:spcBef>
            </a:pPr>
            <a:r>
              <a:rPr lang="en-US" sz="2297">
                <a:solidFill>
                  <a:srgbClr val="FFFFFF"/>
                </a:solidFill>
                <a:latin typeface="Montserrat"/>
                <a:ea typeface="Montserrat"/>
                <a:cs typeface="Montserrat"/>
                <a:sym typeface="Montserrat"/>
              </a:rPr>
              <a:t>-Diversos test vocacionales: Se centran en descubrir que carrera podrías estudiar desde un punto de vista personal, considerando tus habilidades y motivaciones.</a:t>
            </a:r>
          </a:p>
        </p:txBody>
      </p:sp>
      <p:sp>
        <p:nvSpPr>
          <p:cNvPr name="TextBox 40" id="40"/>
          <p:cNvSpPr txBox="true"/>
          <p:nvPr/>
        </p:nvSpPr>
        <p:spPr>
          <a:xfrm rot="0">
            <a:off x="4668983" y="6764104"/>
            <a:ext cx="9965698" cy="1099254"/>
          </a:xfrm>
          <a:prstGeom prst="rect">
            <a:avLst/>
          </a:prstGeom>
        </p:spPr>
        <p:txBody>
          <a:bodyPr anchor="t" rtlCol="false" tIns="0" lIns="0" bIns="0" rIns="0">
            <a:spAutoFit/>
          </a:bodyPr>
          <a:lstStyle/>
          <a:p>
            <a:pPr algn="l" marL="0" indent="0" lvl="0">
              <a:lnSpc>
                <a:spcPts val="2936"/>
              </a:lnSpc>
              <a:spcBef>
                <a:spcPct val="0"/>
              </a:spcBef>
            </a:pPr>
            <a:r>
              <a:rPr lang="en-US" sz="2097">
                <a:solidFill>
                  <a:srgbClr val="000000"/>
                </a:solidFill>
                <a:latin typeface="Montserrat"/>
                <a:ea typeface="Montserrat"/>
                <a:cs typeface="Montserrat"/>
                <a:sym typeface="Montserrat"/>
              </a:rPr>
              <a:t>-Mifuturo.cl: Se centra en estadísticas sobre las carreras en los diversos centros de educación, con un enfoque más estratégico al presentar datos de empleabilidad y salarios de personas con el titulo en cuestión.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585947" y="1201550"/>
            <a:ext cx="14702053" cy="10032059"/>
          </a:xfrm>
          <a:custGeom>
            <a:avLst/>
            <a:gdLst/>
            <a:ahLst/>
            <a:cxnLst/>
            <a:rect r="r" b="b" t="t" l="l"/>
            <a:pathLst>
              <a:path h="10032059" w="14702053">
                <a:moveTo>
                  <a:pt x="0" y="0"/>
                </a:moveTo>
                <a:lnTo>
                  <a:pt x="14702053" y="0"/>
                </a:lnTo>
                <a:lnTo>
                  <a:pt x="14702053" y="10032059"/>
                </a:lnTo>
                <a:lnTo>
                  <a:pt x="0" y="10032059"/>
                </a:lnTo>
                <a:lnTo>
                  <a:pt x="0" y="0"/>
                </a:lnTo>
                <a:close/>
              </a:path>
            </a:pathLst>
          </a:custGeom>
          <a:blipFill>
            <a:blip r:embed="rId2"/>
            <a:stretch>
              <a:fillRect l="-3842" t="-5305" r="-3842" b="0"/>
            </a:stretch>
          </a:blipFill>
        </p:spPr>
      </p:sp>
      <p:grpSp>
        <p:nvGrpSpPr>
          <p:cNvPr name="Group 3" id="3"/>
          <p:cNvGrpSpPr/>
          <p:nvPr/>
        </p:nvGrpSpPr>
        <p:grpSpPr>
          <a:xfrm rot="0">
            <a:off x="0" y="1139612"/>
            <a:ext cx="3585947" cy="9467474"/>
            <a:chOff x="0" y="0"/>
            <a:chExt cx="944447" cy="2493491"/>
          </a:xfrm>
        </p:grpSpPr>
        <p:sp>
          <p:nvSpPr>
            <p:cNvPr name="Freeform 4" id="4"/>
            <p:cNvSpPr/>
            <p:nvPr/>
          </p:nvSpPr>
          <p:spPr>
            <a:xfrm flipH="false" flipV="false" rot="0">
              <a:off x="0" y="0"/>
              <a:ext cx="944447" cy="2493491"/>
            </a:xfrm>
            <a:custGeom>
              <a:avLst/>
              <a:gdLst/>
              <a:ahLst/>
              <a:cxnLst/>
              <a:rect r="r" b="b" t="t" l="l"/>
              <a:pathLst>
                <a:path h="2493491" w="944447">
                  <a:moveTo>
                    <a:pt x="0" y="0"/>
                  </a:moveTo>
                  <a:lnTo>
                    <a:pt x="944447" y="0"/>
                  </a:lnTo>
                  <a:lnTo>
                    <a:pt x="944447" y="2493491"/>
                  </a:lnTo>
                  <a:lnTo>
                    <a:pt x="0" y="2493491"/>
                  </a:lnTo>
                  <a:close/>
                </a:path>
              </a:pathLst>
            </a:custGeom>
            <a:solidFill>
              <a:srgbClr val="A6C3FF"/>
            </a:solidFill>
          </p:spPr>
        </p:sp>
        <p:sp>
          <p:nvSpPr>
            <p:cNvPr name="TextBox 5" id="5"/>
            <p:cNvSpPr txBox="true"/>
            <p:nvPr/>
          </p:nvSpPr>
          <p:spPr>
            <a:xfrm>
              <a:off x="0" y="-38100"/>
              <a:ext cx="944447" cy="2531591"/>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725922" y="-209550"/>
            <a:ext cx="20974315" cy="1465201"/>
            <a:chOff x="0" y="0"/>
            <a:chExt cx="5524100" cy="385897"/>
          </a:xfrm>
        </p:grpSpPr>
        <p:sp>
          <p:nvSpPr>
            <p:cNvPr name="Freeform 7" id="7"/>
            <p:cNvSpPr/>
            <p:nvPr/>
          </p:nvSpPr>
          <p:spPr>
            <a:xfrm flipH="false" flipV="false" rot="0">
              <a:off x="0" y="0"/>
              <a:ext cx="5524100" cy="385897"/>
            </a:xfrm>
            <a:custGeom>
              <a:avLst/>
              <a:gdLst/>
              <a:ahLst/>
              <a:cxnLst/>
              <a:rect r="r" b="b" t="t" l="l"/>
              <a:pathLst>
                <a:path h="385897" w="5524100">
                  <a:moveTo>
                    <a:pt x="0" y="0"/>
                  </a:moveTo>
                  <a:lnTo>
                    <a:pt x="5524100" y="0"/>
                  </a:lnTo>
                  <a:lnTo>
                    <a:pt x="5524100" y="385897"/>
                  </a:lnTo>
                  <a:lnTo>
                    <a:pt x="0" y="385897"/>
                  </a:lnTo>
                  <a:close/>
                </a:path>
              </a:pathLst>
            </a:custGeom>
            <a:solidFill>
              <a:srgbClr val="6595FF"/>
            </a:solidFill>
          </p:spPr>
        </p:sp>
        <p:sp>
          <p:nvSpPr>
            <p:cNvPr name="TextBox 8" id="8"/>
            <p:cNvSpPr txBox="true"/>
            <p:nvPr/>
          </p:nvSpPr>
          <p:spPr>
            <a:xfrm>
              <a:off x="0" y="-38100"/>
              <a:ext cx="5524100" cy="423997"/>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4270380" y="1928599"/>
            <a:ext cx="13400220" cy="8035833"/>
            <a:chOff x="0" y="0"/>
            <a:chExt cx="3529276" cy="2116434"/>
          </a:xfrm>
        </p:grpSpPr>
        <p:sp>
          <p:nvSpPr>
            <p:cNvPr name="Freeform 10" id="10"/>
            <p:cNvSpPr/>
            <p:nvPr/>
          </p:nvSpPr>
          <p:spPr>
            <a:xfrm flipH="false" flipV="false" rot="0">
              <a:off x="0" y="0"/>
              <a:ext cx="3529276" cy="2116434"/>
            </a:xfrm>
            <a:custGeom>
              <a:avLst/>
              <a:gdLst/>
              <a:ahLst/>
              <a:cxnLst/>
              <a:rect r="r" b="b" t="t" l="l"/>
              <a:pathLst>
                <a:path h="2116434" w="3529276">
                  <a:moveTo>
                    <a:pt x="25421" y="0"/>
                  </a:moveTo>
                  <a:lnTo>
                    <a:pt x="3503855" y="0"/>
                  </a:lnTo>
                  <a:cubicBezTo>
                    <a:pt x="3510597" y="0"/>
                    <a:pt x="3517063" y="2678"/>
                    <a:pt x="3521830" y="7446"/>
                  </a:cubicBezTo>
                  <a:cubicBezTo>
                    <a:pt x="3526598" y="12213"/>
                    <a:pt x="3529276" y="18679"/>
                    <a:pt x="3529276" y="25421"/>
                  </a:cubicBezTo>
                  <a:lnTo>
                    <a:pt x="3529276" y="2091013"/>
                  </a:lnTo>
                  <a:cubicBezTo>
                    <a:pt x="3529276" y="2097755"/>
                    <a:pt x="3526598" y="2104221"/>
                    <a:pt x="3521830" y="2108988"/>
                  </a:cubicBezTo>
                  <a:cubicBezTo>
                    <a:pt x="3517063" y="2113755"/>
                    <a:pt x="3510597" y="2116434"/>
                    <a:pt x="3503855" y="2116434"/>
                  </a:cubicBezTo>
                  <a:lnTo>
                    <a:pt x="25421" y="2116434"/>
                  </a:lnTo>
                  <a:cubicBezTo>
                    <a:pt x="18679" y="2116434"/>
                    <a:pt x="12213" y="2113755"/>
                    <a:pt x="7446" y="2108988"/>
                  </a:cubicBezTo>
                  <a:cubicBezTo>
                    <a:pt x="2678" y="2104221"/>
                    <a:pt x="0" y="2097755"/>
                    <a:pt x="0" y="2091013"/>
                  </a:cubicBezTo>
                  <a:lnTo>
                    <a:pt x="0" y="25421"/>
                  </a:lnTo>
                  <a:cubicBezTo>
                    <a:pt x="0" y="18679"/>
                    <a:pt x="2678" y="12213"/>
                    <a:pt x="7446" y="7446"/>
                  </a:cubicBezTo>
                  <a:cubicBezTo>
                    <a:pt x="12213" y="2678"/>
                    <a:pt x="18679" y="0"/>
                    <a:pt x="25421" y="0"/>
                  </a:cubicBezTo>
                  <a:close/>
                </a:path>
              </a:pathLst>
            </a:custGeom>
            <a:solidFill>
              <a:srgbClr val="FFFFFF">
                <a:alpha val="47843"/>
              </a:srgbClr>
            </a:solidFill>
            <a:ln w="38100" cap="rnd">
              <a:solidFill>
                <a:srgbClr val="6595FF">
                  <a:alpha val="47843"/>
                </a:srgbClr>
              </a:solidFill>
              <a:prstDash val="solid"/>
              <a:round/>
            </a:ln>
          </p:spPr>
        </p:sp>
        <p:sp>
          <p:nvSpPr>
            <p:cNvPr name="TextBox 11" id="11"/>
            <p:cNvSpPr txBox="true"/>
            <p:nvPr/>
          </p:nvSpPr>
          <p:spPr>
            <a:xfrm>
              <a:off x="0" y="-38100"/>
              <a:ext cx="3529276" cy="2154534"/>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247196" y="108583"/>
            <a:ext cx="10916135" cy="920117"/>
          </a:xfrm>
          <a:prstGeom prst="rect">
            <a:avLst/>
          </a:prstGeom>
        </p:spPr>
        <p:txBody>
          <a:bodyPr anchor="t" rtlCol="false" tIns="0" lIns="0" bIns="0" rIns="0">
            <a:spAutoFit/>
          </a:bodyPr>
          <a:lstStyle/>
          <a:p>
            <a:pPr algn="ctr">
              <a:lnSpc>
                <a:spcPts val="7559"/>
              </a:lnSpc>
              <a:spcBef>
                <a:spcPct val="0"/>
              </a:spcBef>
            </a:pPr>
            <a:r>
              <a:rPr lang="en-US" sz="5399">
                <a:solidFill>
                  <a:srgbClr val="FFFFFF"/>
                </a:solidFill>
                <a:latin typeface="Montserrat"/>
                <a:ea typeface="Montserrat"/>
                <a:cs typeface="Montserrat"/>
                <a:sym typeface="Montserrat"/>
              </a:rPr>
              <a:t>College choice helper</a:t>
            </a:r>
          </a:p>
        </p:txBody>
      </p:sp>
      <p:sp>
        <p:nvSpPr>
          <p:cNvPr name="AutoShape 13" id="13"/>
          <p:cNvSpPr/>
          <p:nvPr/>
        </p:nvSpPr>
        <p:spPr>
          <a:xfrm>
            <a:off x="7401608" y="4490047"/>
            <a:ext cx="6374129" cy="19843"/>
          </a:xfrm>
          <a:prstGeom prst="line">
            <a:avLst/>
          </a:prstGeom>
          <a:ln cap="flat" w="38100">
            <a:solidFill>
              <a:srgbClr val="9BBAFF"/>
            </a:solidFill>
            <a:prstDash val="solid"/>
            <a:headEnd type="none" len="sm" w="sm"/>
            <a:tailEnd type="none" len="sm" w="sm"/>
          </a:ln>
        </p:spPr>
      </p:sp>
      <p:grpSp>
        <p:nvGrpSpPr>
          <p:cNvPr name="Group 14" id="14"/>
          <p:cNvGrpSpPr/>
          <p:nvPr/>
        </p:nvGrpSpPr>
        <p:grpSpPr>
          <a:xfrm rot="0">
            <a:off x="17677" y="7708705"/>
            <a:ext cx="3585947" cy="760092"/>
            <a:chOff x="0" y="0"/>
            <a:chExt cx="944447" cy="200189"/>
          </a:xfrm>
        </p:grpSpPr>
        <p:sp>
          <p:nvSpPr>
            <p:cNvPr name="Freeform 15" id="15"/>
            <p:cNvSpPr/>
            <p:nvPr/>
          </p:nvSpPr>
          <p:spPr>
            <a:xfrm flipH="false" flipV="false" rot="0">
              <a:off x="0" y="0"/>
              <a:ext cx="944447" cy="200189"/>
            </a:xfrm>
            <a:custGeom>
              <a:avLst/>
              <a:gdLst/>
              <a:ahLst/>
              <a:cxnLst/>
              <a:rect r="r" b="b" t="t" l="l"/>
              <a:pathLst>
                <a:path h="200189" w="944447">
                  <a:moveTo>
                    <a:pt x="944447" y="0"/>
                  </a:moveTo>
                  <a:lnTo>
                    <a:pt x="944447" y="200189"/>
                  </a:lnTo>
                  <a:lnTo>
                    <a:pt x="0" y="200189"/>
                  </a:lnTo>
                  <a:lnTo>
                    <a:pt x="0" y="0"/>
                  </a:lnTo>
                  <a:close/>
                </a:path>
              </a:pathLst>
            </a:custGeom>
            <a:solidFill>
              <a:srgbClr val="6595FF">
                <a:alpha val="81961"/>
              </a:srgbClr>
            </a:solidFill>
          </p:spPr>
        </p:sp>
        <p:sp>
          <p:nvSpPr>
            <p:cNvPr name="TextBox 16" id="16"/>
            <p:cNvSpPr txBox="true"/>
            <p:nvPr/>
          </p:nvSpPr>
          <p:spPr>
            <a:xfrm>
              <a:off x="0" y="-38100"/>
              <a:ext cx="944447" cy="238289"/>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0">
            <a:off x="1278624" y="97559"/>
            <a:ext cx="1028700" cy="1028700"/>
          </a:xfrm>
          <a:custGeom>
            <a:avLst/>
            <a:gdLst/>
            <a:ahLst/>
            <a:cxnLst/>
            <a:rect r="r" b="b" t="t" l="l"/>
            <a:pathLst>
              <a:path h="1028700" w="1028700">
                <a:moveTo>
                  <a:pt x="0" y="0"/>
                </a:moveTo>
                <a:lnTo>
                  <a:pt x="1028700" y="0"/>
                </a:lnTo>
                <a:lnTo>
                  <a:pt x="1028700" y="1028700"/>
                </a:lnTo>
                <a:lnTo>
                  <a:pt x="0" y="1028700"/>
                </a:lnTo>
                <a:lnTo>
                  <a:pt x="0" y="0"/>
                </a:lnTo>
                <a:close/>
              </a:path>
            </a:pathLst>
          </a:custGeom>
          <a:blipFill>
            <a:blip r:embed="rId3"/>
            <a:stretch>
              <a:fillRect l="0" t="0" r="0" b="0"/>
            </a:stretch>
          </a:blipFill>
        </p:spPr>
      </p:sp>
      <p:sp>
        <p:nvSpPr>
          <p:cNvPr name="Freeform 18" id="18"/>
          <p:cNvSpPr/>
          <p:nvPr/>
        </p:nvSpPr>
        <p:spPr>
          <a:xfrm flipH="false" flipV="false" rot="0">
            <a:off x="7559008" y="3374147"/>
            <a:ext cx="1078404" cy="993186"/>
          </a:xfrm>
          <a:custGeom>
            <a:avLst/>
            <a:gdLst/>
            <a:ahLst/>
            <a:cxnLst/>
            <a:rect r="r" b="b" t="t" l="l"/>
            <a:pathLst>
              <a:path h="993186" w="1078404">
                <a:moveTo>
                  <a:pt x="0" y="0"/>
                </a:moveTo>
                <a:lnTo>
                  <a:pt x="1078404" y="0"/>
                </a:lnTo>
                <a:lnTo>
                  <a:pt x="1078404" y="993186"/>
                </a:lnTo>
                <a:lnTo>
                  <a:pt x="0" y="993186"/>
                </a:lnTo>
                <a:lnTo>
                  <a:pt x="0" y="0"/>
                </a:lnTo>
                <a:close/>
              </a:path>
            </a:pathLst>
          </a:custGeom>
          <a:blipFill>
            <a:blip r:embed="rId4"/>
            <a:stretch>
              <a:fillRect l="-1636" t="0" r="0" b="-10357"/>
            </a:stretch>
          </a:blipFill>
        </p:spPr>
      </p:sp>
      <p:sp>
        <p:nvSpPr>
          <p:cNvPr name="Freeform 19" id="19"/>
          <p:cNvSpPr/>
          <p:nvPr/>
        </p:nvSpPr>
        <p:spPr>
          <a:xfrm flipH="false" flipV="false" rot="0">
            <a:off x="4270380" y="5873349"/>
            <a:ext cx="13400220" cy="4051383"/>
          </a:xfrm>
          <a:custGeom>
            <a:avLst/>
            <a:gdLst/>
            <a:ahLst/>
            <a:cxnLst/>
            <a:rect r="r" b="b" t="t" l="l"/>
            <a:pathLst>
              <a:path h="4051383" w="13400220">
                <a:moveTo>
                  <a:pt x="0" y="0"/>
                </a:moveTo>
                <a:lnTo>
                  <a:pt x="13400220" y="0"/>
                </a:lnTo>
                <a:lnTo>
                  <a:pt x="13400220" y="4051384"/>
                </a:lnTo>
                <a:lnTo>
                  <a:pt x="0" y="4051384"/>
                </a:lnTo>
                <a:lnTo>
                  <a:pt x="0" y="0"/>
                </a:lnTo>
                <a:close/>
              </a:path>
            </a:pathLst>
          </a:custGeom>
          <a:blipFill>
            <a:blip r:embed="rId5"/>
            <a:stretch>
              <a:fillRect l="-29478" t="0" r="-5874" b="-933"/>
            </a:stretch>
          </a:blipFill>
        </p:spPr>
      </p:sp>
      <p:grpSp>
        <p:nvGrpSpPr>
          <p:cNvPr name="Group 20" id="20"/>
          <p:cNvGrpSpPr/>
          <p:nvPr/>
        </p:nvGrpSpPr>
        <p:grpSpPr>
          <a:xfrm rot="0">
            <a:off x="7005796" y="4932013"/>
            <a:ext cx="7368063" cy="2404580"/>
            <a:chOff x="0" y="0"/>
            <a:chExt cx="1940523" cy="633243"/>
          </a:xfrm>
        </p:grpSpPr>
        <p:sp>
          <p:nvSpPr>
            <p:cNvPr name="Freeform 21" id="21"/>
            <p:cNvSpPr/>
            <p:nvPr/>
          </p:nvSpPr>
          <p:spPr>
            <a:xfrm flipH="false" flipV="false" rot="0">
              <a:off x="0" y="0"/>
              <a:ext cx="1940523" cy="633243"/>
            </a:xfrm>
            <a:custGeom>
              <a:avLst/>
              <a:gdLst/>
              <a:ahLst/>
              <a:cxnLst/>
              <a:rect r="r" b="b" t="t" l="l"/>
              <a:pathLst>
                <a:path h="633243" w="1940523">
                  <a:moveTo>
                    <a:pt x="1940523" y="0"/>
                  </a:moveTo>
                  <a:lnTo>
                    <a:pt x="1940523" y="633243"/>
                  </a:lnTo>
                  <a:lnTo>
                    <a:pt x="0" y="633243"/>
                  </a:lnTo>
                  <a:lnTo>
                    <a:pt x="0" y="0"/>
                  </a:lnTo>
                  <a:close/>
                </a:path>
              </a:pathLst>
            </a:custGeom>
            <a:solidFill>
              <a:srgbClr val="000000">
                <a:alpha val="87843"/>
              </a:srgbClr>
            </a:solidFill>
            <a:ln w="952500" cap="sq">
              <a:solidFill>
                <a:srgbClr val="000000">
                  <a:alpha val="87843"/>
                </a:srgbClr>
              </a:solidFill>
              <a:prstDash val="solid"/>
              <a:miter/>
            </a:ln>
          </p:spPr>
        </p:sp>
        <p:sp>
          <p:nvSpPr>
            <p:cNvPr name="TextBox 22" id="22"/>
            <p:cNvSpPr txBox="true"/>
            <p:nvPr/>
          </p:nvSpPr>
          <p:spPr>
            <a:xfrm>
              <a:off x="0" y="-38100"/>
              <a:ext cx="1940523" cy="671343"/>
            </a:xfrm>
            <a:prstGeom prst="rect">
              <a:avLst/>
            </a:prstGeom>
          </p:spPr>
          <p:txBody>
            <a:bodyPr anchor="ctr" rtlCol="false" tIns="50800" lIns="50800" bIns="50800" rIns="50800"/>
            <a:lstStyle/>
            <a:p>
              <a:pPr algn="ctr">
                <a:lnSpc>
                  <a:spcPts val="2659"/>
                </a:lnSpc>
              </a:pPr>
            </a:p>
          </p:txBody>
        </p:sp>
      </p:grpSp>
      <p:sp>
        <p:nvSpPr>
          <p:cNvPr name="TextBox 23" id="23"/>
          <p:cNvSpPr txBox="true"/>
          <p:nvPr/>
        </p:nvSpPr>
        <p:spPr>
          <a:xfrm rot="0">
            <a:off x="7851064" y="5048971"/>
            <a:ext cx="5677527" cy="2453074"/>
          </a:xfrm>
          <a:prstGeom prst="rect">
            <a:avLst/>
          </a:prstGeom>
        </p:spPr>
        <p:txBody>
          <a:bodyPr anchor="t" rtlCol="false" tIns="0" lIns="0" bIns="0" rIns="0">
            <a:spAutoFit/>
          </a:bodyPr>
          <a:lstStyle/>
          <a:p>
            <a:pPr algn="ctr">
              <a:lnSpc>
                <a:spcPts val="3916"/>
              </a:lnSpc>
            </a:pPr>
            <a:r>
              <a:rPr lang="en-US" sz="2797">
                <a:solidFill>
                  <a:srgbClr val="FFFFFF"/>
                </a:solidFill>
                <a:latin typeface="Montserrat"/>
                <a:ea typeface="Montserrat"/>
                <a:cs typeface="Montserrat"/>
                <a:sym typeface="Montserrat"/>
              </a:rPr>
              <a:t>Ahora que se tiene un entendimiento del proyecto, se procederá a enseñar el sistema construido funcionando.</a:t>
            </a:r>
          </a:p>
          <a:p>
            <a:pPr algn="ctr" marL="0" indent="0" lvl="0">
              <a:lnSpc>
                <a:spcPts val="3916"/>
              </a:lnSpc>
              <a:spcBef>
                <a:spcPct val="0"/>
              </a:spcBef>
            </a:pPr>
          </a:p>
        </p:txBody>
      </p:sp>
      <p:sp>
        <p:nvSpPr>
          <p:cNvPr name="TextBox 24" id="24"/>
          <p:cNvSpPr txBox="true"/>
          <p:nvPr/>
        </p:nvSpPr>
        <p:spPr>
          <a:xfrm rot="0">
            <a:off x="8761236" y="3358294"/>
            <a:ext cx="4982358" cy="920117"/>
          </a:xfrm>
          <a:prstGeom prst="rect">
            <a:avLst/>
          </a:prstGeom>
        </p:spPr>
        <p:txBody>
          <a:bodyPr anchor="t" rtlCol="false" tIns="0" lIns="0" bIns="0" rIns="0">
            <a:spAutoFit/>
          </a:bodyPr>
          <a:lstStyle/>
          <a:p>
            <a:pPr algn="ctr">
              <a:lnSpc>
                <a:spcPts val="7559"/>
              </a:lnSpc>
              <a:spcBef>
                <a:spcPct val="0"/>
              </a:spcBef>
            </a:pPr>
            <a:r>
              <a:rPr lang="en-US" sz="5399">
                <a:solidFill>
                  <a:srgbClr val="000000"/>
                </a:solidFill>
                <a:latin typeface="Montserrat"/>
                <a:ea typeface="Montserrat"/>
                <a:cs typeface="Montserrat"/>
                <a:sym typeface="Montserrat"/>
              </a:rPr>
              <a:t>Demostracion</a:t>
            </a:r>
          </a:p>
        </p:txBody>
      </p:sp>
      <p:sp>
        <p:nvSpPr>
          <p:cNvPr name="TextBox 25" id="25"/>
          <p:cNvSpPr txBox="true"/>
          <p:nvPr/>
        </p:nvSpPr>
        <p:spPr>
          <a:xfrm rot="0">
            <a:off x="433551" y="1645088"/>
            <a:ext cx="2754200"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Propuesta de solucion</a:t>
            </a:r>
          </a:p>
        </p:txBody>
      </p:sp>
      <p:sp>
        <p:nvSpPr>
          <p:cNvPr name="TextBox 26" id="26"/>
          <p:cNvSpPr txBox="true"/>
          <p:nvPr/>
        </p:nvSpPr>
        <p:spPr>
          <a:xfrm rot="0">
            <a:off x="698979" y="2539803"/>
            <a:ext cx="222334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Costos y viabilidad</a:t>
            </a:r>
          </a:p>
        </p:txBody>
      </p:sp>
      <p:sp>
        <p:nvSpPr>
          <p:cNvPr name="TextBox 27" id="27"/>
          <p:cNvSpPr txBox="true"/>
          <p:nvPr/>
        </p:nvSpPr>
        <p:spPr>
          <a:xfrm rot="0">
            <a:off x="979669" y="3434518"/>
            <a:ext cx="1661964"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Herramientas</a:t>
            </a:r>
          </a:p>
        </p:txBody>
      </p:sp>
      <p:sp>
        <p:nvSpPr>
          <p:cNvPr name="TextBox 28" id="28"/>
          <p:cNvSpPr txBox="true"/>
          <p:nvPr/>
        </p:nvSpPr>
        <p:spPr>
          <a:xfrm rot="0">
            <a:off x="1045079" y="4329233"/>
            <a:ext cx="1531144"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Arquitectura</a:t>
            </a:r>
          </a:p>
        </p:txBody>
      </p:sp>
      <p:sp>
        <p:nvSpPr>
          <p:cNvPr name="TextBox 29" id="29"/>
          <p:cNvSpPr txBox="true"/>
          <p:nvPr/>
        </p:nvSpPr>
        <p:spPr>
          <a:xfrm rot="0">
            <a:off x="1184754" y="5223948"/>
            <a:ext cx="125179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Seguridad</a:t>
            </a:r>
          </a:p>
        </p:txBody>
      </p:sp>
      <p:sp>
        <p:nvSpPr>
          <p:cNvPr name="TextBox 30" id="30"/>
          <p:cNvSpPr txBox="true"/>
          <p:nvPr/>
        </p:nvSpPr>
        <p:spPr>
          <a:xfrm rot="0">
            <a:off x="216330" y="6118663"/>
            <a:ext cx="318864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Aseguramiento de calidad</a:t>
            </a:r>
          </a:p>
        </p:txBody>
      </p:sp>
      <p:sp>
        <p:nvSpPr>
          <p:cNvPr name="TextBox 31" id="31"/>
          <p:cNvSpPr txBox="true"/>
          <p:nvPr/>
        </p:nvSpPr>
        <p:spPr>
          <a:xfrm rot="0">
            <a:off x="398719" y="7013378"/>
            <a:ext cx="2823865"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Herramientas Similares</a:t>
            </a:r>
          </a:p>
        </p:txBody>
      </p:sp>
      <p:sp>
        <p:nvSpPr>
          <p:cNvPr name="TextBox 32" id="32"/>
          <p:cNvSpPr txBox="true"/>
          <p:nvPr/>
        </p:nvSpPr>
        <p:spPr>
          <a:xfrm rot="0">
            <a:off x="949904" y="7908093"/>
            <a:ext cx="1721495"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Demostracion</a:t>
            </a:r>
          </a:p>
        </p:txBody>
      </p:sp>
      <p:sp>
        <p:nvSpPr>
          <p:cNvPr name="TextBox 33" id="33"/>
          <p:cNvSpPr txBox="true"/>
          <p:nvPr/>
        </p:nvSpPr>
        <p:spPr>
          <a:xfrm rot="0">
            <a:off x="466113" y="8802808"/>
            <a:ext cx="2653721"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Lecciones aprendidas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585947" y="1201550"/>
            <a:ext cx="14702053" cy="10032059"/>
          </a:xfrm>
          <a:custGeom>
            <a:avLst/>
            <a:gdLst/>
            <a:ahLst/>
            <a:cxnLst/>
            <a:rect r="r" b="b" t="t" l="l"/>
            <a:pathLst>
              <a:path h="10032059" w="14702053">
                <a:moveTo>
                  <a:pt x="0" y="0"/>
                </a:moveTo>
                <a:lnTo>
                  <a:pt x="14702053" y="0"/>
                </a:lnTo>
                <a:lnTo>
                  <a:pt x="14702053" y="10032059"/>
                </a:lnTo>
                <a:lnTo>
                  <a:pt x="0" y="10032059"/>
                </a:lnTo>
                <a:lnTo>
                  <a:pt x="0" y="0"/>
                </a:lnTo>
                <a:close/>
              </a:path>
            </a:pathLst>
          </a:custGeom>
          <a:blipFill>
            <a:blip r:embed="rId2"/>
            <a:stretch>
              <a:fillRect l="-3842" t="-5305" r="-3842" b="0"/>
            </a:stretch>
          </a:blipFill>
        </p:spPr>
      </p:sp>
      <p:grpSp>
        <p:nvGrpSpPr>
          <p:cNvPr name="Group 3" id="3"/>
          <p:cNvGrpSpPr/>
          <p:nvPr/>
        </p:nvGrpSpPr>
        <p:grpSpPr>
          <a:xfrm rot="0">
            <a:off x="0" y="1139612"/>
            <a:ext cx="3585947" cy="9467474"/>
            <a:chOff x="0" y="0"/>
            <a:chExt cx="944447" cy="2493491"/>
          </a:xfrm>
        </p:grpSpPr>
        <p:sp>
          <p:nvSpPr>
            <p:cNvPr name="Freeform 4" id="4"/>
            <p:cNvSpPr/>
            <p:nvPr/>
          </p:nvSpPr>
          <p:spPr>
            <a:xfrm flipH="false" flipV="false" rot="0">
              <a:off x="0" y="0"/>
              <a:ext cx="944447" cy="2493491"/>
            </a:xfrm>
            <a:custGeom>
              <a:avLst/>
              <a:gdLst/>
              <a:ahLst/>
              <a:cxnLst/>
              <a:rect r="r" b="b" t="t" l="l"/>
              <a:pathLst>
                <a:path h="2493491" w="944447">
                  <a:moveTo>
                    <a:pt x="0" y="0"/>
                  </a:moveTo>
                  <a:lnTo>
                    <a:pt x="944447" y="0"/>
                  </a:lnTo>
                  <a:lnTo>
                    <a:pt x="944447" y="2493491"/>
                  </a:lnTo>
                  <a:lnTo>
                    <a:pt x="0" y="2493491"/>
                  </a:lnTo>
                  <a:close/>
                </a:path>
              </a:pathLst>
            </a:custGeom>
            <a:solidFill>
              <a:srgbClr val="A6C3FF"/>
            </a:solidFill>
          </p:spPr>
        </p:sp>
        <p:sp>
          <p:nvSpPr>
            <p:cNvPr name="TextBox 5" id="5"/>
            <p:cNvSpPr txBox="true"/>
            <p:nvPr/>
          </p:nvSpPr>
          <p:spPr>
            <a:xfrm>
              <a:off x="0" y="-38100"/>
              <a:ext cx="944447" cy="2531591"/>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725922" y="-209550"/>
            <a:ext cx="20974315" cy="1465201"/>
            <a:chOff x="0" y="0"/>
            <a:chExt cx="5524100" cy="385897"/>
          </a:xfrm>
        </p:grpSpPr>
        <p:sp>
          <p:nvSpPr>
            <p:cNvPr name="Freeform 7" id="7"/>
            <p:cNvSpPr/>
            <p:nvPr/>
          </p:nvSpPr>
          <p:spPr>
            <a:xfrm flipH="false" flipV="false" rot="0">
              <a:off x="0" y="0"/>
              <a:ext cx="5524100" cy="385897"/>
            </a:xfrm>
            <a:custGeom>
              <a:avLst/>
              <a:gdLst/>
              <a:ahLst/>
              <a:cxnLst/>
              <a:rect r="r" b="b" t="t" l="l"/>
              <a:pathLst>
                <a:path h="385897" w="5524100">
                  <a:moveTo>
                    <a:pt x="0" y="0"/>
                  </a:moveTo>
                  <a:lnTo>
                    <a:pt x="5524100" y="0"/>
                  </a:lnTo>
                  <a:lnTo>
                    <a:pt x="5524100" y="385897"/>
                  </a:lnTo>
                  <a:lnTo>
                    <a:pt x="0" y="385897"/>
                  </a:lnTo>
                  <a:close/>
                </a:path>
              </a:pathLst>
            </a:custGeom>
            <a:solidFill>
              <a:srgbClr val="6595FF"/>
            </a:solidFill>
          </p:spPr>
        </p:sp>
        <p:sp>
          <p:nvSpPr>
            <p:cNvPr name="TextBox 8" id="8"/>
            <p:cNvSpPr txBox="true"/>
            <p:nvPr/>
          </p:nvSpPr>
          <p:spPr>
            <a:xfrm>
              <a:off x="0" y="-38100"/>
              <a:ext cx="5524100" cy="423997"/>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4270380" y="1928599"/>
            <a:ext cx="13400220" cy="7329701"/>
            <a:chOff x="0" y="0"/>
            <a:chExt cx="3529276" cy="1930456"/>
          </a:xfrm>
        </p:grpSpPr>
        <p:sp>
          <p:nvSpPr>
            <p:cNvPr name="Freeform 10" id="10"/>
            <p:cNvSpPr/>
            <p:nvPr/>
          </p:nvSpPr>
          <p:spPr>
            <a:xfrm flipH="false" flipV="false" rot="0">
              <a:off x="0" y="0"/>
              <a:ext cx="3529276" cy="1930456"/>
            </a:xfrm>
            <a:custGeom>
              <a:avLst/>
              <a:gdLst/>
              <a:ahLst/>
              <a:cxnLst/>
              <a:rect r="r" b="b" t="t" l="l"/>
              <a:pathLst>
                <a:path h="1930456" w="3529276">
                  <a:moveTo>
                    <a:pt x="25421" y="0"/>
                  </a:moveTo>
                  <a:lnTo>
                    <a:pt x="3503855" y="0"/>
                  </a:lnTo>
                  <a:cubicBezTo>
                    <a:pt x="3510597" y="0"/>
                    <a:pt x="3517063" y="2678"/>
                    <a:pt x="3521830" y="7446"/>
                  </a:cubicBezTo>
                  <a:cubicBezTo>
                    <a:pt x="3526598" y="12213"/>
                    <a:pt x="3529276" y="18679"/>
                    <a:pt x="3529276" y="25421"/>
                  </a:cubicBezTo>
                  <a:lnTo>
                    <a:pt x="3529276" y="1905035"/>
                  </a:lnTo>
                  <a:cubicBezTo>
                    <a:pt x="3529276" y="1911777"/>
                    <a:pt x="3526598" y="1918243"/>
                    <a:pt x="3521830" y="1923011"/>
                  </a:cubicBezTo>
                  <a:cubicBezTo>
                    <a:pt x="3517063" y="1927778"/>
                    <a:pt x="3510597" y="1930456"/>
                    <a:pt x="3503855" y="1930456"/>
                  </a:cubicBezTo>
                  <a:lnTo>
                    <a:pt x="25421" y="1930456"/>
                  </a:lnTo>
                  <a:cubicBezTo>
                    <a:pt x="18679" y="1930456"/>
                    <a:pt x="12213" y="1927778"/>
                    <a:pt x="7446" y="1923011"/>
                  </a:cubicBezTo>
                  <a:cubicBezTo>
                    <a:pt x="2678" y="1918243"/>
                    <a:pt x="0" y="1911777"/>
                    <a:pt x="0" y="1905035"/>
                  </a:cubicBezTo>
                  <a:lnTo>
                    <a:pt x="0" y="25421"/>
                  </a:lnTo>
                  <a:cubicBezTo>
                    <a:pt x="0" y="18679"/>
                    <a:pt x="2678" y="12213"/>
                    <a:pt x="7446" y="7446"/>
                  </a:cubicBezTo>
                  <a:cubicBezTo>
                    <a:pt x="12213" y="2678"/>
                    <a:pt x="18679" y="0"/>
                    <a:pt x="25421" y="0"/>
                  </a:cubicBezTo>
                  <a:close/>
                </a:path>
              </a:pathLst>
            </a:custGeom>
            <a:solidFill>
              <a:srgbClr val="FFFFFF">
                <a:alpha val="47843"/>
              </a:srgbClr>
            </a:solidFill>
            <a:ln w="38100" cap="rnd">
              <a:solidFill>
                <a:srgbClr val="6595FF">
                  <a:alpha val="47843"/>
                </a:srgbClr>
              </a:solidFill>
              <a:prstDash val="solid"/>
              <a:round/>
            </a:ln>
          </p:spPr>
        </p:sp>
        <p:sp>
          <p:nvSpPr>
            <p:cNvPr name="TextBox 11" id="11"/>
            <p:cNvSpPr txBox="true"/>
            <p:nvPr/>
          </p:nvSpPr>
          <p:spPr>
            <a:xfrm>
              <a:off x="0" y="-38100"/>
              <a:ext cx="3529276" cy="1968556"/>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4270380" y="5593449"/>
            <a:ext cx="13400220" cy="3659263"/>
          </a:xfrm>
          <a:custGeom>
            <a:avLst/>
            <a:gdLst/>
            <a:ahLst/>
            <a:cxnLst/>
            <a:rect r="r" b="b" t="t" l="l"/>
            <a:pathLst>
              <a:path h="3659263" w="13400220">
                <a:moveTo>
                  <a:pt x="0" y="0"/>
                </a:moveTo>
                <a:lnTo>
                  <a:pt x="13400220" y="0"/>
                </a:lnTo>
                <a:lnTo>
                  <a:pt x="13400220" y="3659263"/>
                </a:lnTo>
                <a:lnTo>
                  <a:pt x="0" y="3659263"/>
                </a:lnTo>
                <a:lnTo>
                  <a:pt x="0" y="0"/>
                </a:lnTo>
                <a:close/>
              </a:path>
            </a:pathLst>
          </a:custGeom>
          <a:blipFill>
            <a:blip r:embed="rId3"/>
            <a:stretch>
              <a:fillRect l="-21121" t="0" r="0" b="0"/>
            </a:stretch>
          </a:blipFill>
        </p:spPr>
      </p:sp>
      <p:sp>
        <p:nvSpPr>
          <p:cNvPr name="AutoShape 13" id="13"/>
          <p:cNvSpPr/>
          <p:nvPr/>
        </p:nvSpPr>
        <p:spPr>
          <a:xfrm>
            <a:off x="4707250" y="3064492"/>
            <a:ext cx="6598364" cy="0"/>
          </a:xfrm>
          <a:prstGeom prst="line">
            <a:avLst/>
          </a:prstGeom>
          <a:ln cap="flat" w="38100">
            <a:solidFill>
              <a:srgbClr val="9BBAFF"/>
            </a:solidFill>
            <a:prstDash val="solid"/>
            <a:headEnd type="none" len="sm" w="sm"/>
            <a:tailEnd type="none" len="sm" w="sm"/>
          </a:ln>
        </p:spPr>
      </p:sp>
      <p:sp>
        <p:nvSpPr>
          <p:cNvPr name="TextBox 14" id="14"/>
          <p:cNvSpPr txBox="true"/>
          <p:nvPr/>
        </p:nvSpPr>
        <p:spPr>
          <a:xfrm rot="0">
            <a:off x="1247196" y="108583"/>
            <a:ext cx="10916135" cy="920117"/>
          </a:xfrm>
          <a:prstGeom prst="rect">
            <a:avLst/>
          </a:prstGeom>
        </p:spPr>
        <p:txBody>
          <a:bodyPr anchor="t" rtlCol="false" tIns="0" lIns="0" bIns="0" rIns="0">
            <a:spAutoFit/>
          </a:bodyPr>
          <a:lstStyle/>
          <a:p>
            <a:pPr algn="ctr">
              <a:lnSpc>
                <a:spcPts val="7559"/>
              </a:lnSpc>
              <a:spcBef>
                <a:spcPct val="0"/>
              </a:spcBef>
            </a:pPr>
            <a:r>
              <a:rPr lang="en-US" sz="5399">
                <a:solidFill>
                  <a:srgbClr val="FFFFFF"/>
                </a:solidFill>
                <a:latin typeface="Montserrat"/>
                <a:ea typeface="Montserrat"/>
                <a:cs typeface="Montserrat"/>
                <a:sym typeface="Montserrat"/>
              </a:rPr>
              <a:t>College choice helper</a:t>
            </a:r>
          </a:p>
        </p:txBody>
      </p:sp>
      <p:grpSp>
        <p:nvGrpSpPr>
          <p:cNvPr name="Group 15" id="15"/>
          <p:cNvGrpSpPr/>
          <p:nvPr/>
        </p:nvGrpSpPr>
        <p:grpSpPr>
          <a:xfrm rot="0">
            <a:off x="0" y="8603420"/>
            <a:ext cx="3585947" cy="760092"/>
            <a:chOff x="0" y="0"/>
            <a:chExt cx="944447" cy="200189"/>
          </a:xfrm>
        </p:grpSpPr>
        <p:sp>
          <p:nvSpPr>
            <p:cNvPr name="Freeform 16" id="16"/>
            <p:cNvSpPr/>
            <p:nvPr/>
          </p:nvSpPr>
          <p:spPr>
            <a:xfrm flipH="false" flipV="false" rot="0">
              <a:off x="0" y="0"/>
              <a:ext cx="944447" cy="200189"/>
            </a:xfrm>
            <a:custGeom>
              <a:avLst/>
              <a:gdLst/>
              <a:ahLst/>
              <a:cxnLst/>
              <a:rect r="r" b="b" t="t" l="l"/>
              <a:pathLst>
                <a:path h="200189" w="944447">
                  <a:moveTo>
                    <a:pt x="944447" y="0"/>
                  </a:moveTo>
                  <a:lnTo>
                    <a:pt x="944447" y="200189"/>
                  </a:lnTo>
                  <a:lnTo>
                    <a:pt x="0" y="200189"/>
                  </a:lnTo>
                  <a:lnTo>
                    <a:pt x="0" y="0"/>
                  </a:lnTo>
                  <a:close/>
                </a:path>
              </a:pathLst>
            </a:custGeom>
            <a:solidFill>
              <a:srgbClr val="6595FF">
                <a:alpha val="81961"/>
              </a:srgbClr>
            </a:solidFill>
          </p:spPr>
        </p:sp>
        <p:sp>
          <p:nvSpPr>
            <p:cNvPr name="TextBox 17" id="17"/>
            <p:cNvSpPr txBox="true"/>
            <p:nvPr/>
          </p:nvSpPr>
          <p:spPr>
            <a:xfrm>
              <a:off x="0" y="-38100"/>
              <a:ext cx="944447" cy="238289"/>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1296301" y="97559"/>
            <a:ext cx="1028700" cy="1028700"/>
          </a:xfrm>
          <a:custGeom>
            <a:avLst/>
            <a:gdLst/>
            <a:ahLst/>
            <a:cxnLst/>
            <a:rect r="r" b="b" t="t" l="l"/>
            <a:pathLst>
              <a:path h="1028700" w="1028700">
                <a:moveTo>
                  <a:pt x="0" y="0"/>
                </a:moveTo>
                <a:lnTo>
                  <a:pt x="1028700" y="0"/>
                </a:lnTo>
                <a:lnTo>
                  <a:pt x="1028700" y="1028700"/>
                </a:lnTo>
                <a:lnTo>
                  <a:pt x="0" y="1028700"/>
                </a:lnTo>
                <a:lnTo>
                  <a:pt x="0" y="0"/>
                </a:lnTo>
                <a:close/>
              </a:path>
            </a:pathLst>
          </a:custGeom>
          <a:blipFill>
            <a:blip r:embed="rId4"/>
            <a:stretch>
              <a:fillRect l="0" t="0" r="0" b="0"/>
            </a:stretch>
          </a:blipFill>
        </p:spPr>
      </p:sp>
      <p:grpSp>
        <p:nvGrpSpPr>
          <p:cNvPr name="Group 19" id="19"/>
          <p:cNvGrpSpPr/>
          <p:nvPr/>
        </p:nvGrpSpPr>
        <p:grpSpPr>
          <a:xfrm rot="0">
            <a:off x="4586604" y="3417374"/>
            <a:ext cx="12752834" cy="1593852"/>
            <a:chOff x="0" y="0"/>
            <a:chExt cx="3358707" cy="419738"/>
          </a:xfrm>
        </p:grpSpPr>
        <p:sp>
          <p:nvSpPr>
            <p:cNvPr name="Freeform 20" id="20"/>
            <p:cNvSpPr/>
            <p:nvPr/>
          </p:nvSpPr>
          <p:spPr>
            <a:xfrm flipH="false" flipV="false" rot="0">
              <a:off x="0" y="0"/>
              <a:ext cx="3358707" cy="419738"/>
            </a:xfrm>
            <a:custGeom>
              <a:avLst/>
              <a:gdLst/>
              <a:ahLst/>
              <a:cxnLst/>
              <a:rect r="r" b="b" t="t" l="l"/>
              <a:pathLst>
                <a:path h="419738" w="3358707">
                  <a:moveTo>
                    <a:pt x="3358707" y="0"/>
                  </a:moveTo>
                  <a:lnTo>
                    <a:pt x="3358707" y="419738"/>
                  </a:lnTo>
                  <a:lnTo>
                    <a:pt x="0" y="419738"/>
                  </a:lnTo>
                  <a:lnTo>
                    <a:pt x="0" y="0"/>
                  </a:lnTo>
                  <a:close/>
                </a:path>
              </a:pathLst>
            </a:custGeom>
            <a:solidFill>
              <a:srgbClr val="000000">
                <a:alpha val="67843"/>
              </a:srgbClr>
            </a:solidFill>
            <a:ln w="952500" cap="sq">
              <a:solidFill>
                <a:srgbClr val="FFFFFF">
                  <a:alpha val="67843"/>
                </a:srgbClr>
              </a:solidFill>
              <a:prstDash val="solid"/>
              <a:miter/>
            </a:ln>
          </p:spPr>
        </p:sp>
        <p:sp>
          <p:nvSpPr>
            <p:cNvPr name="TextBox 21" id="21"/>
            <p:cNvSpPr txBox="true"/>
            <p:nvPr/>
          </p:nvSpPr>
          <p:spPr>
            <a:xfrm>
              <a:off x="0" y="-38100"/>
              <a:ext cx="3358707" cy="457838"/>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4560557" y="5472905"/>
            <a:ext cx="12752834" cy="2265553"/>
            <a:chOff x="0" y="0"/>
            <a:chExt cx="3358707" cy="596630"/>
          </a:xfrm>
        </p:grpSpPr>
        <p:sp>
          <p:nvSpPr>
            <p:cNvPr name="Freeform 23" id="23"/>
            <p:cNvSpPr/>
            <p:nvPr/>
          </p:nvSpPr>
          <p:spPr>
            <a:xfrm flipH="false" flipV="false" rot="0">
              <a:off x="0" y="0"/>
              <a:ext cx="3358707" cy="596630"/>
            </a:xfrm>
            <a:custGeom>
              <a:avLst/>
              <a:gdLst/>
              <a:ahLst/>
              <a:cxnLst/>
              <a:rect r="r" b="b" t="t" l="l"/>
              <a:pathLst>
                <a:path h="596630" w="3358707">
                  <a:moveTo>
                    <a:pt x="3358707" y="0"/>
                  </a:moveTo>
                  <a:lnTo>
                    <a:pt x="3358707" y="596630"/>
                  </a:lnTo>
                  <a:lnTo>
                    <a:pt x="0" y="596630"/>
                  </a:lnTo>
                  <a:lnTo>
                    <a:pt x="0" y="0"/>
                  </a:lnTo>
                  <a:close/>
                </a:path>
              </a:pathLst>
            </a:custGeom>
            <a:solidFill>
              <a:srgbClr val="000000">
                <a:alpha val="87843"/>
              </a:srgbClr>
            </a:solidFill>
            <a:ln w="952500" cap="sq">
              <a:solidFill>
                <a:srgbClr val="000000">
                  <a:alpha val="87843"/>
                </a:srgbClr>
              </a:solidFill>
              <a:prstDash val="solid"/>
              <a:miter/>
            </a:ln>
          </p:spPr>
        </p:sp>
        <p:sp>
          <p:nvSpPr>
            <p:cNvPr name="TextBox 24" id="24"/>
            <p:cNvSpPr txBox="true"/>
            <p:nvPr/>
          </p:nvSpPr>
          <p:spPr>
            <a:xfrm>
              <a:off x="0" y="-38100"/>
              <a:ext cx="3358707" cy="634730"/>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4707250" y="2229127"/>
            <a:ext cx="6540195" cy="795022"/>
          </a:xfrm>
          <a:prstGeom prst="rect">
            <a:avLst/>
          </a:prstGeom>
        </p:spPr>
        <p:txBody>
          <a:bodyPr anchor="t" rtlCol="false" tIns="0" lIns="0" bIns="0" rIns="0">
            <a:spAutoFit/>
          </a:bodyPr>
          <a:lstStyle/>
          <a:p>
            <a:pPr algn="ctr">
              <a:lnSpc>
                <a:spcPts val="6579"/>
              </a:lnSpc>
              <a:spcBef>
                <a:spcPct val="0"/>
              </a:spcBef>
            </a:pPr>
            <a:r>
              <a:rPr lang="en-US" sz="4699">
                <a:solidFill>
                  <a:srgbClr val="000000"/>
                </a:solidFill>
                <a:latin typeface="Montserrat"/>
                <a:ea typeface="Montserrat"/>
                <a:cs typeface="Montserrat"/>
                <a:sym typeface="Montserrat"/>
              </a:rPr>
              <a:t>Lecciones aprendidas</a:t>
            </a:r>
          </a:p>
        </p:txBody>
      </p:sp>
      <p:sp>
        <p:nvSpPr>
          <p:cNvPr name="TextBox 26" id="26"/>
          <p:cNvSpPr txBox="true"/>
          <p:nvPr/>
        </p:nvSpPr>
        <p:spPr>
          <a:xfrm rot="0">
            <a:off x="433551" y="1645088"/>
            <a:ext cx="2754200"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Propuesta de solucion</a:t>
            </a:r>
          </a:p>
        </p:txBody>
      </p:sp>
      <p:sp>
        <p:nvSpPr>
          <p:cNvPr name="TextBox 27" id="27"/>
          <p:cNvSpPr txBox="true"/>
          <p:nvPr/>
        </p:nvSpPr>
        <p:spPr>
          <a:xfrm rot="0">
            <a:off x="698979" y="2539803"/>
            <a:ext cx="222334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Costos y viabilidad</a:t>
            </a:r>
          </a:p>
        </p:txBody>
      </p:sp>
      <p:sp>
        <p:nvSpPr>
          <p:cNvPr name="TextBox 28" id="28"/>
          <p:cNvSpPr txBox="true"/>
          <p:nvPr/>
        </p:nvSpPr>
        <p:spPr>
          <a:xfrm rot="0">
            <a:off x="979669" y="3434518"/>
            <a:ext cx="1661964"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Herramientas</a:t>
            </a:r>
          </a:p>
        </p:txBody>
      </p:sp>
      <p:sp>
        <p:nvSpPr>
          <p:cNvPr name="TextBox 29" id="29"/>
          <p:cNvSpPr txBox="true"/>
          <p:nvPr/>
        </p:nvSpPr>
        <p:spPr>
          <a:xfrm rot="0">
            <a:off x="1045079" y="4329233"/>
            <a:ext cx="1531144"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Arquitectura</a:t>
            </a:r>
          </a:p>
        </p:txBody>
      </p:sp>
      <p:sp>
        <p:nvSpPr>
          <p:cNvPr name="TextBox 30" id="30"/>
          <p:cNvSpPr txBox="true"/>
          <p:nvPr/>
        </p:nvSpPr>
        <p:spPr>
          <a:xfrm rot="0">
            <a:off x="1184754" y="5223948"/>
            <a:ext cx="125179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Seguridad</a:t>
            </a:r>
          </a:p>
        </p:txBody>
      </p:sp>
      <p:sp>
        <p:nvSpPr>
          <p:cNvPr name="TextBox 31" id="31"/>
          <p:cNvSpPr txBox="true"/>
          <p:nvPr/>
        </p:nvSpPr>
        <p:spPr>
          <a:xfrm rot="0">
            <a:off x="216330" y="6118663"/>
            <a:ext cx="318864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Aseguramiento de calidad</a:t>
            </a:r>
          </a:p>
        </p:txBody>
      </p:sp>
      <p:sp>
        <p:nvSpPr>
          <p:cNvPr name="TextBox 32" id="32"/>
          <p:cNvSpPr txBox="true"/>
          <p:nvPr/>
        </p:nvSpPr>
        <p:spPr>
          <a:xfrm rot="0">
            <a:off x="398719" y="7013378"/>
            <a:ext cx="2823865"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Herramientas Similares</a:t>
            </a:r>
          </a:p>
        </p:txBody>
      </p:sp>
      <p:sp>
        <p:nvSpPr>
          <p:cNvPr name="TextBox 33" id="33"/>
          <p:cNvSpPr txBox="true"/>
          <p:nvPr/>
        </p:nvSpPr>
        <p:spPr>
          <a:xfrm rot="0">
            <a:off x="949904" y="7908093"/>
            <a:ext cx="1721495"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Demostracion</a:t>
            </a:r>
          </a:p>
        </p:txBody>
      </p:sp>
      <p:sp>
        <p:nvSpPr>
          <p:cNvPr name="TextBox 34" id="34"/>
          <p:cNvSpPr txBox="true"/>
          <p:nvPr/>
        </p:nvSpPr>
        <p:spPr>
          <a:xfrm rot="0">
            <a:off x="466113" y="8802808"/>
            <a:ext cx="2653721"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Lecciones aprendidas</a:t>
            </a:r>
          </a:p>
        </p:txBody>
      </p:sp>
      <p:sp>
        <p:nvSpPr>
          <p:cNvPr name="TextBox 35" id="35"/>
          <p:cNvSpPr txBox="true"/>
          <p:nvPr/>
        </p:nvSpPr>
        <p:spPr>
          <a:xfrm rot="0">
            <a:off x="4707250" y="3434518"/>
            <a:ext cx="12552050" cy="1470729"/>
          </a:xfrm>
          <a:prstGeom prst="rect">
            <a:avLst/>
          </a:prstGeom>
        </p:spPr>
        <p:txBody>
          <a:bodyPr anchor="t" rtlCol="false" tIns="0" lIns="0" bIns="0" rIns="0">
            <a:spAutoFit/>
          </a:bodyPr>
          <a:lstStyle/>
          <a:p>
            <a:pPr algn="l" marL="0" indent="0" lvl="0">
              <a:lnSpc>
                <a:spcPts val="2936"/>
              </a:lnSpc>
              <a:spcBef>
                <a:spcPct val="0"/>
              </a:spcBef>
            </a:pPr>
            <a:r>
              <a:rPr lang="en-US" sz="2097">
                <a:solidFill>
                  <a:srgbClr val="000000"/>
                </a:solidFill>
                <a:latin typeface="Montserrat"/>
                <a:ea typeface="Montserrat"/>
                <a:cs typeface="Montserrat"/>
                <a:sym typeface="Montserrat"/>
              </a:rPr>
              <a:t>D</a:t>
            </a:r>
            <a:r>
              <a:rPr lang="en-US" sz="2097">
                <a:solidFill>
                  <a:srgbClr val="000000"/>
                </a:solidFill>
                <a:latin typeface="Montserrat"/>
                <a:ea typeface="Montserrat"/>
                <a:cs typeface="Montserrat"/>
                <a:sym typeface="Montserrat"/>
              </a:rPr>
              <a:t>urante el desarrollo de este proyecto consideramos que las lecciones más importantes no son aquellas referentes a conocimientos técnicos pues en su mayoría ya contábamos con ellos y fue cosa de aplicarlos al tiempo que se aprendían contadas cosas extra sobre la marcha.</a:t>
            </a:r>
          </a:p>
        </p:txBody>
      </p:sp>
      <p:sp>
        <p:nvSpPr>
          <p:cNvPr name="TextBox 36" id="36"/>
          <p:cNvSpPr txBox="true"/>
          <p:nvPr/>
        </p:nvSpPr>
        <p:spPr>
          <a:xfrm rot="0">
            <a:off x="4707250" y="5545824"/>
            <a:ext cx="12552050" cy="1989524"/>
          </a:xfrm>
          <a:prstGeom prst="rect">
            <a:avLst/>
          </a:prstGeom>
        </p:spPr>
        <p:txBody>
          <a:bodyPr anchor="t" rtlCol="false" tIns="0" lIns="0" bIns="0" rIns="0">
            <a:spAutoFit/>
          </a:bodyPr>
          <a:lstStyle/>
          <a:p>
            <a:pPr algn="l" marL="0" indent="0" lvl="0">
              <a:lnSpc>
                <a:spcPts val="3216"/>
              </a:lnSpc>
              <a:spcBef>
                <a:spcPct val="0"/>
              </a:spcBef>
            </a:pPr>
            <a:r>
              <a:rPr lang="en-US" sz="2297">
                <a:solidFill>
                  <a:srgbClr val="FFFFFF"/>
                </a:solidFill>
                <a:latin typeface="Montserrat"/>
                <a:ea typeface="Montserrat"/>
                <a:cs typeface="Montserrat"/>
                <a:sym typeface="Montserrat"/>
              </a:rPr>
              <a:t>Po</a:t>
            </a:r>
            <a:r>
              <a:rPr lang="en-US" sz="2297">
                <a:solidFill>
                  <a:srgbClr val="FFFFFF"/>
                </a:solidFill>
                <a:latin typeface="Montserrat"/>
                <a:ea typeface="Montserrat"/>
                <a:cs typeface="Montserrat"/>
                <a:sym typeface="Montserrat"/>
              </a:rPr>
              <a:t>r otra parte, el equipo considera que lo más relevante fue la experiencia de trabajar en un proyecto más real que en los realizados durante las asignaturas previas, considerando la flexibilidad que se debe tener, el esfuerzo necesario para cumplir con tiempos definidos, y la mente abierta necesaria para aceptar que se hicieron cosas mal y que se deben corregir.</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585947" y="1201550"/>
            <a:ext cx="14702053" cy="10032059"/>
          </a:xfrm>
          <a:custGeom>
            <a:avLst/>
            <a:gdLst/>
            <a:ahLst/>
            <a:cxnLst/>
            <a:rect r="r" b="b" t="t" l="l"/>
            <a:pathLst>
              <a:path h="10032059" w="14702053">
                <a:moveTo>
                  <a:pt x="0" y="0"/>
                </a:moveTo>
                <a:lnTo>
                  <a:pt x="14702053" y="0"/>
                </a:lnTo>
                <a:lnTo>
                  <a:pt x="14702053" y="10032059"/>
                </a:lnTo>
                <a:lnTo>
                  <a:pt x="0" y="10032059"/>
                </a:lnTo>
                <a:lnTo>
                  <a:pt x="0" y="0"/>
                </a:lnTo>
                <a:close/>
              </a:path>
            </a:pathLst>
          </a:custGeom>
          <a:blipFill>
            <a:blip r:embed="rId2"/>
            <a:stretch>
              <a:fillRect l="-3842" t="-5305" r="-3842" b="0"/>
            </a:stretch>
          </a:blipFill>
        </p:spPr>
      </p:sp>
      <p:grpSp>
        <p:nvGrpSpPr>
          <p:cNvPr name="Group 3" id="3"/>
          <p:cNvGrpSpPr/>
          <p:nvPr/>
        </p:nvGrpSpPr>
        <p:grpSpPr>
          <a:xfrm rot="0">
            <a:off x="0" y="1139612"/>
            <a:ext cx="3585947" cy="9467474"/>
            <a:chOff x="0" y="0"/>
            <a:chExt cx="944447" cy="2493491"/>
          </a:xfrm>
        </p:grpSpPr>
        <p:sp>
          <p:nvSpPr>
            <p:cNvPr name="Freeform 4" id="4"/>
            <p:cNvSpPr/>
            <p:nvPr/>
          </p:nvSpPr>
          <p:spPr>
            <a:xfrm flipH="false" flipV="false" rot="0">
              <a:off x="0" y="0"/>
              <a:ext cx="944447" cy="2493491"/>
            </a:xfrm>
            <a:custGeom>
              <a:avLst/>
              <a:gdLst/>
              <a:ahLst/>
              <a:cxnLst/>
              <a:rect r="r" b="b" t="t" l="l"/>
              <a:pathLst>
                <a:path h="2493491" w="944447">
                  <a:moveTo>
                    <a:pt x="0" y="0"/>
                  </a:moveTo>
                  <a:lnTo>
                    <a:pt x="944447" y="0"/>
                  </a:lnTo>
                  <a:lnTo>
                    <a:pt x="944447" y="2493491"/>
                  </a:lnTo>
                  <a:lnTo>
                    <a:pt x="0" y="2493491"/>
                  </a:lnTo>
                  <a:close/>
                </a:path>
              </a:pathLst>
            </a:custGeom>
            <a:solidFill>
              <a:srgbClr val="A6C3FF"/>
            </a:solidFill>
          </p:spPr>
        </p:sp>
        <p:sp>
          <p:nvSpPr>
            <p:cNvPr name="TextBox 5" id="5"/>
            <p:cNvSpPr txBox="true"/>
            <p:nvPr/>
          </p:nvSpPr>
          <p:spPr>
            <a:xfrm>
              <a:off x="0" y="-38100"/>
              <a:ext cx="944447" cy="2531591"/>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725922" y="-209550"/>
            <a:ext cx="20974315" cy="1465201"/>
            <a:chOff x="0" y="0"/>
            <a:chExt cx="5524100" cy="385897"/>
          </a:xfrm>
        </p:grpSpPr>
        <p:sp>
          <p:nvSpPr>
            <p:cNvPr name="Freeform 7" id="7"/>
            <p:cNvSpPr/>
            <p:nvPr/>
          </p:nvSpPr>
          <p:spPr>
            <a:xfrm flipH="false" flipV="false" rot="0">
              <a:off x="0" y="0"/>
              <a:ext cx="5524100" cy="385897"/>
            </a:xfrm>
            <a:custGeom>
              <a:avLst/>
              <a:gdLst/>
              <a:ahLst/>
              <a:cxnLst/>
              <a:rect r="r" b="b" t="t" l="l"/>
              <a:pathLst>
                <a:path h="385897" w="5524100">
                  <a:moveTo>
                    <a:pt x="0" y="0"/>
                  </a:moveTo>
                  <a:lnTo>
                    <a:pt x="5524100" y="0"/>
                  </a:lnTo>
                  <a:lnTo>
                    <a:pt x="5524100" y="385897"/>
                  </a:lnTo>
                  <a:lnTo>
                    <a:pt x="0" y="385897"/>
                  </a:lnTo>
                  <a:close/>
                </a:path>
              </a:pathLst>
            </a:custGeom>
            <a:solidFill>
              <a:srgbClr val="6595FF"/>
            </a:solidFill>
          </p:spPr>
        </p:sp>
        <p:sp>
          <p:nvSpPr>
            <p:cNvPr name="TextBox 8" id="8"/>
            <p:cNvSpPr txBox="true"/>
            <p:nvPr/>
          </p:nvSpPr>
          <p:spPr>
            <a:xfrm>
              <a:off x="0" y="-38100"/>
              <a:ext cx="5524100" cy="423997"/>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4270380" y="1928599"/>
            <a:ext cx="13400220" cy="7329701"/>
            <a:chOff x="0" y="0"/>
            <a:chExt cx="3529276" cy="1930456"/>
          </a:xfrm>
        </p:grpSpPr>
        <p:sp>
          <p:nvSpPr>
            <p:cNvPr name="Freeform 10" id="10"/>
            <p:cNvSpPr/>
            <p:nvPr/>
          </p:nvSpPr>
          <p:spPr>
            <a:xfrm flipH="false" flipV="false" rot="0">
              <a:off x="0" y="0"/>
              <a:ext cx="3529276" cy="1930456"/>
            </a:xfrm>
            <a:custGeom>
              <a:avLst/>
              <a:gdLst/>
              <a:ahLst/>
              <a:cxnLst/>
              <a:rect r="r" b="b" t="t" l="l"/>
              <a:pathLst>
                <a:path h="1930456" w="3529276">
                  <a:moveTo>
                    <a:pt x="25421" y="0"/>
                  </a:moveTo>
                  <a:lnTo>
                    <a:pt x="3503855" y="0"/>
                  </a:lnTo>
                  <a:cubicBezTo>
                    <a:pt x="3510597" y="0"/>
                    <a:pt x="3517063" y="2678"/>
                    <a:pt x="3521830" y="7446"/>
                  </a:cubicBezTo>
                  <a:cubicBezTo>
                    <a:pt x="3526598" y="12213"/>
                    <a:pt x="3529276" y="18679"/>
                    <a:pt x="3529276" y="25421"/>
                  </a:cubicBezTo>
                  <a:lnTo>
                    <a:pt x="3529276" y="1905035"/>
                  </a:lnTo>
                  <a:cubicBezTo>
                    <a:pt x="3529276" y="1911777"/>
                    <a:pt x="3526598" y="1918243"/>
                    <a:pt x="3521830" y="1923011"/>
                  </a:cubicBezTo>
                  <a:cubicBezTo>
                    <a:pt x="3517063" y="1927778"/>
                    <a:pt x="3510597" y="1930456"/>
                    <a:pt x="3503855" y="1930456"/>
                  </a:cubicBezTo>
                  <a:lnTo>
                    <a:pt x="25421" y="1930456"/>
                  </a:lnTo>
                  <a:cubicBezTo>
                    <a:pt x="18679" y="1930456"/>
                    <a:pt x="12213" y="1927778"/>
                    <a:pt x="7446" y="1923011"/>
                  </a:cubicBezTo>
                  <a:cubicBezTo>
                    <a:pt x="2678" y="1918243"/>
                    <a:pt x="0" y="1911777"/>
                    <a:pt x="0" y="1905035"/>
                  </a:cubicBezTo>
                  <a:lnTo>
                    <a:pt x="0" y="25421"/>
                  </a:lnTo>
                  <a:cubicBezTo>
                    <a:pt x="0" y="18679"/>
                    <a:pt x="2678" y="12213"/>
                    <a:pt x="7446" y="7446"/>
                  </a:cubicBezTo>
                  <a:cubicBezTo>
                    <a:pt x="12213" y="2678"/>
                    <a:pt x="18679" y="0"/>
                    <a:pt x="25421" y="0"/>
                  </a:cubicBezTo>
                  <a:close/>
                </a:path>
              </a:pathLst>
            </a:custGeom>
            <a:solidFill>
              <a:srgbClr val="FFFFFF">
                <a:alpha val="47843"/>
              </a:srgbClr>
            </a:solidFill>
            <a:ln w="38100" cap="rnd">
              <a:solidFill>
                <a:srgbClr val="6595FF">
                  <a:alpha val="47843"/>
                </a:srgbClr>
              </a:solidFill>
              <a:prstDash val="solid"/>
              <a:round/>
            </a:ln>
          </p:spPr>
        </p:sp>
        <p:sp>
          <p:nvSpPr>
            <p:cNvPr name="TextBox 11" id="11"/>
            <p:cNvSpPr txBox="true"/>
            <p:nvPr/>
          </p:nvSpPr>
          <p:spPr>
            <a:xfrm>
              <a:off x="0" y="-38100"/>
              <a:ext cx="3529276" cy="1968556"/>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247196" y="108583"/>
            <a:ext cx="10916135" cy="920117"/>
          </a:xfrm>
          <a:prstGeom prst="rect">
            <a:avLst/>
          </a:prstGeom>
        </p:spPr>
        <p:txBody>
          <a:bodyPr anchor="t" rtlCol="false" tIns="0" lIns="0" bIns="0" rIns="0">
            <a:spAutoFit/>
          </a:bodyPr>
          <a:lstStyle/>
          <a:p>
            <a:pPr algn="ctr">
              <a:lnSpc>
                <a:spcPts val="7559"/>
              </a:lnSpc>
              <a:spcBef>
                <a:spcPct val="0"/>
              </a:spcBef>
            </a:pPr>
            <a:r>
              <a:rPr lang="en-US" sz="5399">
                <a:solidFill>
                  <a:srgbClr val="FFFFFF"/>
                </a:solidFill>
                <a:latin typeface="Montserrat"/>
                <a:ea typeface="Montserrat"/>
                <a:cs typeface="Montserrat"/>
                <a:sym typeface="Montserrat"/>
              </a:rPr>
              <a:t>College choice helper</a:t>
            </a:r>
          </a:p>
        </p:txBody>
      </p:sp>
      <p:sp>
        <p:nvSpPr>
          <p:cNvPr name="AutoShape 13" id="13"/>
          <p:cNvSpPr/>
          <p:nvPr/>
        </p:nvSpPr>
        <p:spPr>
          <a:xfrm>
            <a:off x="4833286" y="5281098"/>
            <a:ext cx="12274407" cy="0"/>
          </a:xfrm>
          <a:prstGeom prst="line">
            <a:avLst/>
          </a:prstGeom>
          <a:ln cap="flat" w="38100">
            <a:solidFill>
              <a:srgbClr val="9BBAFF"/>
            </a:solidFill>
            <a:prstDash val="solid"/>
            <a:headEnd type="none" len="sm" w="sm"/>
            <a:tailEnd type="none" len="sm" w="sm"/>
          </a:ln>
        </p:spPr>
      </p:sp>
      <p:sp>
        <p:nvSpPr>
          <p:cNvPr name="Freeform 14" id="14"/>
          <p:cNvSpPr/>
          <p:nvPr/>
        </p:nvSpPr>
        <p:spPr>
          <a:xfrm flipH="false" flipV="false" rot="0">
            <a:off x="1278624" y="97559"/>
            <a:ext cx="1028700" cy="1028700"/>
          </a:xfrm>
          <a:custGeom>
            <a:avLst/>
            <a:gdLst/>
            <a:ahLst/>
            <a:cxnLst/>
            <a:rect r="r" b="b" t="t" l="l"/>
            <a:pathLst>
              <a:path h="1028700" w="1028700">
                <a:moveTo>
                  <a:pt x="0" y="0"/>
                </a:moveTo>
                <a:lnTo>
                  <a:pt x="1028700" y="0"/>
                </a:lnTo>
                <a:lnTo>
                  <a:pt x="1028700" y="1028700"/>
                </a:lnTo>
                <a:lnTo>
                  <a:pt x="0" y="1028700"/>
                </a:lnTo>
                <a:lnTo>
                  <a:pt x="0" y="0"/>
                </a:lnTo>
                <a:close/>
              </a:path>
            </a:pathLst>
          </a:custGeom>
          <a:blipFill>
            <a:blip r:embed="rId3"/>
            <a:stretch>
              <a:fillRect l="0" t="0" r="0" b="0"/>
            </a:stretch>
          </a:blipFill>
        </p:spPr>
      </p:sp>
      <p:sp>
        <p:nvSpPr>
          <p:cNvPr name="Freeform 15" id="15"/>
          <p:cNvSpPr/>
          <p:nvPr/>
        </p:nvSpPr>
        <p:spPr>
          <a:xfrm flipH="false" flipV="false" rot="0">
            <a:off x="9737984" y="5690772"/>
            <a:ext cx="2397979" cy="2397979"/>
          </a:xfrm>
          <a:custGeom>
            <a:avLst/>
            <a:gdLst/>
            <a:ahLst/>
            <a:cxnLst/>
            <a:rect r="r" b="b" t="t" l="l"/>
            <a:pathLst>
              <a:path h="2397979" w="2397979">
                <a:moveTo>
                  <a:pt x="0" y="0"/>
                </a:moveTo>
                <a:lnTo>
                  <a:pt x="2397979" y="0"/>
                </a:lnTo>
                <a:lnTo>
                  <a:pt x="2397979" y="2397979"/>
                </a:lnTo>
                <a:lnTo>
                  <a:pt x="0" y="2397979"/>
                </a:lnTo>
                <a:lnTo>
                  <a:pt x="0" y="0"/>
                </a:lnTo>
                <a:close/>
              </a:path>
            </a:pathLst>
          </a:custGeom>
          <a:blipFill>
            <a:blip r:embed="rId4"/>
            <a:stretch>
              <a:fillRect l="0" t="0" r="0" b="0"/>
            </a:stretch>
          </a:blipFill>
        </p:spPr>
      </p:sp>
      <p:sp>
        <p:nvSpPr>
          <p:cNvPr name="TextBox 16" id="16"/>
          <p:cNvSpPr txBox="true"/>
          <p:nvPr/>
        </p:nvSpPr>
        <p:spPr>
          <a:xfrm rot="0">
            <a:off x="4833286" y="3997444"/>
            <a:ext cx="12348428" cy="920117"/>
          </a:xfrm>
          <a:prstGeom prst="rect">
            <a:avLst/>
          </a:prstGeom>
        </p:spPr>
        <p:txBody>
          <a:bodyPr anchor="t" rtlCol="false" tIns="0" lIns="0" bIns="0" rIns="0">
            <a:spAutoFit/>
          </a:bodyPr>
          <a:lstStyle/>
          <a:p>
            <a:pPr algn="ctr">
              <a:lnSpc>
                <a:spcPts val="7559"/>
              </a:lnSpc>
              <a:spcBef>
                <a:spcPct val="0"/>
              </a:spcBef>
            </a:pPr>
            <a:r>
              <a:rPr lang="en-US" sz="5399">
                <a:solidFill>
                  <a:srgbClr val="000000"/>
                </a:solidFill>
                <a:latin typeface="Montserrat"/>
                <a:ea typeface="Montserrat"/>
                <a:cs typeface="Montserrat"/>
                <a:sym typeface="Montserrat"/>
              </a:rPr>
              <a:t>Muchisimas gracias por su atencion</a:t>
            </a:r>
          </a:p>
        </p:txBody>
      </p:sp>
      <p:sp>
        <p:nvSpPr>
          <p:cNvPr name="TextBox 17" id="17"/>
          <p:cNvSpPr txBox="true"/>
          <p:nvPr/>
        </p:nvSpPr>
        <p:spPr>
          <a:xfrm rot="0">
            <a:off x="433551" y="1645088"/>
            <a:ext cx="2754200"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Propuesta de solucion</a:t>
            </a:r>
          </a:p>
        </p:txBody>
      </p:sp>
      <p:sp>
        <p:nvSpPr>
          <p:cNvPr name="TextBox 18" id="18"/>
          <p:cNvSpPr txBox="true"/>
          <p:nvPr/>
        </p:nvSpPr>
        <p:spPr>
          <a:xfrm rot="0">
            <a:off x="698979" y="2539803"/>
            <a:ext cx="222334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Costos y viabilidad</a:t>
            </a:r>
          </a:p>
        </p:txBody>
      </p:sp>
      <p:sp>
        <p:nvSpPr>
          <p:cNvPr name="TextBox 19" id="19"/>
          <p:cNvSpPr txBox="true"/>
          <p:nvPr/>
        </p:nvSpPr>
        <p:spPr>
          <a:xfrm rot="0">
            <a:off x="979669" y="3434518"/>
            <a:ext cx="1661964"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Herramientas</a:t>
            </a:r>
          </a:p>
        </p:txBody>
      </p:sp>
      <p:sp>
        <p:nvSpPr>
          <p:cNvPr name="TextBox 20" id="20"/>
          <p:cNvSpPr txBox="true"/>
          <p:nvPr/>
        </p:nvSpPr>
        <p:spPr>
          <a:xfrm rot="0">
            <a:off x="1045079" y="4329233"/>
            <a:ext cx="1531144"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Arquitectura</a:t>
            </a:r>
          </a:p>
        </p:txBody>
      </p:sp>
      <p:sp>
        <p:nvSpPr>
          <p:cNvPr name="TextBox 21" id="21"/>
          <p:cNvSpPr txBox="true"/>
          <p:nvPr/>
        </p:nvSpPr>
        <p:spPr>
          <a:xfrm rot="0">
            <a:off x="1184754" y="5223948"/>
            <a:ext cx="125179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Seguridad</a:t>
            </a:r>
          </a:p>
        </p:txBody>
      </p:sp>
      <p:sp>
        <p:nvSpPr>
          <p:cNvPr name="TextBox 22" id="22"/>
          <p:cNvSpPr txBox="true"/>
          <p:nvPr/>
        </p:nvSpPr>
        <p:spPr>
          <a:xfrm rot="0">
            <a:off x="216330" y="6118663"/>
            <a:ext cx="318864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Aseguramiento de calidad</a:t>
            </a:r>
          </a:p>
        </p:txBody>
      </p:sp>
      <p:sp>
        <p:nvSpPr>
          <p:cNvPr name="TextBox 23" id="23"/>
          <p:cNvSpPr txBox="true"/>
          <p:nvPr/>
        </p:nvSpPr>
        <p:spPr>
          <a:xfrm rot="0">
            <a:off x="398719" y="7013378"/>
            <a:ext cx="2823865"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Herramientas Similares</a:t>
            </a:r>
          </a:p>
        </p:txBody>
      </p:sp>
      <p:sp>
        <p:nvSpPr>
          <p:cNvPr name="TextBox 24" id="24"/>
          <p:cNvSpPr txBox="true"/>
          <p:nvPr/>
        </p:nvSpPr>
        <p:spPr>
          <a:xfrm rot="0">
            <a:off x="949904" y="7908093"/>
            <a:ext cx="1721495"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Demostracion</a:t>
            </a:r>
          </a:p>
        </p:txBody>
      </p:sp>
      <p:sp>
        <p:nvSpPr>
          <p:cNvPr name="TextBox 25" id="25"/>
          <p:cNvSpPr txBox="true"/>
          <p:nvPr/>
        </p:nvSpPr>
        <p:spPr>
          <a:xfrm rot="0">
            <a:off x="466113" y="8802808"/>
            <a:ext cx="2653721"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Montserrat"/>
                <a:ea typeface="Montserrat"/>
                <a:cs typeface="Montserrat"/>
                <a:sym typeface="Montserrat"/>
              </a:rPr>
              <a:t>Lecciones aprendidas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DAG4fRwRi_s</dc:identifier>
  <dcterms:modified xsi:type="dcterms:W3CDTF">2011-08-01T06:04:30Z</dcterms:modified>
  <cp:revision>1</cp:revision>
  <dc:title>Pitch</dc:title>
</cp:coreProperties>
</file>