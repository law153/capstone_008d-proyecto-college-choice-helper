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jijqzgcju2H+YDo3iz5xv/pzS0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90553D-2177-4C7C-8F80-FFB2B4ED9511}">
  <a:tblStyle styleId="{8790553D-2177-4C7C-8F80-FFB2B4ED951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V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cap="flat" cmpd="sng" w="381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3806097" dist="28398">
              <a:srgbClr val="243F60">
                <a:alpha val="4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VE" sz="1200" u="none" cap="none" strike="noStrik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cap="flat" cmpd="sng" w="381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3806097" dist="28398">
              <a:srgbClr val="243F60">
                <a:alpha val="4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VE" sz="1200" u="none" cap="none" strike="noStrik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cap="flat" cmpd="sng" w="381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3806097" dist="28398">
              <a:srgbClr val="243F60">
                <a:alpha val="4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VE" sz="1200" u="none" cap="none" strike="noStrik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cap="flat" cmpd="sng" w="381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3806097" dist="28398">
              <a:srgbClr val="243F60">
                <a:alpha val="4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VE" sz="1200" u="none" cap="none" strike="noStrik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6" name="Google Shape;56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685800" y="2130425"/>
            <a:ext cx="7772400" cy="1730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VE"/>
              <a:t>Hoja de ruta del producto </a:t>
            </a:r>
            <a:br>
              <a:rPr b="1" lang="es-VE"/>
            </a:br>
            <a:r>
              <a:rPr b="1" lang="es-VE"/>
              <a:t>(Agile Roadmap)</a:t>
            </a:r>
            <a:r>
              <a:rPr b="1" lang="es-VE" sz="2400">
                <a:solidFill>
                  <a:srgbClr val="00B050"/>
                </a:solidFill>
              </a:rPr>
              <a:t> </a:t>
            </a:r>
            <a:br>
              <a:rPr b="1" lang="es-VE" sz="2400">
                <a:solidFill>
                  <a:srgbClr val="00B050"/>
                </a:solidFill>
              </a:rPr>
            </a:br>
            <a:r>
              <a:rPr b="1" lang="es-VE" sz="2400">
                <a:solidFill>
                  <a:srgbClr val="00B050"/>
                </a:solidFill>
              </a:rPr>
              <a:t>College Choice Helper</a:t>
            </a:r>
            <a:endParaRPr b="1" sz="2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1513638" y="4229405"/>
            <a:ext cx="6116724" cy="2135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b="1" lang="es-VE" sz="2800"/>
              <a:t>Período: </a:t>
            </a:r>
            <a:r>
              <a:rPr b="1" lang="es-VE" sz="2800">
                <a:solidFill>
                  <a:srgbClr val="00B050"/>
                </a:solidFill>
              </a:rPr>
              <a:t>13/08/2025 al 03/12/2025</a:t>
            </a:r>
            <a:endParaRPr/>
          </a:p>
          <a:p>
            <a:pPr indent="0" lvl="0" marL="0" rtl="0" algn="l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b="1" lang="es-VE" sz="2800"/>
              <a:t>Organización: </a:t>
            </a:r>
            <a:r>
              <a:rPr b="1" lang="es-VE" sz="2800">
                <a:solidFill>
                  <a:srgbClr val="00B050"/>
                </a:solidFill>
              </a:rPr>
              <a:t>Duoc UC. Escuela de Informática y Telecomunicaciones.</a:t>
            </a:r>
            <a:endParaRPr b="1" sz="2800"/>
          </a:p>
          <a:p>
            <a:pPr indent="0" lvl="0" marL="0" rtl="0" algn="l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b="1" lang="es-VE" sz="2800"/>
              <a:t>Cliente: </a:t>
            </a:r>
            <a:r>
              <a:rPr b="1" lang="es-VE" sz="2800">
                <a:solidFill>
                  <a:srgbClr val="00B050"/>
                </a:solidFill>
              </a:rPr>
              <a:t>Alumnado de chile</a:t>
            </a:r>
            <a:endParaRPr/>
          </a:p>
          <a:p>
            <a:pPr indent="0" lvl="0" marL="0" rtl="0" algn="l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b="1" lang="es-VE" sz="2800"/>
              <a:t>Dueño del producto (Owner): </a:t>
            </a:r>
            <a:r>
              <a:rPr b="1" lang="es-VE" sz="2800">
                <a:solidFill>
                  <a:srgbClr val="00B050"/>
                </a:solidFill>
              </a:rPr>
              <a:t>Álvaro Muñoz</a:t>
            </a:r>
            <a:endParaRPr/>
          </a:p>
          <a:p>
            <a:pPr indent="0" lvl="0" marL="0" rtl="0" algn="l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b="1" lang="es-VE" sz="2800"/>
              <a:t>Scrum Master: </a:t>
            </a:r>
            <a:r>
              <a:rPr b="1" lang="es-VE" sz="2800">
                <a:solidFill>
                  <a:srgbClr val="00B050"/>
                </a:solidFill>
              </a:rPr>
              <a:t>Abel Sánchez</a:t>
            </a:r>
            <a:endParaRPr/>
          </a:p>
        </p:txBody>
      </p:sp>
      <p:sp>
        <p:nvSpPr>
          <p:cNvPr id="102" name="Google Shape;102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  <p:graphicFrame>
        <p:nvGraphicFramePr>
          <p:cNvPr id="108" name="Google Shape;108;p2"/>
          <p:cNvGraphicFramePr/>
          <p:nvPr/>
        </p:nvGraphicFramePr>
        <p:xfrm>
          <a:off x="251520" y="14847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{8790553D-2177-4C7C-8F80-FFB2B4ED9511}</a:tableStyleId>
              </a:tblPr>
              <a:tblGrid>
                <a:gridCol w="2520275"/>
                <a:gridCol w="1512175"/>
                <a:gridCol w="1584175"/>
                <a:gridCol w="1512175"/>
                <a:gridCol w="1512175"/>
              </a:tblGrid>
              <a:tr h="144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Rincon &amp; Co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.</a:t>
                      </a:r>
                      <a:r>
                        <a:rPr lang="es-VE" sz="1800" u="none" cap="none" strike="noStrike"/>
                        <a:t>1er. Trimestre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 u="none" cap="none" strike="noStrike"/>
                        <a:t>2do. Trimestre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 u="none" cap="none" strike="noStrike"/>
                        <a:t>3er. Trimestre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 u="none" cap="none" strike="noStrike"/>
                        <a:t>4to. Trimestre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Planeación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Funcionalidad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Diseño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Calidad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" name="Google Shape;109;p2"/>
          <p:cNvSpPr/>
          <p:nvPr/>
        </p:nvSpPr>
        <p:spPr>
          <a:xfrm>
            <a:off x="2987825" y="2276875"/>
            <a:ext cx="1503000" cy="1980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lt1"/>
                </a:solidFill>
              </a:rPr>
              <a:t>Elección</a:t>
            </a:r>
            <a:r>
              <a:rPr lang="es-VE" sz="1000">
                <a:solidFill>
                  <a:schemeClr val="lt1"/>
                </a:solidFill>
              </a:rPr>
              <a:t> de Proyecto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3106425" y="2572525"/>
            <a:ext cx="2080200" cy="200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lt1"/>
                </a:solidFill>
              </a:rPr>
              <a:t>Definición</a:t>
            </a:r>
            <a:r>
              <a:rPr lang="es-VE" sz="1000">
                <a:solidFill>
                  <a:schemeClr val="lt1"/>
                </a:solidFill>
              </a:rPr>
              <a:t> de Funciones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5441032" y="2819015"/>
            <a:ext cx="1656300" cy="1800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lt1"/>
                </a:solidFill>
              </a:rPr>
              <a:t> </a:t>
            </a:r>
            <a:r>
              <a:rPr lang="es-VE" sz="1000">
                <a:solidFill>
                  <a:schemeClr val="lt1"/>
                </a:solidFill>
              </a:rPr>
              <a:t>Definición</a:t>
            </a:r>
            <a:r>
              <a:rPr lang="es-VE" sz="1000">
                <a:solidFill>
                  <a:schemeClr val="lt1"/>
                </a:solidFill>
              </a:rPr>
              <a:t> de plan futuro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3923923" y="3357000"/>
            <a:ext cx="2868000" cy="180000"/>
          </a:xfrm>
          <a:prstGeom prst="homePlate">
            <a:avLst>
              <a:gd fmla="val 40013" name="adj"/>
            </a:avLst>
          </a:prstGeom>
          <a:solidFill>
            <a:srgbClr val="FABF8E"/>
          </a:solidFill>
          <a:ln cap="flat" cmpd="sng" w="25400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 Desarrollo funcional Back - End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4844399" y="3639825"/>
            <a:ext cx="2535900" cy="180000"/>
          </a:xfrm>
          <a:prstGeom prst="homePlate">
            <a:avLst>
              <a:gd fmla="val 50000" name="adj"/>
            </a:avLst>
          </a:prstGeom>
          <a:solidFill>
            <a:srgbClr val="FABF8E"/>
          </a:solidFill>
          <a:ln cap="flat" cmpd="sng" w="25400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Desarrollo funcional Front - End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2987825" y="4419100"/>
            <a:ext cx="1303200" cy="162000"/>
          </a:xfrm>
          <a:prstGeom prst="homePlate">
            <a:avLst>
              <a:gd fmla="val 50000" name="adj"/>
            </a:avLst>
          </a:prstGeom>
          <a:solidFill>
            <a:srgbClr val="C2D59B"/>
          </a:solidFill>
          <a:ln cap="flat" cmpd="sng" w="25400">
            <a:solidFill>
              <a:srgbClr val="C2D5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Elección</a:t>
            </a:r>
            <a:r>
              <a:rPr lang="es-VE" sz="1000">
                <a:solidFill>
                  <a:schemeClr val="dk1"/>
                </a:solidFill>
              </a:rPr>
              <a:t> de concepto diseño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4656450" y="4633700"/>
            <a:ext cx="1211700" cy="180000"/>
          </a:xfrm>
          <a:prstGeom prst="homePlate">
            <a:avLst>
              <a:gd fmla="val 50000" name="adj"/>
            </a:avLst>
          </a:prstGeom>
          <a:solidFill>
            <a:srgbClr val="C2D59B"/>
          </a:solidFill>
          <a:ln cap="flat" cmpd="sng" w="25400">
            <a:solidFill>
              <a:srgbClr val="C2D5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Definición</a:t>
            </a:r>
            <a:r>
              <a:rPr lang="es-VE" sz="1000">
                <a:solidFill>
                  <a:schemeClr val="dk1"/>
                </a:solidFill>
              </a:rPr>
              <a:t> de diseño final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4844404" y="4953063"/>
            <a:ext cx="2574900" cy="132900"/>
          </a:xfrm>
          <a:prstGeom prst="homePlate">
            <a:avLst>
              <a:gd fmla="val 50000" name="adj"/>
            </a:avLst>
          </a:prstGeom>
          <a:solidFill>
            <a:srgbClr val="C2D59B"/>
          </a:solidFill>
          <a:ln cap="flat" cmpd="sng" w="25400">
            <a:solidFill>
              <a:srgbClr val="C2D5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Micro ajustes por </a:t>
            </a:r>
            <a:r>
              <a:rPr lang="es-VE" sz="1000">
                <a:solidFill>
                  <a:schemeClr val="dk1"/>
                </a:solidFill>
              </a:rPr>
              <a:t>desarrolló</a:t>
            </a:r>
            <a:r>
              <a:rPr lang="es-VE" sz="1000">
                <a:solidFill>
                  <a:schemeClr val="dk1"/>
                </a:solidFill>
              </a:rPr>
              <a:t> (Colores y tamaños)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2987825" y="5497100"/>
            <a:ext cx="1436700" cy="164100"/>
          </a:xfrm>
          <a:prstGeom prst="homePlate">
            <a:avLst>
              <a:gd fmla="val 50000" name="adj"/>
            </a:avLst>
          </a:prstGeom>
          <a:solidFill>
            <a:srgbClr val="92CCDC"/>
          </a:solidFill>
          <a:ln cap="flat" cmpd="sng" w="25400">
            <a:solidFill>
              <a:srgbClr val="92C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700">
                <a:solidFill>
                  <a:schemeClr val="dk1"/>
                </a:solidFill>
              </a:rPr>
              <a:t>Definicion de estandares de calidad para el trabajo</a:t>
            </a:r>
            <a:endParaRPr sz="1100"/>
          </a:p>
        </p:txBody>
      </p:sp>
      <p:sp>
        <p:nvSpPr>
          <p:cNvPr id="118" name="Google Shape;118;p2"/>
          <p:cNvSpPr/>
          <p:nvPr/>
        </p:nvSpPr>
        <p:spPr>
          <a:xfrm>
            <a:off x="3923914" y="5910400"/>
            <a:ext cx="1374900" cy="167100"/>
          </a:xfrm>
          <a:prstGeom prst="homePlate">
            <a:avLst>
              <a:gd fmla="val 50000" name="adj"/>
            </a:avLst>
          </a:prstGeom>
          <a:solidFill>
            <a:srgbClr val="92CCDC"/>
          </a:solidFill>
          <a:ln cap="flat" cmpd="sng" w="25400">
            <a:solidFill>
              <a:srgbClr val="92C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700">
                <a:solidFill>
                  <a:schemeClr val="dk1"/>
                </a:solidFill>
              </a:rPr>
              <a:t>Definiciones de </a:t>
            </a:r>
            <a:r>
              <a:rPr lang="es-VE" sz="700">
                <a:solidFill>
                  <a:schemeClr val="dk1"/>
                </a:solidFill>
              </a:rPr>
              <a:t>estándares</a:t>
            </a:r>
            <a:r>
              <a:rPr lang="es-VE" sz="700">
                <a:solidFill>
                  <a:schemeClr val="dk1"/>
                </a:solidFill>
              </a:rPr>
              <a:t> de calidad para el producto</a:t>
            </a:r>
            <a:endParaRPr sz="1100"/>
          </a:p>
        </p:txBody>
      </p:sp>
      <p:sp>
        <p:nvSpPr>
          <p:cNvPr id="119" name="Google Shape;119;p2"/>
          <p:cNvSpPr/>
          <p:nvPr/>
        </p:nvSpPr>
        <p:spPr>
          <a:xfrm>
            <a:off x="7517432" y="6067425"/>
            <a:ext cx="1303040" cy="175400"/>
          </a:xfrm>
          <a:prstGeom prst="homePlate">
            <a:avLst>
              <a:gd fmla="val 50000" name="adj"/>
            </a:avLst>
          </a:prstGeom>
          <a:solidFill>
            <a:srgbClr val="92CCDC"/>
          </a:solidFill>
          <a:ln cap="flat" cmpd="sng" w="25400">
            <a:solidFill>
              <a:srgbClr val="92C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Pruebas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6722132" y="2281040"/>
            <a:ext cx="1656300" cy="1800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lt1"/>
                </a:solidFill>
              </a:rPr>
              <a:t> </a:t>
            </a:r>
            <a:r>
              <a:rPr lang="es-VE" sz="1000">
                <a:solidFill>
                  <a:schemeClr val="lt1"/>
                </a:solidFill>
              </a:rPr>
              <a:t>Definición</a:t>
            </a:r>
            <a:r>
              <a:rPr lang="es-VE" sz="1000">
                <a:solidFill>
                  <a:schemeClr val="lt1"/>
                </a:solidFill>
              </a:rPr>
              <a:t> de pruebas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2013-07-13T16:52:20Z</dcterms:created>
  <dc:creator>admin</dc:creator>
</cp:coreProperties>
</file>